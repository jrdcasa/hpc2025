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3" r:id="rId1"/>
  </p:sldMasterIdLst>
  <p:notesMasterIdLst>
    <p:notesMasterId r:id="rId21"/>
  </p:notesMasterIdLst>
  <p:sldIdLst>
    <p:sldId id="262" r:id="rId2"/>
    <p:sldId id="603" r:id="rId3"/>
    <p:sldId id="613" r:id="rId4"/>
    <p:sldId id="601" r:id="rId5"/>
    <p:sldId id="606" r:id="rId6"/>
    <p:sldId id="602" r:id="rId7"/>
    <p:sldId id="605" r:id="rId8"/>
    <p:sldId id="614" r:id="rId9"/>
    <p:sldId id="616" r:id="rId10"/>
    <p:sldId id="604" r:id="rId11"/>
    <p:sldId id="607" r:id="rId12"/>
    <p:sldId id="608" r:id="rId13"/>
    <p:sldId id="609" r:id="rId14"/>
    <p:sldId id="615" r:id="rId15"/>
    <p:sldId id="610" r:id="rId16"/>
    <p:sldId id="611" r:id="rId17"/>
    <p:sldId id="617" r:id="rId18"/>
    <p:sldId id="618" r:id="rId19"/>
    <p:sldId id="325" r:id="rId20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460EE0EB-FA74-429F-9AC2-829A76C0C7B7}">
          <p14:sldIdLst>
            <p14:sldId id="262"/>
            <p14:sldId id="603"/>
            <p14:sldId id="613"/>
            <p14:sldId id="601"/>
            <p14:sldId id="606"/>
            <p14:sldId id="602"/>
            <p14:sldId id="605"/>
            <p14:sldId id="614"/>
            <p14:sldId id="616"/>
            <p14:sldId id="604"/>
            <p14:sldId id="607"/>
            <p14:sldId id="608"/>
            <p14:sldId id="609"/>
            <p14:sldId id="615"/>
            <p14:sldId id="610"/>
            <p14:sldId id="611"/>
            <p14:sldId id="617"/>
            <p14:sldId id="618"/>
            <p14:sldId id="325"/>
          </p14:sldIdLst>
        </p14:section>
        <p14:section name="Sección sin título" id="{EFF78069-CBAE-4BDE-AF7F-5BFB358FBAA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6065"/>
    <a:srgbClr val="6B76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7" autoAdjust="0"/>
    <p:restoredTop sz="95801" autoAdjust="0"/>
  </p:normalViewPr>
  <p:slideViewPr>
    <p:cSldViewPr snapToGrid="0">
      <p:cViewPr varScale="1">
        <p:scale>
          <a:sx n="90" d="100"/>
          <a:sy n="90" d="100"/>
        </p:scale>
        <p:origin x="211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04E0F-DD76-4372-9411-7CE35BF1E7D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64EAF-91C5-4C0B-BF30-831303DC94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4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Monday, November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03/11/2025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D019-A32C-4EAD-B8E6-DBDA699692FD}" type="datetime2">
              <a:rPr lang="en-US" smtClean="0"/>
              <a:t>Monday, November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03/11/2025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03/11/2025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03/11/2025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03/11/2025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03/11/2025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 dirty="0"/>
              <a:t>Arrastre la imagen al marcador de posición o haga clic en el icono para agregar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03/11/2025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03/11/2025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03/11/2025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2AEBD15-954F-45E6-A1AD-87447106F0E9}" type="datetimeFigureOut">
              <a:rPr lang="es-ES" smtClean="0"/>
              <a:t>03/11/2025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7" r:id="rId4"/>
    <p:sldLayoutId id="2147484078" r:id="rId5"/>
    <p:sldLayoutId id="2147484079" r:id="rId6"/>
    <p:sldLayoutId id="2147484080" r:id="rId7"/>
    <p:sldLayoutId id="2147484081" r:id="rId8"/>
    <p:sldLayoutId id="2147484082" r:id="rId9"/>
    <p:sldLayoutId id="2147484083" r:id="rId10"/>
    <p:sldLayoutId id="2147484084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5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vdi.csic.es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307180" y="1327203"/>
            <a:ext cx="67129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4000" dirty="0">
                <a:latin typeface="Arial Narrow"/>
                <a:cs typeface="Arial Narrow"/>
              </a:rPr>
              <a:t>Gabinete de Formación del CSIC: Taller de Supercomputación: Uso del Software en DRAGO</a:t>
            </a:r>
            <a:endParaRPr lang="es-ES" sz="4000" dirty="0">
              <a:solidFill>
                <a:schemeClr val="tx1">
                  <a:lumMod val="50000"/>
                  <a:lumOff val="50000"/>
                </a:schemeClr>
              </a:solidFill>
              <a:latin typeface="Arial Narrow"/>
              <a:cs typeface="Arial Narrow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2961769" y="3397319"/>
            <a:ext cx="5976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/>
                <a:cs typeface="Arial Narrow"/>
              </a:rPr>
              <a:t>Visión General del Curso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13055DC-3167-448D-9CEE-3D724F2B1162}"/>
              </a:ext>
            </a:extLst>
          </p:cNvPr>
          <p:cNvSpPr/>
          <p:nvPr/>
        </p:nvSpPr>
        <p:spPr>
          <a:xfrm>
            <a:off x="3664182" y="5235219"/>
            <a:ext cx="4572000" cy="128650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</a:pP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1. </a:t>
            </a:r>
            <a:r>
              <a:rPr lang="es-ES" sz="1200" b="1" dirty="0" err="1">
                <a:solidFill>
                  <a:srgbClr val="AC0000"/>
                </a:solidFill>
                <a:latin typeface="Century Schoolbook"/>
                <a:cs typeface="Arial"/>
              </a:rPr>
              <a:t>Biophysics</a:t>
            </a: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 </a:t>
            </a:r>
            <a:r>
              <a:rPr lang="es-ES" sz="1200" b="1" dirty="0" err="1">
                <a:solidFill>
                  <a:srgbClr val="AC0000"/>
                </a:solidFill>
                <a:latin typeface="Century Schoolbook"/>
                <a:cs typeface="Arial"/>
              </a:rPr>
              <a:t>of</a:t>
            </a: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 Macromolecular </a:t>
            </a:r>
            <a:r>
              <a:rPr lang="es-ES" sz="1200" b="1" dirty="0" err="1">
                <a:solidFill>
                  <a:srgbClr val="AC0000"/>
                </a:solidFill>
                <a:latin typeface="Century Schoolbook"/>
                <a:cs typeface="Arial"/>
              </a:rPr>
              <a:t>Systems</a:t>
            </a: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 </a:t>
            </a:r>
            <a:r>
              <a:rPr lang="es-ES" sz="1200" b="1" dirty="0" err="1">
                <a:solidFill>
                  <a:srgbClr val="AC0000"/>
                </a:solidFill>
                <a:latin typeface="Century Schoolbook"/>
                <a:cs typeface="Arial"/>
              </a:rPr>
              <a:t>group</a:t>
            </a: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 </a:t>
            </a:r>
          </a:p>
          <a:p>
            <a:pPr lvl="0" algn="ctr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</a:pP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(BIOPHYM)</a:t>
            </a:r>
          </a:p>
          <a:p>
            <a:pPr lvl="0" algn="ctr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</a:pP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Departamento de Física Macromolecular</a:t>
            </a:r>
          </a:p>
          <a:p>
            <a:pPr lvl="0" algn="ctr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</a:pP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Instituto de Estructura de la Materia – CSIC</a:t>
            </a:r>
          </a:p>
          <a:p>
            <a:pPr lvl="0" algn="ctr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</a:pP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2. Área de Informática Científica (AIC) Secretaria General Adjunta de Informática (SGAI)  CSIC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DBE4CA9-4215-4FB7-938D-106F4A6C97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3" y="3397319"/>
            <a:ext cx="3203150" cy="35086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534DF61-69CF-47B6-B3AC-BDD084DBC5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25" y="1677962"/>
            <a:ext cx="1593074" cy="151516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30B3016-487C-4EF0-BE77-81561A488C64}"/>
              </a:ext>
            </a:extLst>
          </p:cNvPr>
          <p:cNvSpPr txBox="1"/>
          <p:nvPr/>
        </p:nvSpPr>
        <p:spPr>
          <a:xfrm>
            <a:off x="2215299" y="4222001"/>
            <a:ext cx="62990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000" b="1" dirty="0">
                <a:latin typeface="Arial Narrow"/>
                <a:cs typeface="Arial Narrow"/>
              </a:rPr>
              <a:t> Javier Ramos</a:t>
            </a:r>
            <a:r>
              <a:rPr lang="es-ES" sz="2000" b="1" baseline="30000" dirty="0">
                <a:latin typeface="Arial Narrow"/>
                <a:cs typeface="Arial Narrow"/>
              </a:rPr>
              <a:t>1</a:t>
            </a:r>
            <a:r>
              <a:rPr lang="es-ES" sz="2000" b="1" dirty="0">
                <a:latin typeface="Arial Narrow"/>
                <a:cs typeface="Arial Narrow"/>
              </a:rPr>
              <a:t>, Ali Adib</a:t>
            </a:r>
            <a:r>
              <a:rPr lang="es-ES" sz="2000" b="1" baseline="30000" dirty="0">
                <a:latin typeface="Arial Narrow"/>
                <a:cs typeface="Arial Narrow"/>
              </a:rPr>
              <a:t>2</a:t>
            </a:r>
            <a:r>
              <a:rPr lang="es-ES" sz="2000" b="1" dirty="0">
                <a:latin typeface="Arial Narrow"/>
                <a:cs typeface="Arial Narrow"/>
              </a:rPr>
              <a:t> and Ester Manjavacas</a:t>
            </a:r>
            <a:r>
              <a:rPr lang="es-ES" sz="2000" b="1" baseline="30000" dirty="0">
                <a:latin typeface="Arial Narrow"/>
                <a:cs typeface="Arial Narrow"/>
              </a:rPr>
              <a:t>2</a:t>
            </a:r>
            <a:endParaRPr lang="es-ES" sz="2000" b="1" dirty="0">
              <a:latin typeface="Arial Narrow"/>
              <a:cs typeface="Arial Narrow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1D1388A-1958-47DD-8888-3C40F503D1C1}"/>
              </a:ext>
            </a:extLst>
          </p:cNvPr>
          <p:cNvSpPr txBox="1"/>
          <p:nvPr/>
        </p:nvSpPr>
        <p:spPr>
          <a:xfrm>
            <a:off x="0" y="6521725"/>
            <a:ext cx="2607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/>
                <a:cs typeface="Arial Narrow"/>
              </a:rPr>
              <a:t>Madrid, 3 de Noviembre de 2025</a:t>
            </a:r>
            <a:endParaRPr lang="es-ES" sz="2800" b="1" dirty="0">
              <a:solidFill>
                <a:schemeClr val="tx1">
                  <a:lumMod val="50000"/>
                  <a:lumOff val="50000"/>
                </a:schemeClr>
              </a:solidFill>
              <a:latin typeface="Arial Narrow"/>
              <a:cs typeface="Arial Narrow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1A2C882-8A7D-4E55-AEDD-16B5F855E0D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601"/>
          <a:stretch/>
        </p:blipFill>
        <p:spPr>
          <a:xfrm>
            <a:off x="75373" y="597167"/>
            <a:ext cx="3965944" cy="69117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63C3E7E-9667-48C7-8BD3-0DB165DEABE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00"/>
          <a:stretch/>
        </p:blipFill>
        <p:spPr>
          <a:xfrm>
            <a:off x="75373" y="4829216"/>
            <a:ext cx="3682397" cy="96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07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8D59187-9AA4-40B9-85C0-43BE3A8F3EBB}"/>
              </a:ext>
            </a:extLst>
          </p:cNvPr>
          <p:cNvSpPr txBox="1"/>
          <p:nvPr/>
        </p:nvSpPr>
        <p:spPr>
          <a:xfrm>
            <a:off x="92467" y="0"/>
            <a:ext cx="753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A vista de pájaro</a:t>
            </a:r>
            <a:endParaRPr lang="es-ES" dirty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C2FB9C65-78F2-43D7-982B-CADA69D47DF1}"/>
              </a:ext>
            </a:extLst>
          </p:cNvPr>
          <p:cNvGrpSpPr/>
          <p:nvPr/>
        </p:nvGrpSpPr>
        <p:grpSpPr>
          <a:xfrm>
            <a:off x="2781300" y="3921624"/>
            <a:ext cx="3581400" cy="2419350"/>
            <a:chOff x="2781300" y="3716144"/>
            <a:chExt cx="3581400" cy="2419350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4DC06D88-4EEB-4A15-AF0F-0BF711C2FE43}"/>
                </a:ext>
              </a:extLst>
            </p:cNvPr>
            <p:cNvGrpSpPr/>
            <p:nvPr/>
          </p:nvGrpSpPr>
          <p:grpSpPr>
            <a:xfrm>
              <a:off x="2781300" y="3716144"/>
              <a:ext cx="3581400" cy="2419350"/>
              <a:chOff x="276545" y="819150"/>
              <a:chExt cx="3581400" cy="2419350"/>
            </a:xfrm>
          </p:grpSpPr>
          <p:sp>
            <p:nvSpPr>
              <p:cNvPr id="11" name="Rectángulo: esquinas redondeadas 10">
                <a:extLst>
                  <a:ext uri="{FF2B5EF4-FFF2-40B4-BE49-F238E27FC236}">
                    <a16:creationId xmlns:a16="http://schemas.microsoft.com/office/drawing/2014/main" id="{925FDBC7-65AB-41A5-A40A-9C715EBB8012}"/>
                  </a:ext>
                </a:extLst>
              </p:cNvPr>
              <p:cNvSpPr/>
              <p:nvPr/>
            </p:nvSpPr>
            <p:spPr>
              <a:xfrm>
                <a:off x="276545" y="819150"/>
                <a:ext cx="3581400" cy="2419350"/>
              </a:xfrm>
              <a:prstGeom prst="roundRect">
                <a:avLst/>
              </a:prstGeom>
              <a:ln w="190500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D2EA0D8-349E-47DD-86B9-7C6712DE8115}"/>
                  </a:ext>
                </a:extLst>
              </p:cNvPr>
              <p:cNvSpPr txBox="1"/>
              <p:nvPr/>
            </p:nvSpPr>
            <p:spPr>
              <a:xfrm>
                <a:off x="324170" y="918269"/>
                <a:ext cx="3486150" cy="107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600" b="1" dirty="0"/>
                  <a:t>Bloque 3: </a:t>
                </a:r>
              </a:p>
              <a:p>
                <a:pPr algn="ctr"/>
                <a:r>
                  <a:rPr lang="es-ES" sz="1600" dirty="0"/>
                  <a:t>Envío de trabajos desde el punto de vista del usuario: Preparación de “</a:t>
                </a:r>
                <a:r>
                  <a:rPr lang="es-ES" sz="1600" dirty="0" err="1"/>
                  <a:t>benchmarks</a:t>
                </a:r>
                <a:r>
                  <a:rPr lang="es-ES" sz="1600" dirty="0"/>
                  <a:t>” y buenas practicas </a:t>
                </a:r>
                <a:endParaRPr lang="en-US" sz="1600" dirty="0"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F726427A-F96A-46B9-9B66-A6E64D800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6663" y="4890194"/>
              <a:ext cx="1547812" cy="1065035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8094387-B18B-4E6B-ABA2-286878A7716B}"/>
              </a:ext>
            </a:extLst>
          </p:cNvPr>
          <p:cNvGrpSpPr/>
          <p:nvPr/>
        </p:nvGrpSpPr>
        <p:grpSpPr>
          <a:xfrm>
            <a:off x="4756937" y="809625"/>
            <a:ext cx="3884580" cy="2419350"/>
            <a:chOff x="4756937" y="809625"/>
            <a:chExt cx="3884580" cy="2419350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232C1C34-59C9-423C-910E-1606125CC27A}"/>
                </a:ext>
              </a:extLst>
            </p:cNvPr>
            <p:cNvGrpSpPr/>
            <p:nvPr/>
          </p:nvGrpSpPr>
          <p:grpSpPr>
            <a:xfrm>
              <a:off x="4756937" y="809625"/>
              <a:ext cx="3884580" cy="2419350"/>
              <a:chOff x="156360" y="819150"/>
              <a:chExt cx="3702491" cy="2419350"/>
            </a:xfrm>
          </p:grpSpPr>
          <p:sp>
            <p:nvSpPr>
              <p:cNvPr id="7" name="Rectángulo: esquinas redondeadas 6">
                <a:extLst>
                  <a:ext uri="{FF2B5EF4-FFF2-40B4-BE49-F238E27FC236}">
                    <a16:creationId xmlns:a16="http://schemas.microsoft.com/office/drawing/2014/main" id="{33A6B82D-5203-4F87-8D08-2738412CF42B}"/>
                  </a:ext>
                </a:extLst>
              </p:cNvPr>
              <p:cNvSpPr/>
              <p:nvPr/>
            </p:nvSpPr>
            <p:spPr>
              <a:xfrm>
                <a:off x="156360" y="819150"/>
                <a:ext cx="3701585" cy="2419350"/>
              </a:xfrm>
              <a:prstGeom prst="roundRect">
                <a:avLst/>
              </a:prstGeom>
              <a:ln w="190500">
                <a:solidFill>
                  <a:srgbClr val="92D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A636642-25C9-452A-BBFF-1ED7566FF28A}"/>
                  </a:ext>
                </a:extLst>
              </p:cNvPr>
              <p:cNvSpPr txBox="1"/>
              <p:nvPr/>
            </p:nvSpPr>
            <p:spPr>
              <a:xfrm>
                <a:off x="157266" y="910511"/>
                <a:ext cx="3701585" cy="13234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600" b="1" dirty="0"/>
                  <a:t>Bloque 2: </a:t>
                </a:r>
              </a:p>
              <a:p>
                <a:pPr algn="ctr"/>
                <a:r>
                  <a:rPr lang="es-ES" sz="1600" dirty="0"/>
                  <a:t>Gestor de trabajos instalación de software y almacenamiento en DRAGO: (SLURM, LUSTRE, </a:t>
                </a:r>
              </a:p>
              <a:p>
                <a:pPr algn="ctr"/>
                <a:r>
                  <a:rPr lang="es-ES" sz="1600" dirty="0"/>
                  <a:t>Transferencias de fichero)</a:t>
                </a:r>
                <a:endParaRPr lang="en-US" sz="1600" dirty="0"/>
              </a:p>
            </p:txBody>
          </p:sp>
        </p:grp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264701E9-EA56-470D-B882-6902B92016C0}"/>
                </a:ext>
              </a:extLst>
            </p:cNvPr>
            <p:cNvSpPr txBox="1"/>
            <p:nvPr/>
          </p:nvSpPr>
          <p:spPr>
            <a:xfrm>
              <a:off x="6860772" y="2232195"/>
              <a:ext cx="10048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596065"/>
                  </a:solidFill>
                </a:rPr>
                <a:t>Ester </a:t>
              </a:r>
              <a:r>
                <a:rPr lang="en-US" sz="800" dirty="0" err="1">
                  <a:solidFill>
                    <a:srgbClr val="596065"/>
                  </a:solidFill>
                </a:rPr>
                <a:t>Manjavacas</a:t>
              </a:r>
              <a:endParaRPr lang="en-US" sz="800" dirty="0">
                <a:solidFill>
                  <a:srgbClr val="596065"/>
                </a:solidFill>
              </a:endParaRPr>
            </a:p>
            <a:p>
              <a:r>
                <a:rPr lang="en-US" sz="800" dirty="0">
                  <a:solidFill>
                    <a:schemeClr val="accent4"/>
                  </a:solidFill>
                </a:rPr>
                <a:t>AIC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83873826-76C8-43CD-8231-3EE0EE7F1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5969" y="2208767"/>
              <a:ext cx="791128" cy="877237"/>
            </a:xfrm>
            <a:prstGeom prst="rect">
              <a:avLst/>
            </a:prstGeom>
          </p:spPr>
        </p:pic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6D17BA2-AFF5-4B93-A8B4-0D2534B6E7EC}"/>
              </a:ext>
            </a:extLst>
          </p:cNvPr>
          <p:cNvGrpSpPr/>
          <p:nvPr/>
        </p:nvGrpSpPr>
        <p:grpSpPr>
          <a:xfrm>
            <a:off x="276545" y="819150"/>
            <a:ext cx="3581400" cy="2419350"/>
            <a:chOff x="276545" y="819150"/>
            <a:chExt cx="3581400" cy="2419350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DA1314A7-DCA1-47F9-8FEE-31F03C4C52B3}"/>
                </a:ext>
              </a:extLst>
            </p:cNvPr>
            <p:cNvSpPr/>
            <p:nvPr/>
          </p:nvSpPr>
          <p:spPr>
            <a:xfrm>
              <a:off x="276545" y="819150"/>
              <a:ext cx="3581400" cy="2419350"/>
            </a:xfrm>
            <a:prstGeom prst="roundRect">
              <a:avLst/>
            </a:prstGeom>
            <a:ln w="190500"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8097BD3A-D216-4546-956B-B2FFF19C3DB3}"/>
                </a:ext>
              </a:extLst>
            </p:cNvPr>
            <p:cNvSpPr txBox="1"/>
            <p:nvPr/>
          </p:nvSpPr>
          <p:spPr>
            <a:xfrm>
              <a:off x="276545" y="902771"/>
              <a:ext cx="35814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/>
                <a:t>Bloque 1: </a:t>
              </a:r>
            </a:p>
            <a:p>
              <a:pPr algn="ctr"/>
              <a:r>
                <a:rPr lang="es-ES" sz="1600" dirty="0"/>
                <a:t>Tipología del software y uso de IA con MATLAB en Drago</a:t>
              </a:r>
              <a:endParaRPr lang="en-US" sz="1600" dirty="0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A1FB8C8C-7D8F-42A3-BF72-E3F55B59BA4F}"/>
                </a:ext>
              </a:extLst>
            </p:cNvPr>
            <p:cNvSpPr txBox="1"/>
            <p:nvPr/>
          </p:nvSpPr>
          <p:spPr>
            <a:xfrm>
              <a:off x="2397120" y="2055148"/>
              <a:ext cx="10048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596065"/>
                  </a:solidFill>
                </a:rPr>
                <a:t>Ali </a:t>
              </a:r>
              <a:r>
                <a:rPr lang="en-US" sz="800" dirty="0" err="1">
                  <a:solidFill>
                    <a:srgbClr val="596065"/>
                  </a:solidFill>
                </a:rPr>
                <a:t>Adib</a:t>
              </a:r>
              <a:endParaRPr lang="en-US" sz="800" dirty="0">
                <a:solidFill>
                  <a:srgbClr val="596065"/>
                </a:solidFill>
              </a:endParaRPr>
            </a:p>
            <a:p>
              <a:r>
                <a:rPr lang="en-US" sz="800" dirty="0">
                  <a:solidFill>
                    <a:schemeClr val="accent4"/>
                  </a:solidFill>
                </a:rPr>
                <a:t>AIC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20248349-3570-46D2-8C85-3D7D43C95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3050" y="1992057"/>
              <a:ext cx="844070" cy="9678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596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E5CD46A4-4B15-4196-BFBE-372C1E992E15}"/>
              </a:ext>
            </a:extLst>
          </p:cNvPr>
          <p:cNvGrpSpPr/>
          <p:nvPr/>
        </p:nvGrpSpPr>
        <p:grpSpPr>
          <a:xfrm>
            <a:off x="2781300" y="2095057"/>
            <a:ext cx="3581400" cy="2419350"/>
            <a:chOff x="276545" y="819150"/>
            <a:chExt cx="3581400" cy="2419350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EF5CE108-C9AE-45A2-81ED-9AD61A830809}"/>
                </a:ext>
              </a:extLst>
            </p:cNvPr>
            <p:cNvSpPr/>
            <p:nvPr/>
          </p:nvSpPr>
          <p:spPr>
            <a:xfrm>
              <a:off x="276545" y="819150"/>
              <a:ext cx="3581400" cy="2419350"/>
            </a:xfrm>
            <a:prstGeom prst="roundRect">
              <a:avLst/>
            </a:prstGeom>
            <a:ln w="190500"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C737F8B-1BA2-48CA-A72D-DF8EB82D9904}"/>
                </a:ext>
              </a:extLst>
            </p:cNvPr>
            <p:cNvSpPr txBox="1"/>
            <p:nvPr/>
          </p:nvSpPr>
          <p:spPr>
            <a:xfrm>
              <a:off x="276545" y="902771"/>
              <a:ext cx="35814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/>
                <a:t>Bloque 1: </a:t>
              </a:r>
            </a:p>
            <a:p>
              <a:pPr algn="ctr"/>
              <a:r>
                <a:rPr lang="es-ES" sz="1600" dirty="0"/>
                <a:t>Tipología del software y uso de IA con MATLAB en Drago</a:t>
              </a:r>
              <a:endParaRPr lang="en-US" sz="1600" dirty="0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DC530CB8-5D0C-43ED-AA73-7C9C666DC7FD}"/>
                </a:ext>
              </a:extLst>
            </p:cNvPr>
            <p:cNvSpPr txBox="1"/>
            <p:nvPr/>
          </p:nvSpPr>
          <p:spPr>
            <a:xfrm>
              <a:off x="2397120" y="2055148"/>
              <a:ext cx="10048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596065"/>
                  </a:solidFill>
                </a:rPr>
                <a:t>Ali </a:t>
              </a:r>
              <a:r>
                <a:rPr lang="en-US" sz="800" dirty="0" err="1">
                  <a:solidFill>
                    <a:srgbClr val="596065"/>
                  </a:solidFill>
                </a:rPr>
                <a:t>Adib</a:t>
              </a:r>
              <a:endParaRPr lang="en-US" sz="800" dirty="0">
                <a:solidFill>
                  <a:srgbClr val="596065"/>
                </a:solidFill>
              </a:endParaRPr>
            </a:p>
            <a:p>
              <a:r>
                <a:rPr lang="en-US" sz="800" dirty="0">
                  <a:solidFill>
                    <a:schemeClr val="accent4"/>
                  </a:solidFill>
                </a:rPr>
                <a:t>AIC</a:t>
              </a: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8510D018-7874-44C3-BF2E-FB2DCCFBE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3050" y="1992057"/>
              <a:ext cx="844070" cy="9678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75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000C79C-A56A-43A8-ABE7-5DB7A83D8386}"/>
              </a:ext>
            </a:extLst>
          </p:cNvPr>
          <p:cNvSpPr txBox="1"/>
          <p:nvPr/>
        </p:nvSpPr>
        <p:spPr>
          <a:xfrm>
            <a:off x="92467" y="0"/>
            <a:ext cx="753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Bloque 1: </a:t>
            </a:r>
            <a:r>
              <a:rPr lang="es-ES" dirty="0"/>
              <a:t>Tipología del software y aplicativos Web en Drago 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FC512829-E89C-4510-AE36-B2540991EBA1}"/>
              </a:ext>
            </a:extLst>
          </p:cNvPr>
          <p:cNvGrpSpPr/>
          <p:nvPr/>
        </p:nvGrpSpPr>
        <p:grpSpPr>
          <a:xfrm>
            <a:off x="2311029" y="4470005"/>
            <a:ext cx="4816851" cy="1559121"/>
            <a:chOff x="2411354" y="4084320"/>
            <a:chExt cx="4816851" cy="1559121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5AC641C8-4729-43FC-8D8D-8A41AE3EF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1354" y="4084320"/>
              <a:ext cx="1389111" cy="1559121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176A0C5-BE7E-4A71-8C27-1D602E387AE7}"/>
                </a:ext>
              </a:extLst>
            </p:cNvPr>
            <p:cNvSpPr txBox="1"/>
            <p:nvPr/>
          </p:nvSpPr>
          <p:spPr>
            <a:xfrm>
              <a:off x="5010785" y="4299128"/>
              <a:ext cx="221742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Franklin Gothic Heavy" panose="020B0903020102020204" pitchFamily="34" charset="0"/>
                </a:rPr>
                <a:t>Restricted</a:t>
              </a:r>
              <a:r>
                <a:rPr lang="en-US" sz="2800" dirty="0"/>
                <a:t> </a:t>
              </a:r>
              <a:r>
                <a:rPr lang="en-US" sz="2800" dirty="0">
                  <a:latin typeface="Franklin Gothic Heavy" panose="020B0903020102020204" pitchFamily="34" charset="0"/>
                </a:rPr>
                <a:t>Software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BCA88CF-E0DE-49C6-AB8B-B73A6C4D7B64}"/>
              </a:ext>
            </a:extLst>
          </p:cNvPr>
          <p:cNvGrpSpPr/>
          <p:nvPr/>
        </p:nvGrpSpPr>
        <p:grpSpPr>
          <a:xfrm>
            <a:off x="1911343" y="3286367"/>
            <a:ext cx="5254638" cy="1043241"/>
            <a:chOff x="1658960" y="2724520"/>
            <a:chExt cx="5254638" cy="1043241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F4521C44-CC81-4229-A94B-A1D651B1E7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8960" y="2727960"/>
              <a:ext cx="2856243" cy="1039801"/>
            </a:xfrm>
            <a:prstGeom prst="rect">
              <a:avLst/>
            </a:prstGeom>
          </p:spPr>
        </p:pic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476BABB9-DB89-45BA-ABBA-E1753CBC6B87}"/>
                </a:ext>
              </a:extLst>
            </p:cNvPr>
            <p:cNvSpPr txBox="1"/>
            <p:nvPr/>
          </p:nvSpPr>
          <p:spPr>
            <a:xfrm>
              <a:off x="4696178" y="2724520"/>
              <a:ext cx="221742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Franklin Gothic Heavy" panose="020B0903020102020204" pitchFamily="34" charset="0"/>
                </a:rPr>
                <a:t>Campus</a:t>
              </a:r>
              <a:r>
                <a:rPr lang="en-US" sz="2800" dirty="0">
                  <a:solidFill>
                    <a:schemeClr val="accent4"/>
                  </a:solidFill>
                </a:rPr>
                <a:t> </a:t>
              </a:r>
              <a:r>
                <a:rPr lang="en-US" sz="2800" dirty="0">
                  <a:solidFill>
                    <a:schemeClr val="accent4"/>
                  </a:solidFill>
                  <a:latin typeface="Franklin Gothic Heavy" panose="020B0903020102020204" pitchFamily="34" charset="0"/>
                </a:rPr>
                <a:t>Software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CF91426E-7C56-4F92-878E-88110B71D7F0}"/>
              </a:ext>
            </a:extLst>
          </p:cNvPr>
          <p:cNvGrpSpPr/>
          <p:nvPr/>
        </p:nvGrpSpPr>
        <p:grpSpPr>
          <a:xfrm>
            <a:off x="1899356" y="1696133"/>
            <a:ext cx="5276150" cy="1298237"/>
            <a:chOff x="2006345" y="971550"/>
            <a:chExt cx="5276150" cy="1298237"/>
          </a:xfrm>
        </p:grpSpPr>
        <p:pic>
          <p:nvPicPr>
            <p:cNvPr id="2050" name="Picture 2" descr="Evaluation of Free &amp; Open Source Software (FOSS) | by Deprasadini | Medium">
              <a:extLst>
                <a:ext uri="{FF2B5EF4-FFF2-40B4-BE49-F238E27FC236}">
                  <a16:creationId xmlns:a16="http://schemas.microsoft.com/office/drawing/2014/main" id="{4A265AC7-A929-48D9-B43C-87DC06DA2B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283" r="43488" b="22754"/>
            <a:stretch/>
          </p:blipFill>
          <p:spPr bwMode="auto">
            <a:xfrm>
              <a:off x="2006345" y="1049940"/>
              <a:ext cx="2217420" cy="1087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 descr="Evaluation of Free &amp; Open Source Software (FOSS) | by Deprasadini | Medium">
              <a:extLst>
                <a:ext uri="{FF2B5EF4-FFF2-40B4-BE49-F238E27FC236}">
                  <a16:creationId xmlns:a16="http://schemas.microsoft.com/office/drawing/2014/main" id="{7CE1EF82-6743-48D4-90CA-56E7CFA3D7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643" t="24478" b="22754"/>
            <a:stretch/>
          </p:blipFill>
          <p:spPr bwMode="auto">
            <a:xfrm>
              <a:off x="5065075" y="971550"/>
              <a:ext cx="2217420" cy="12982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7EC89DC-A34E-4644-A566-F7BB2FF33C54}"/>
              </a:ext>
            </a:extLst>
          </p:cNvPr>
          <p:cNvSpPr txBox="1"/>
          <p:nvPr/>
        </p:nvSpPr>
        <p:spPr>
          <a:xfrm>
            <a:off x="1829123" y="619919"/>
            <a:ext cx="66960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Franklin Gothic Heavy" panose="020B0903020102020204" pitchFamily="34" charset="0"/>
              </a:rPr>
              <a:t>Definición de la tipología del software. Licencias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4D07C69A-48F7-4279-9F53-D32EA20A57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30" y="411752"/>
            <a:ext cx="1402345" cy="132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32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48F37AB-9941-47AB-B07C-A272E965DA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892" y="665980"/>
            <a:ext cx="2862212" cy="228845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BB17734-7C0E-4961-93D3-FB7ED853F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593" y="3821268"/>
            <a:ext cx="2247253" cy="151327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C989590-419D-47F8-8775-9F5F0036A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015" y="4109221"/>
            <a:ext cx="2574577" cy="1091211"/>
          </a:xfrm>
          <a:prstGeom prst="rect">
            <a:avLst/>
          </a:prstGeom>
        </p:spPr>
      </p:pic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B61172A7-3D16-4F21-B0F8-B46E6D4D885D}"/>
              </a:ext>
            </a:extLst>
          </p:cNvPr>
          <p:cNvSpPr/>
          <p:nvPr/>
        </p:nvSpPr>
        <p:spPr>
          <a:xfrm>
            <a:off x="6033169" y="4550999"/>
            <a:ext cx="511523" cy="2076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31E10D0-E25B-45E6-8ADB-D16E5CACEE9D}"/>
              </a:ext>
            </a:extLst>
          </p:cNvPr>
          <p:cNvSpPr txBox="1"/>
          <p:nvPr/>
        </p:nvSpPr>
        <p:spPr>
          <a:xfrm>
            <a:off x="92467" y="0"/>
            <a:ext cx="753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Bloque 1: </a:t>
            </a:r>
            <a:r>
              <a:rPr lang="es-ES" dirty="0"/>
              <a:t>Tipología del software y aplicativos Web en Drago 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2A80E0ED-BA46-47D3-B790-777D78F2D6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945" y="1050289"/>
            <a:ext cx="1992679" cy="1519840"/>
          </a:xfrm>
          <a:prstGeom prst="rect">
            <a:avLst/>
          </a:prstGeom>
        </p:spPr>
      </p:pic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23696A57-0DB2-404F-B10E-BD6ABA8A1098}"/>
              </a:ext>
            </a:extLst>
          </p:cNvPr>
          <p:cNvSpPr/>
          <p:nvPr/>
        </p:nvSpPr>
        <p:spPr>
          <a:xfrm>
            <a:off x="3156621" y="1706381"/>
            <a:ext cx="511523" cy="2076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00CAA8AC-5547-4421-8012-9F531F3F2A11}"/>
              </a:ext>
            </a:extLst>
          </p:cNvPr>
          <p:cNvSpPr/>
          <p:nvPr/>
        </p:nvSpPr>
        <p:spPr>
          <a:xfrm rot="5400000">
            <a:off x="4538921" y="3011773"/>
            <a:ext cx="511523" cy="2076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68EA9C53-3B05-4FB9-BF3E-C3ABFDE523AC}"/>
              </a:ext>
            </a:extLst>
          </p:cNvPr>
          <p:cNvSpPr/>
          <p:nvPr/>
        </p:nvSpPr>
        <p:spPr>
          <a:xfrm>
            <a:off x="3016608" y="4577677"/>
            <a:ext cx="511523" cy="2076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EFED1DC7-3744-4095-9815-FAA7A6410A5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91" y="3840405"/>
            <a:ext cx="1984068" cy="1513272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6CFE9EBB-52FB-41A5-A134-99B8855DB4A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27" y="1071040"/>
            <a:ext cx="1666004" cy="1270681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C75FA7B1-4AB3-4C6C-8148-92660E686B63}"/>
              </a:ext>
            </a:extLst>
          </p:cNvPr>
          <p:cNvSpPr txBox="1"/>
          <p:nvPr/>
        </p:nvSpPr>
        <p:spPr>
          <a:xfrm>
            <a:off x="748895" y="2362354"/>
            <a:ext cx="1984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/>
              <a:t>Acceso externo </a:t>
            </a:r>
          </a:p>
          <a:p>
            <a:pPr algn="ctr"/>
            <a:r>
              <a:rPr lang="es-ES" sz="1200" dirty="0"/>
              <a:t>(Casa, Congreso, …)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F4F4D64-E0D7-41DC-ABE5-AF0B9D5E5DC3}"/>
              </a:ext>
            </a:extLst>
          </p:cNvPr>
          <p:cNvSpPr txBox="1"/>
          <p:nvPr/>
        </p:nvSpPr>
        <p:spPr>
          <a:xfrm>
            <a:off x="689353" y="5325295"/>
            <a:ext cx="1984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/>
              <a:t>Acceso desde la red de la oficina del CSIC</a:t>
            </a:r>
          </a:p>
        </p:txBody>
      </p:sp>
    </p:spTree>
    <p:extLst>
      <p:ext uri="{BB962C8B-B14F-4D97-AF65-F5344CB8AC3E}">
        <p14:creationId xmlns:p14="http://schemas.microsoft.com/office/powerpoint/2010/main" val="397275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A91FA39-E699-4455-BD2B-BF5CF6BA012A}"/>
              </a:ext>
            </a:extLst>
          </p:cNvPr>
          <p:cNvSpPr txBox="1"/>
          <p:nvPr/>
        </p:nvSpPr>
        <p:spPr>
          <a:xfrm>
            <a:off x="92467" y="0"/>
            <a:ext cx="753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Bloque 1: </a:t>
            </a:r>
            <a:r>
              <a:rPr lang="es-ES" dirty="0"/>
              <a:t>Tipología del software y aplicativos Web en Drago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7DAA446-7B86-4310-BFF2-93AE73A2F363}"/>
              </a:ext>
            </a:extLst>
          </p:cNvPr>
          <p:cNvGrpSpPr/>
          <p:nvPr/>
        </p:nvGrpSpPr>
        <p:grpSpPr>
          <a:xfrm>
            <a:off x="276225" y="468323"/>
            <a:ext cx="8667750" cy="1517666"/>
            <a:chOff x="276225" y="468323"/>
            <a:chExt cx="8667750" cy="1517666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038417A-3FB1-4C9C-B4F8-AD546C8D8D8B}"/>
                </a:ext>
              </a:extLst>
            </p:cNvPr>
            <p:cNvSpPr txBox="1"/>
            <p:nvPr/>
          </p:nvSpPr>
          <p:spPr>
            <a:xfrm>
              <a:off x="2214562" y="886490"/>
              <a:ext cx="672941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800" dirty="0">
                  <a:latin typeface="Franklin Gothic Heavy" panose="020B0903020102020204" pitchFamily="34" charset="0"/>
                </a:rPr>
                <a:t>Sesión práctica del uso del software FOSS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14C4FBF-0381-4122-9B76-51A39B5DB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225" y="468323"/>
              <a:ext cx="1800225" cy="1517666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B87C43-A968-4A79-B40D-8703349D734E}"/>
              </a:ext>
            </a:extLst>
          </p:cNvPr>
          <p:cNvGrpSpPr/>
          <p:nvPr/>
        </p:nvGrpSpPr>
        <p:grpSpPr>
          <a:xfrm>
            <a:off x="276225" y="3154373"/>
            <a:ext cx="8667750" cy="1517666"/>
            <a:chOff x="276225" y="2906723"/>
            <a:chExt cx="8667750" cy="1517666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B589F48-5B80-4DE8-A6F3-762919C3EFF1}"/>
                </a:ext>
              </a:extLst>
            </p:cNvPr>
            <p:cNvSpPr txBox="1"/>
            <p:nvPr/>
          </p:nvSpPr>
          <p:spPr>
            <a:xfrm>
              <a:off x="2214562" y="3302338"/>
              <a:ext cx="672941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800" dirty="0">
                  <a:latin typeface="Franklin Gothic Heavy" panose="020B0903020102020204" pitchFamily="34" charset="0"/>
                </a:rPr>
                <a:t>Sesión práctica del uso del software CAMPUS y RESTRICTED</a:t>
              </a:r>
            </a:p>
          </p:txBody>
        </p: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1D24252D-7DB3-4460-BA6A-781E67BB1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225" y="2906723"/>
              <a:ext cx="1800225" cy="1517666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5F591C5-D936-456F-A363-26A6B1E5D7F1}"/>
              </a:ext>
            </a:extLst>
          </p:cNvPr>
          <p:cNvSpPr txBox="1"/>
          <p:nvPr/>
        </p:nvSpPr>
        <p:spPr>
          <a:xfrm>
            <a:off x="3089422" y="1985989"/>
            <a:ext cx="56080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/>
              <a:t>Buscar y cargar módulos de software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/>
              <a:t>Compilación básica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/>
              <a:t>Entornos virtuales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98CAD03-1E19-4C3F-9F80-152D018C2DAB}"/>
              </a:ext>
            </a:extLst>
          </p:cNvPr>
          <p:cNvSpPr txBox="1"/>
          <p:nvPr/>
        </p:nvSpPr>
        <p:spPr>
          <a:xfrm>
            <a:off x="2963345" y="4819944"/>
            <a:ext cx="4947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 err="1"/>
              <a:t>Materials</a:t>
            </a:r>
            <a:r>
              <a:rPr lang="es-ES" dirty="0"/>
              <a:t> Studio: Pasarela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/>
              <a:t>COMSOL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/>
              <a:t>Schrödinger Suite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/>
              <a:t>Matlab</a:t>
            </a:r>
          </a:p>
        </p:txBody>
      </p:sp>
    </p:spTree>
    <p:extLst>
      <p:ext uri="{BB962C8B-B14F-4D97-AF65-F5344CB8AC3E}">
        <p14:creationId xmlns:p14="http://schemas.microsoft.com/office/powerpoint/2010/main" val="385584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A91FA39-E699-4455-BD2B-BF5CF6BA012A}"/>
              </a:ext>
            </a:extLst>
          </p:cNvPr>
          <p:cNvSpPr txBox="1"/>
          <p:nvPr/>
        </p:nvSpPr>
        <p:spPr>
          <a:xfrm>
            <a:off x="92467" y="0"/>
            <a:ext cx="753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Bloque 1: </a:t>
            </a:r>
            <a:r>
              <a:rPr lang="es-ES" dirty="0"/>
              <a:t>Tipología del software y aplicativos Web en Drago 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35D0FFF-93F8-4BF5-A787-2045F0AAD63E}"/>
              </a:ext>
            </a:extLst>
          </p:cNvPr>
          <p:cNvGrpSpPr/>
          <p:nvPr/>
        </p:nvGrpSpPr>
        <p:grpSpPr>
          <a:xfrm>
            <a:off x="346320" y="1286009"/>
            <a:ext cx="8601738" cy="3061613"/>
            <a:chOff x="346320" y="1286009"/>
            <a:chExt cx="8601738" cy="3061613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C2BD1B7B-DAF3-44C8-B99C-4DCE48B3BEB9}"/>
                </a:ext>
              </a:extLst>
            </p:cNvPr>
            <p:cNvGrpSpPr/>
            <p:nvPr/>
          </p:nvGrpSpPr>
          <p:grpSpPr>
            <a:xfrm>
              <a:off x="545261" y="1286009"/>
              <a:ext cx="8402797" cy="2591066"/>
              <a:chOff x="370600" y="3587203"/>
              <a:chExt cx="8402797" cy="2591066"/>
            </a:xfrm>
          </p:grpSpPr>
          <p:grpSp>
            <p:nvGrpSpPr>
              <p:cNvPr id="2" name="Grupo 1">
                <a:extLst>
                  <a:ext uri="{FF2B5EF4-FFF2-40B4-BE49-F238E27FC236}">
                    <a16:creationId xmlns:a16="http://schemas.microsoft.com/office/drawing/2014/main" id="{86973A0A-1D64-4B8B-A0BF-A4D7B0389542}"/>
                  </a:ext>
                </a:extLst>
              </p:cNvPr>
              <p:cNvGrpSpPr/>
              <p:nvPr/>
            </p:nvGrpSpPr>
            <p:grpSpPr>
              <a:xfrm>
                <a:off x="370600" y="3587203"/>
                <a:ext cx="8402797" cy="1670635"/>
                <a:chOff x="541178" y="169962"/>
                <a:chExt cx="8402797" cy="1670635"/>
              </a:xfrm>
            </p:grpSpPr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1038417A-3FB1-4C9C-B4F8-AD546C8D8D8B}"/>
                    </a:ext>
                  </a:extLst>
                </p:cNvPr>
                <p:cNvSpPr txBox="1"/>
                <p:nvPr/>
              </p:nvSpPr>
              <p:spPr>
                <a:xfrm>
                  <a:off x="2214562" y="886490"/>
                  <a:ext cx="6729413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2800" dirty="0">
                      <a:latin typeface="Franklin Gothic Heavy" panose="020B0903020102020204" pitchFamily="34" charset="0"/>
                    </a:rPr>
                    <a:t>Introducción al uso de MATLAB </a:t>
                  </a:r>
                  <a:r>
                    <a:rPr lang="es-ES" sz="2800" dirty="0" err="1">
                      <a:latin typeface="Franklin Gothic Heavy" panose="020B0903020102020204" pitchFamily="34" charset="0"/>
                    </a:rPr>
                    <a:t>parallel</a:t>
                  </a:r>
                  <a:r>
                    <a:rPr lang="es-ES" sz="2800" dirty="0">
                      <a:latin typeface="Franklin Gothic Heavy" panose="020B0903020102020204" pitchFamily="34" charset="0"/>
                    </a:rPr>
                    <a:t> Server en DRAGO</a:t>
                  </a:r>
                </a:p>
              </p:txBody>
            </p:sp>
            <p:pic>
              <p:nvPicPr>
                <p:cNvPr id="12" name="Imagen 11">
                  <a:extLst>
                    <a:ext uri="{FF2B5EF4-FFF2-40B4-BE49-F238E27FC236}">
                      <a16:creationId xmlns:a16="http://schemas.microsoft.com/office/drawing/2014/main" id="{93993D1F-CFC5-43D9-BA0B-41CD01A13B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1178" y="169962"/>
                  <a:ext cx="1402345" cy="1323216"/>
                </a:xfrm>
                <a:prstGeom prst="rect">
                  <a:avLst/>
                </a:prstGeom>
              </p:spPr>
            </p:pic>
          </p:grpSp>
          <p:grpSp>
            <p:nvGrpSpPr>
              <p:cNvPr id="16" name="Grupo 15">
                <a:extLst>
                  <a:ext uri="{FF2B5EF4-FFF2-40B4-BE49-F238E27FC236}">
                    <a16:creationId xmlns:a16="http://schemas.microsoft.com/office/drawing/2014/main" id="{AC58EE75-67DF-4FBD-AFA7-2BACE2980414}"/>
                  </a:ext>
                </a:extLst>
              </p:cNvPr>
              <p:cNvGrpSpPr/>
              <p:nvPr/>
            </p:nvGrpSpPr>
            <p:grpSpPr>
              <a:xfrm>
                <a:off x="5487165" y="4855052"/>
                <a:ext cx="2737379" cy="1323217"/>
                <a:chOff x="3564782" y="2878770"/>
                <a:chExt cx="6009372" cy="2681947"/>
              </a:xfrm>
            </p:grpSpPr>
            <p:pic>
              <p:nvPicPr>
                <p:cNvPr id="7" name="Imagen 6">
                  <a:extLst>
                    <a:ext uri="{FF2B5EF4-FFF2-40B4-BE49-F238E27FC236}">
                      <a16:creationId xmlns:a16="http://schemas.microsoft.com/office/drawing/2014/main" id="{E2852566-F289-405C-9620-DF3CA6307B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51634" y="3438376"/>
                  <a:ext cx="3722520" cy="1189215"/>
                </a:xfrm>
                <a:prstGeom prst="rect">
                  <a:avLst/>
                </a:prstGeom>
              </p:spPr>
            </p:pic>
            <p:pic>
              <p:nvPicPr>
                <p:cNvPr id="15" name="Imagen 14">
                  <a:extLst>
                    <a:ext uri="{FF2B5EF4-FFF2-40B4-BE49-F238E27FC236}">
                      <a16:creationId xmlns:a16="http://schemas.microsoft.com/office/drawing/2014/main" id="{09918F96-4890-4CD7-9564-7E3A31A01F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lum/>
                  <a:alphaModFix/>
                </a:blip>
                <a:srcRect/>
                <a:stretch>
                  <a:fillRect/>
                </a:stretch>
              </p:blipFill>
              <p:spPr>
                <a:xfrm>
                  <a:off x="3564782" y="2878770"/>
                  <a:ext cx="1989345" cy="26819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0CF97521-4875-4A63-A654-B9F492C4C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320" y="2829956"/>
              <a:ext cx="1800225" cy="15176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3211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01E0447D-7E07-4EFB-AB20-C72383103AE2}"/>
              </a:ext>
            </a:extLst>
          </p:cNvPr>
          <p:cNvGrpSpPr/>
          <p:nvPr/>
        </p:nvGrpSpPr>
        <p:grpSpPr>
          <a:xfrm>
            <a:off x="2524100" y="2219325"/>
            <a:ext cx="3884580" cy="2419350"/>
            <a:chOff x="4756937" y="809625"/>
            <a:chExt cx="3884580" cy="2419350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8105536B-BE4F-40AD-BE32-C4B607453220}"/>
                </a:ext>
              </a:extLst>
            </p:cNvPr>
            <p:cNvGrpSpPr/>
            <p:nvPr/>
          </p:nvGrpSpPr>
          <p:grpSpPr>
            <a:xfrm>
              <a:off x="4756937" y="809625"/>
              <a:ext cx="3884580" cy="2419350"/>
              <a:chOff x="156360" y="819150"/>
              <a:chExt cx="3702491" cy="2419350"/>
            </a:xfrm>
          </p:grpSpPr>
          <p:sp>
            <p:nvSpPr>
              <p:cNvPr id="12" name="Rectángulo: esquinas redondeadas 11">
                <a:extLst>
                  <a:ext uri="{FF2B5EF4-FFF2-40B4-BE49-F238E27FC236}">
                    <a16:creationId xmlns:a16="http://schemas.microsoft.com/office/drawing/2014/main" id="{E10A25C5-6B3C-4C3F-BEA1-D1CBDCD84E37}"/>
                  </a:ext>
                </a:extLst>
              </p:cNvPr>
              <p:cNvSpPr/>
              <p:nvPr/>
            </p:nvSpPr>
            <p:spPr>
              <a:xfrm>
                <a:off x="156360" y="819150"/>
                <a:ext cx="3701585" cy="2419350"/>
              </a:xfrm>
              <a:prstGeom prst="roundRect">
                <a:avLst/>
              </a:prstGeom>
              <a:ln w="190500">
                <a:solidFill>
                  <a:srgbClr val="92D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FCBE73E-2352-4AA4-AB2E-85842FCEBAA1}"/>
                  </a:ext>
                </a:extLst>
              </p:cNvPr>
              <p:cNvSpPr txBox="1"/>
              <p:nvPr/>
            </p:nvSpPr>
            <p:spPr>
              <a:xfrm>
                <a:off x="157266" y="910511"/>
                <a:ext cx="3701585" cy="13234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600" b="1" dirty="0"/>
                  <a:t>Bloque 2: </a:t>
                </a:r>
              </a:p>
              <a:p>
                <a:pPr algn="ctr"/>
                <a:r>
                  <a:rPr lang="es-ES" sz="1600" dirty="0"/>
                  <a:t>Gestor de trabajos instalación de software y almacenamiento en DRAGO: (SLURM, LUSTRE, </a:t>
                </a:r>
              </a:p>
              <a:p>
                <a:pPr algn="ctr"/>
                <a:r>
                  <a:rPr lang="es-ES" sz="1600" dirty="0"/>
                  <a:t>Transferencias de fichero)</a:t>
                </a:r>
                <a:endParaRPr lang="en-US" sz="1600" dirty="0"/>
              </a:p>
            </p:txBody>
          </p:sp>
        </p:grp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E0C3E8F4-7482-45B1-A417-DC8253F8DC04}"/>
                </a:ext>
              </a:extLst>
            </p:cNvPr>
            <p:cNvSpPr txBox="1"/>
            <p:nvPr/>
          </p:nvSpPr>
          <p:spPr>
            <a:xfrm>
              <a:off x="6860772" y="2232195"/>
              <a:ext cx="10048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596065"/>
                  </a:solidFill>
                </a:rPr>
                <a:t>Ester </a:t>
              </a:r>
              <a:r>
                <a:rPr lang="en-US" sz="800" dirty="0" err="1">
                  <a:solidFill>
                    <a:srgbClr val="596065"/>
                  </a:solidFill>
                </a:rPr>
                <a:t>Manjavacas</a:t>
              </a:r>
              <a:endParaRPr lang="en-US" sz="800" dirty="0">
                <a:solidFill>
                  <a:srgbClr val="596065"/>
                </a:solidFill>
              </a:endParaRPr>
            </a:p>
            <a:p>
              <a:r>
                <a:rPr lang="en-US" sz="800" dirty="0">
                  <a:solidFill>
                    <a:schemeClr val="accent4"/>
                  </a:solidFill>
                </a:rPr>
                <a:t>AIC</a:t>
              </a:r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D7C1651F-1D9B-482F-9EC5-979AC634E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5969" y="2208767"/>
              <a:ext cx="791128" cy="8772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6396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3CD4698-4D51-4BD7-8FE1-48ADAC01616E}"/>
              </a:ext>
            </a:extLst>
          </p:cNvPr>
          <p:cNvSpPr txBox="1"/>
          <p:nvPr/>
        </p:nvSpPr>
        <p:spPr>
          <a:xfrm>
            <a:off x="2205198" y="2071128"/>
            <a:ext cx="6729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Franklin Gothic Heavy" panose="020B0903020102020204" pitchFamily="34" charset="0"/>
              </a:rPr>
              <a:t>Aplicativos Web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11B7354-AC06-4022-BC7D-B6946D8AF917}"/>
              </a:ext>
            </a:extLst>
          </p:cNvPr>
          <p:cNvSpPr txBox="1"/>
          <p:nvPr/>
        </p:nvSpPr>
        <p:spPr>
          <a:xfrm>
            <a:off x="2198787" y="2919942"/>
            <a:ext cx="6579635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dirty="0"/>
              <a:t>Página Web del Área de Informática Científica (AIC)</a:t>
            </a:r>
          </a:p>
          <a:p>
            <a:pPr marL="285750" indent="-285750">
              <a:spcAft>
                <a:spcPts val="6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dirty="0"/>
              <a:t>Portal de documentación AIC</a:t>
            </a:r>
          </a:p>
          <a:p>
            <a:pPr marL="285750" indent="-285750">
              <a:spcAft>
                <a:spcPts val="6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dirty="0"/>
              <a:t>Estado del clúster HPC Drago</a:t>
            </a:r>
          </a:p>
          <a:p>
            <a:pPr marL="285750" indent="-285750">
              <a:spcAft>
                <a:spcPts val="6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dirty="0" err="1"/>
              <a:t>Jupyter</a:t>
            </a:r>
            <a:r>
              <a:rPr lang="es-ES" dirty="0"/>
              <a:t> Netbooks</a:t>
            </a:r>
          </a:p>
          <a:p>
            <a:pPr marL="285750" indent="-285750">
              <a:spcAft>
                <a:spcPts val="6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dirty="0"/>
              <a:t>Soporte de incidencias: GLPI</a:t>
            </a:r>
          </a:p>
          <a:p>
            <a:pPr marL="285750" indent="-285750">
              <a:spcAft>
                <a:spcPts val="6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dirty="0"/>
              <a:t>GITLAB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CC36B86-CAC3-4BE4-8550-4BE1661003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75" y="1835515"/>
            <a:ext cx="1800225" cy="151766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32C019D-BD6F-42B0-825A-C53A26C61884}"/>
              </a:ext>
            </a:extLst>
          </p:cNvPr>
          <p:cNvSpPr txBox="1"/>
          <p:nvPr/>
        </p:nvSpPr>
        <p:spPr>
          <a:xfrm>
            <a:off x="92467" y="0"/>
            <a:ext cx="753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Bloque 2: </a:t>
            </a:r>
            <a:r>
              <a:rPr lang="es-ES" dirty="0"/>
              <a:t>Gestor de trabajos y almacenamiento en DRAGO</a:t>
            </a:r>
          </a:p>
        </p:txBody>
      </p:sp>
    </p:spTree>
    <p:extLst>
      <p:ext uri="{BB962C8B-B14F-4D97-AF65-F5344CB8AC3E}">
        <p14:creationId xmlns:p14="http://schemas.microsoft.com/office/powerpoint/2010/main" val="3566058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D4EDC5A-4CE2-41FF-901E-ECD42DECD6F2}"/>
              </a:ext>
            </a:extLst>
          </p:cNvPr>
          <p:cNvSpPr txBox="1"/>
          <p:nvPr/>
        </p:nvSpPr>
        <p:spPr>
          <a:xfrm>
            <a:off x="92467" y="0"/>
            <a:ext cx="753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Bloque 2: </a:t>
            </a:r>
            <a:r>
              <a:rPr lang="es-ES" dirty="0"/>
              <a:t>Gestor de trabajos y almacenamiento en DRAGO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FA04988-AF47-4C69-80A7-4AC4D58C7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85" y="590122"/>
            <a:ext cx="1402345" cy="132321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DF76C7B-B57B-4962-8DD4-01210FA31D63}"/>
              </a:ext>
            </a:extLst>
          </p:cNvPr>
          <p:cNvSpPr txBox="1"/>
          <p:nvPr/>
        </p:nvSpPr>
        <p:spPr>
          <a:xfrm>
            <a:off x="2136171" y="4303260"/>
            <a:ext cx="6729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Franklin Gothic Heavy" panose="020B0903020102020204" pitchFamily="34" charset="0"/>
              </a:rPr>
              <a:t>Sesión practica con SLURM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B3F1C43-81F3-40B7-BC96-60FC88A90C14}"/>
              </a:ext>
            </a:extLst>
          </p:cNvPr>
          <p:cNvSpPr txBox="1"/>
          <p:nvPr/>
        </p:nvSpPr>
        <p:spPr>
          <a:xfrm>
            <a:off x="2129760" y="5152074"/>
            <a:ext cx="657963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/>
              <a:t>Array </a:t>
            </a:r>
            <a:r>
              <a:rPr lang="es-ES" dirty="0" err="1"/>
              <a:t>lists</a:t>
            </a:r>
            <a:r>
              <a:rPr lang="es-ES" dirty="0"/>
              <a:t>.</a:t>
            </a:r>
          </a:p>
          <a:p>
            <a:pPr marL="285750" indent="-285750">
              <a:spcAft>
                <a:spcPts val="600"/>
              </a:spcAft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/>
              <a:t>Ejecución de trabajos con dependencias.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234FFBF-3AF3-4FEF-8649-8EFE51EB9103}"/>
              </a:ext>
            </a:extLst>
          </p:cNvPr>
          <p:cNvGrpSpPr/>
          <p:nvPr/>
        </p:nvGrpSpPr>
        <p:grpSpPr>
          <a:xfrm>
            <a:off x="2129760" y="1504618"/>
            <a:ext cx="6782355" cy="2235271"/>
            <a:chOff x="2129760" y="795702"/>
            <a:chExt cx="6782355" cy="2235271"/>
          </a:xfrm>
        </p:grpSpPr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544A9ABC-523C-428E-B4D6-5C531AFC6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29760" y="795702"/>
              <a:ext cx="2442240" cy="2235271"/>
            </a:xfrm>
            <a:prstGeom prst="rect">
              <a:avLst/>
            </a:prstGeom>
          </p:spPr>
        </p:pic>
        <p:sp>
          <p:nvSpPr>
            <p:cNvPr id="10" name="Flecha: a la derecha 9">
              <a:extLst>
                <a:ext uri="{FF2B5EF4-FFF2-40B4-BE49-F238E27FC236}">
                  <a16:creationId xmlns:a16="http://schemas.microsoft.com/office/drawing/2014/main" id="{B23C8835-96CE-49FA-AD20-EE4F76D2133C}"/>
                </a:ext>
              </a:extLst>
            </p:cNvPr>
            <p:cNvSpPr/>
            <p:nvPr/>
          </p:nvSpPr>
          <p:spPr>
            <a:xfrm>
              <a:off x="4903228" y="1730747"/>
              <a:ext cx="1035235" cy="564208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B8E435E8-366F-40A3-9BED-28F6D047A637}"/>
                </a:ext>
              </a:extLst>
            </p:cNvPr>
            <p:cNvSpPr txBox="1"/>
            <p:nvPr/>
          </p:nvSpPr>
          <p:spPr>
            <a:xfrm>
              <a:off x="6060431" y="1366464"/>
              <a:ext cx="285168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b="1" dirty="0"/>
                <a:t>Simple Linux </a:t>
              </a:r>
              <a:r>
                <a:rPr lang="es-ES" b="1" dirty="0" err="1"/>
                <a:t>Utility</a:t>
              </a:r>
              <a:r>
                <a:rPr lang="es-ES" b="1" dirty="0"/>
                <a:t> </a:t>
              </a:r>
              <a:r>
                <a:rPr lang="es-ES" b="1" dirty="0" err="1"/>
                <a:t>Resources</a:t>
              </a:r>
              <a:r>
                <a:rPr lang="es-ES" b="1" dirty="0"/>
                <a:t> Management</a:t>
              </a:r>
              <a:r>
                <a:rPr lang="es-ES" dirty="0"/>
                <a:t>: Sistema de gestión de tareas y recursos en HPC</a:t>
              </a:r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D693E314-5F3B-4034-9E70-AC887125A65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7" y="3634408"/>
            <a:ext cx="1800225" cy="151766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A3C7F7E-8B0E-48AC-B0A5-0E8CFF84129D}"/>
              </a:ext>
            </a:extLst>
          </p:cNvPr>
          <p:cNvSpPr txBox="1"/>
          <p:nvPr/>
        </p:nvSpPr>
        <p:spPr>
          <a:xfrm>
            <a:off x="2218645" y="719698"/>
            <a:ext cx="6729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Franklin Gothic Heavy" panose="020B0903020102020204" pitchFamily="34" charset="0"/>
              </a:rPr>
              <a:t>Gestión de las tareas y recursos</a:t>
            </a:r>
          </a:p>
        </p:txBody>
      </p:sp>
    </p:spTree>
    <p:extLst>
      <p:ext uri="{BB962C8B-B14F-4D97-AF65-F5344CB8AC3E}">
        <p14:creationId xmlns:p14="http://schemas.microsoft.com/office/powerpoint/2010/main" val="34452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A1ED025-DD0F-49B3-9ADA-7327D06924CC}"/>
              </a:ext>
            </a:extLst>
          </p:cNvPr>
          <p:cNvSpPr txBox="1"/>
          <p:nvPr/>
        </p:nvSpPr>
        <p:spPr>
          <a:xfrm>
            <a:off x="92467" y="0"/>
            <a:ext cx="753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Bloque 2: </a:t>
            </a:r>
            <a:r>
              <a:rPr lang="es-ES" dirty="0"/>
              <a:t>Gestor de trabajos y almacenamiento en DRAGO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56AE2C1-5A64-4A34-9F20-D6FB282C3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85" y="590122"/>
            <a:ext cx="1402345" cy="132321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63CCF94-D3D5-4946-87E5-666CAFFA4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00" y="2012851"/>
            <a:ext cx="2921343" cy="3159303"/>
          </a:xfrm>
          <a:prstGeom prst="rect">
            <a:avLst/>
          </a:prstGeom>
        </p:spPr>
      </p:pic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59DFBBDB-2D40-45E0-8221-C19DDABC9D57}"/>
              </a:ext>
            </a:extLst>
          </p:cNvPr>
          <p:cNvSpPr/>
          <p:nvPr/>
        </p:nvSpPr>
        <p:spPr>
          <a:xfrm>
            <a:off x="3687143" y="3146896"/>
            <a:ext cx="1035235" cy="56420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BC272E1-8EC4-44BC-BD3C-9A2A50E9157C}"/>
              </a:ext>
            </a:extLst>
          </p:cNvPr>
          <p:cNvSpPr txBox="1"/>
          <p:nvPr/>
        </p:nvSpPr>
        <p:spPr>
          <a:xfrm>
            <a:off x="5033015" y="2551837"/>
            <a:ext cx="38335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b="1" dirty="0" err="1"/>
              <a:t>EasyBuild</a:t>
            </a:r>
            <a:r>
              <a:rPr lang="es-ES" b="1" dirty="0"/>
              <a:t> </a:t>
            </a:r>
            <a:r>
              <a:rPr lang="es-ES" dirty="0"/>
              <a:t>es una plataforma para la compilación e instalación de software que facilita la gestión eficiente de aplicaciones científicas en sistemas de Computación de Alto Rendimiento (HPC).</a:t>
            </a:r>
          </a:p>
        </p:txBody>
      </p:sp>
      <p:pic>
        <p:nvPicPr>
          <p:cNvPr id="12" name="Picture 2" descr="Logo of Lmod">
            <a:extLst>
              <a:ext uri="{FF2B5EF4-FFF2-40B4-BE49-F238E27FC236}">
                <a16:creationId xmlns:a16="http://schemas.microsoft.com/office/drawing/2014/main" id="{0782B382-9216-44A3-92D1-1FE54C321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557" y="5655924"/>
            <a:ext cx="2189632" cy="744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A338FCD8-BD51-4EDC-8D4D-CD72D0FFCBAF}"/>
              </a:ext>
            </a:extLst>
          </p:cNvPr>
          <p:cNvSpPr/>
          <p:nvPr/>
        </p:nvSpPr>
        <p:spPr>
          <a:xfrm>
            <a:off x="5033015" y="5423930"/>
            <a:ext cx="36588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Gestión de entornos para la ejecución de software para evitar dependencias y conflictos.</a:t>
            </a:r>
          </a:p>
          <a:p>
            <a:pPr algn="just"/>
            <a:r>
              <a:rPr lang="es-ES" dirty="0"/>
              <a:t>Comandos relacionados: </a:t>
            </a:r>
            <a:r>
              <a:rPr lang="es-ES" b="1" dirty="0"/>
              <a:t>module</a:t>
            </a:r>
            <a:endParaRPr lang="en-US" b="1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BB234CF7-516B-4175-9BA1-AEDEFE204DA9}"/>
              </a:ext>
            </a:extLst>
          </p:cNvPr>
          <p:cNvSpPr/>
          <p:nvPr/>
        </p:nvSpPr>
        <p:spPr>
          <a:xfrm>
            <a:off x="3687143" y="5741991"/>
            <a:ext cx="1035235" cy="56420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B59D5E1-7671-4E0F-890E-A91DB21AC35B}"/>
              </a:ext>
            </a:extLst>
          </p:cNvPr>
          <p:cNvSpPr txBox="1"/>
          <p:nvPr/>
        </p:nvSpPr>
        <p:spPr>
          <a:xfrm>
            <a:off x="2218645" y="719698"/>
            <a:ext cx="6729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Franklin Gothic Heavy" panose="020B0903020102020204" pitchFamily="34" charset="0"/>
              </a:rPr>
              <a:t>Instalación de software (Administrador)</a:t>
            </a:r>
          </a:p>
        </p:txBody>
      </p:sp>
    </p:spTree>
    <p:extLst>
      <p:ext uri="{BB962C8B-B14F-4D97-AF65-F5344CB8AC3E}">
        <p14:creationId xmlns:p14="http://schemas.microsoft.com/office/powerpoint/2010/main" val="2954688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4" grpId="0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A367973-23AD-45B1-80ED-AE4EF1DAAA7F}"/>
              </a:ext>
            </a:extLst>
          </p:cNvPr>
          <p:cNvSpPr txBox="1"/>
          <p:nvPr/>
        </p:nvSpPr>
        <p:spPr>
          <a:xfrm>
            <a:off x="92467" y="0"/>
            <a:ext cx="753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Bloque 2: </a:t>
            </a:r>
            <a:r>
              <a:rPr lang="es-ES" dirty="0"/>
              <a:t>Gestor de trabajos y almacenamiento en DRAGO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FC43BC-7898-449E-B7CB-36DA959E4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85" y="590122"/>
            <a:ext cx="1402345" cy="132321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B578C6C-C129-4EF3-B674-44B123E426B3}"/>
              </a:ext>
            </a:extLst>
          </p:cNvPr>
          <p:cNvSpPr txBox="1"/>
          <p:nvPr/>
        </p:nvSpPr>
        <p:spPr>
          <a:xfrm>
            <a:off x="1735760" y="507929"/>
            <a:ext cx="67294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Franklin Gothic Heavy" panose="020B0903020102020204" pitchFamily="34" charset="0"/>
              </a:rPr>
              <a:t>Sistemas de archivos y almacenamiento en HPC:</a:t>
            </a:r>
          </a:p>
          <a:p>
            <a:r>
              <a:rPr lang="es-ES" sz="2800" dirty="0">
                <a:latin typeface="Franklin Gothic Heavy" panose="020B0903020102020204" pitchFamily="34" charset="0"/>
              </a:rPr>
              <a:t>LUSTRE</a:t>
            </a:r>
          </a:p>
          <a:p>
            <a:r>
              <a:rPr lang="es-ES" sz="2800" dirty="0">
                <a:latin typeface="Franklin Gothic Heavy" panose="020B0903020102020204" pitchFamily="34" charset="0"/>
              </a:rPr>
              <a:t>Cuotas</a:t>
            </a:r>
          </a:p>
          <a:p>
            <a:r>
              <a:rPr lang="es-ES" sz="2800" dirty="0">
                <a:latin typeface="Franklin Gothic Heavy" panose="020B0903020102020204" pitchFamily="34" charset="0"/>
              </a:rPr>
              <a:t>Espacios de trabajo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6900456-2727-422E-95DF-BF5EEC15978E}"/>
              </a:ext>
            </a:extLst>
          </p:cNvPr>
          <p:cNvGrpSpPr/>
          <p:nvPr/>
        </p:nvGrpSpPr>
        <p:grpSpPr>
          <a:xfrm>
            <a:off x="6096011" y="1051761"/>
            <a:ext cx="3054826" cy="1321699"/>
            <a:chOff x="5857289" y="1514098"/>
            <a:chExt cx="3054826" cy="1321699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4739E100-A8F7-4B74-BA9E-5FFC62D15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7289" y="1514098"/>
              <a:ext cx="3054826" cy="798479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3DB6C64F-D12A-41FE-8A91-CCF3F619225B}"/>
                </a:ext>
              </a:extLst>
            </p:cNvPr>
            <p:cNvSpPr txBox="1"/>
            <p:nvPr/>
          </p:nvSpPr>
          <p:spPr>
            <a:xfrm>
              <a:off x="6344063" y="2312577"/>
              <a:ext cx="2225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1400" b="1" dirty="0"/>
                <a:t>Open-</a:t>
              </a:r>
              <a:r>
                <a:rPr lang="es-ES" sz="1400" b="1" dirty="0" err="1"/>
                <a:t>Source</a:t>
              </a:r>
              <a:r>
                <a:rPr lang="es-ES" sz="1400" b="1" dirty="0"/>
                <a:t> </a:t>
              </a:r>
              <a:r>
                <a:rPr lang="es-ES" sz="1400" b="1" dirty="0" err="1"/>
                <a:t>Parallel</a:t>
              </a:r>
              <a:r>
                <a:rPr lang="es-ES" sz="1400" b="1" dirty="0"/>
                <a:t> File </a:t>
              </a:r>
              <a:r>
                <a:rPr lang="es-ES" sz="1400" b="1" dirty="0" err="1"/>
                <a:t>System</a:t>
              </a:r>
              <a:r>
                <a:rPr lang="es-ES" sz="1400" b="1" dirty="0"/>
                <a:t> </a:t>
              </a:r>
              <a:r>
                <a:rPr lang="es-ES" sz="1400" b="1" dirty="0" err="1"/>
                <a:t>for</a:t>
              </a:r>
              <a:r>
                <a:rPr lang="es-ES" sz="1400" b="1" dirty="0"/>
                <a:t> HPC</a:t>
              </a:r>
              <a:endParaRPr lang="es-ES" sz="1400" dirty="0"/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2300765-D0FB-4E0B-8077-14E116DFA6BD}"/>
              </a:ext>
            </a:extLst>
          </p:cNvPr>
          <p:cNvSpPr txBox="1"/>
          <p:nvPr/>
        </p:nvSpPr>
        <p:spPr>
          <a:xfrm>
            <a:off x="2177202" y="3580309"/>
            <a:ext cx="6729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Franklin Gothic Heavy" panose="020B0903020102020204" pitchFamily="34" charset="0"/>
              </a:rPr>
              <a:t>Sesión practica con LUSTRE, cuotas y espacios de trabajo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D00CC90-6E45-4CB3-A281-1C2D0AD12DBA}"/>
              </a:ext>
            </a:extLst>
          </p:cNvPr>
          <p:cNvSpPr txBox="1"/>
          <p:nvPr/>
        </p:nvSpPr>
        <p:spPr>
          <a:xfrm>
            <a:off x="2228370" y="4816196"/>
            <a:ext cx="657963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s-ES" dirty="0"/>
              <a:t>Cuotas</a:t>
            </a:r>
          </a:p>
          <a:p>
            <a:pPr marL="285750" indent="-285750">
              <a:spcAft>
                <a:spcPts val="600"/>
              </a:spcAft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s-ES" dirty="0"/>
              <a:t>Espacios de trabajo: HOME y SCRATCH_GLOBAL 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59D0CA4-7524-41B7-A3E2-348EF8C8EFB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77" y="3298530"/>
            <a:ext cx="1800225" cy="151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67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67EC17B-5599-4ED3-BEF1-1ED8C5CF6420}"/>
              </a:ext>
            </a:extLst>
          </p:cNvPr>
          <p:cNvSpPr txBox="1"/>
          <p:nvPr/>
        </p:nvSpPr>
        <p:spPr>
          <a:xfrm>
            <a:off x="92467" y="0"/>
            <a:ext cx="753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Bloque 2: </a:t>
            </a:r>
            <a:r>
              <a:rPr lang="es-ES" dirty="0"/>
              <a:t>Gestor de trabajos y almacenamiento en DRAGO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B4DA87-DF67-46D0-8FDD-1FD957882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85" y="774676"/>
            <a:ext cx="1402345" cy="132321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5C70BD7-AAEE-478F-926A-FA06F495C03D}"/>
              </a:ext>
            </a:extLst>
          </p:cNvPr>
          <p:cNvSpPr txBox="1"/>
          <p:nvPr/>
        </p:nvSpPr>
        <p:spPr>
          <a:xfrm>
            <a:off x="1991302" y="959231"/>
            <a:ext cx="6729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Franklin Gothic Heavy" panose="020B0903020102020204" pitchFamily="34" charset="0"/>
              </a:rPr>
              <a:t>Transferencias de ficheros desde y hacia Drago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D618786-4686-443C-9A12-7DF1C3DA69F2}"/>
              </a:ext>
            </a:extLst>
          </p:cNvPr>
          <p:cNvSpPr txBox="1"/>
          <p:nvPr/>
        </p:nvSpPr>
        <p:spPr>
          <a:xfrm>
            <a:off x="2177202" y="3580309"/>
            <a:ext cx="6729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Franklin Gothic Heavy" panose="020B0903020102020204" pitchFamily="34" charset="0"/>
              </a:rPr>
              <a:t>Sesión practica transferencias de fichero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406EC7A-F319-4461-840F-4F1691A54D2C}"/>
              </a:ext>
            </a:extLst>
          </p:cNvPr>
          <p:cNvSpPr txBox="1"/>
          <p:nvPr/>
        </p:nvSpPr>
        <p:spPr>
          <a:xfrm>
            <a:off x="2228370" y="4816196"/>
            <a:ext cx="6579635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/>
              <a:t>Comando </a:t>
            </a:r>
            <a:r>
              <a:rPr lang="es-ES" dirty="0" err="1"/>
              <a:t>rsync</a:t>
            </a:r>
            <a:endParaRPr lang="es-ES" dirty="0"/>
          </a:p>
          <a:p>
            <a:pPr marL="285750" indent="-285750">
              <a:spcAft>
                <a:spcPts val="600"/>
              </a:spcAft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/>
              <a:t>Comando </a:t>
            </a:r>
            <a:r>
              <a:rPr lang="es-ES" dirty="0" err="1"/>
              <a:t>scp</a:t>
            </a:r>
            <a:endParaRPr lang="es-ES" dirty="0"/>
          </a:p>
          <a:p>
            <a:pPr marL="285750" indent="-285750">
              <a:spcAft>
                <a:spcPts val="600"/>
              </a:spcAft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 err="1"/>
              <a:t>Backup</a:t>
            </a:r>
            <a:r>
              <a:rPr lang="es-ES" dirty="0"/>
              <a:t> básico con </a:t>
            </a:r>
            <a:r>
              <a:rPr lang="es-ES" dirty="0" err="1"/>
              <a:t>rsync</a:t>
            </a:r>
            <a:endParaRPr lang="es-ES" dirty="0"/>
          </a:p>
          <a:p>
            <a:pPr marL="285750" indent="-285750">
              <a:spcAft>
                <a:spcPts val="600"/>
              </a:spcAft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 err="1"/>
              <a:t>Filezilla</a:t>
            </a:r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20DEB75-0A1C-4339-921C-4F7C5667FF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77" y="3298530"/>
            <a:ext cx="1800225" cy="151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3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67738B86-5232-4E8F-82D9-13636BA2A64A}"/>
              </a:ext>
            </a:extLst>
          </p:cNvPr>
          <p:cNvGrpSpPr/>
          <p:nvPr/>
        </p:nvGrpSpPr>
        <p:grpSpPr>
          <a:xfrm>
            <a:off x="2668284" y="2401048"/>
            <a:ext cx="3581400" cy="2419350"/>
            <a:chOff x="2781300" y="3716144"/>
            <a:chExt cx="3581400" cy="2419350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A20F8AD2-F178-48F8-A41E-B08F2CE7C51F}"/>
                </a:ext>
              </a:extLst>
            </p:cNvPr>
            <p:cNvGrpSpPr/>
            <p:nvPr/>
          </p:nvGrpSpPr>
          <p:grpSpPr>
            <a:xfrm>
              <a:off x="2781300" y="3716144"/>
              <a:ext cx="3581400" cy="2419350"/>
              <a:chOff x="276545" y="819150"/>
              <a:chExt cx="3581400" cy="2419350"/>
            </a:xfrm>
          </p:grpSpPr>
          <p:sp>
            <p:nvSpPr>
              <p:cNvPr id="12" name="Rectángulo: esquinas redondeadas 11">
                <a:extLst>
                  <a:ext uri="{FF2B5EF4-FFF2-40B4-BE49-F238E27FC236}">
                    <a16:creationId xmlns:a16="http://schemas.microsoft.com/office/drawing/2014/main" id="{16CD9C93-798B-48B1-9E12-60598E5719BE}"/>
                  </a:ext>
                </a:extLst>
              </p:cNvPr>
              <p:cNvSpPr/>
              <p:nvPr/>
            </p:nvSpPr>
            <p:spPr>
              <a:xfrm>
                <a:off x="276545" y="819150"/>
                <a:ext cx="3581400" cy="2419350"/>
              </a:xfrm>
              <a:prstGeom prst="roundRect">
                <a:avLst/>
              </a:prstGeom>
              <a:ln w="190500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66DA81D-503F-447D-B694-1EA9D82F891B}"/>
                  </a:ext>
                </a:extLst>
              </p:cNvPr>
              <p:cNvSpPr txBox="1"/>
              <p:nvPr/>
            </p:nvSpPr>
            <p:spPr>
              <a:xfrm>
                <a:off x="324170" y="918269"/>
                <a:ext cx="3486150" cy="107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600" b="1" dirty="0"/>
                  <a:t>Bloque 3: </a:t>
                </a:r>
              </a:p>
              <a:p>
                <a:pPr algn="ctr"/>
                <a:r>
                  <a:rPr lang="es-ES" sz="1600" dirty="0"/>
                  <a:t>Envío de trabajos desde el punto de vista del usuario: Preparación de “</a:t>
                </a:r>
                <a:r>
                  <a:rPr lang="es-ES" sz="1600" dirty="0" err="1"/>
                  <a:t>benchmarks</a:t>
                </a:r>
                <a:r>
                  <a:rPr lang="es-ES" sz="1600" dirty="0"/>
                  <a:t>” y buenas practicas </a:t>
                </a:r>
                <a:endParaRPr lang="en-US" sz="1600" dirty="0"/>
              </a:p>
            </p:txBody>
          </p:sp>
        </p:grp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5C95D19C-5621-4D97-AE1F-723DD675E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6663" y="4890194"/>
              <a:ext cx="1547812" cy="1065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7304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E79B2E9-15C8-4FAD-B4DD-4E7AEA6DA705}"/>
              </a:ext>
            </a:extLst>
          </p:cNvPr>
          <p:cNvSpPr txBox="1"/>
          <p:nvPr/>
        </p:nvSpPr>
        <p:spPr>
          <a:xfrm>
            <a:off x="92467" y="30822"/>
            <a:ext cx="905153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500" b="1" dirty="0"/>
              <a:t>Bloque 3: </a:t>
            </a:r>
            <a:r>
              <a:rPr lang="es-ES" sz="1500" dirty="0"/>
              <a:t>Envío de trabajos desde el punto de vista del usuario. “</a:t>
            </a:r>
            <a:r>
              <a:rPr lang="es-ES" sz="1500" dirty="0" err="1"/>
              <a:t>Benchmarks</a:t>
            </a:r>
            <a:r>
              <a:rPr lang="es-ES" sz="1500" dirty="0"/>
              <a:t>” y buenas prácticas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6026F29-8689-4C69-98CD-695ED20DA7F4}"/>
              </a:ext>
            </a:extLst>
          </p:cNvPr>
          <p:cNvSpPr txBox="1"/>
          <p:nvPr/>
        </p:nvSpPr>
        <p:spPr>
          <a:xfrm>
            <a:off x="2269670" y="1165882"/>
            <a:ext cx="6729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Franklin Gothic Heavy" panose="020B0903020102020204" pitchFamily="34" charset="0"/>
              </a:rPr>
              <a:t>Ejemplo de compilación en DRAGO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DE43CD-D9E8-4B9A-9048-68C971E504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45" y="884103"/>
            <a:ext cx="1800225" cy="151766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321A2DE-5783-453C-B817-6D6905DDA772}"/>
              </a:ext>
            </a:extLst>
          </p:cNvPr>
          <p:cNvSpPr txBox="1"/>
          <p:nvPr/>
        </p:nvSpPr>
        <p:spPr>
          <a:xfrm>
            <a:off x="2344558" y="1997839"/>
            <a:ext cx="6579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/>
              <a:t>Compilación de un código sencillo usando los distintos compiladores presentes en Drago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AB8EB8-57F2-41A0-BD8E-B294EADA894A}"/>
              </a:ext>
            </a:extLst>
          </p:cNvPr>
          <p:cNvSpPr txBox="1"/>
          <p:nvPr/>
        </p:nvSpPr>
        <p:spPr>
          <a:xfrm>
            <a:off x="2269670" y="3568322"/>
            <a:ext cx="6729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Franklin Gothic Heavy" panose="020B0903020102020204" pitchFamily="34" charset="0"/>
              </a:rPr>
              <a:t>Ejemplo práctico de creación y uso de un entorno virtual Python en DRAGO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A984824-6B77-4210-8AAD-FBF7E1F945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45" y="3286543"/>
            <a:ext cx="1800225" cy="151766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771DDEE-3E45-46D2-9402-D61887774648}"/>
              </a:ext>
            </a:extLst>
          </p:cNvPr>
          <p:cNvSpPr txBox="1"/>
          <p:nvPr/>
        </p:nvSpPr>
        <p:spPr>
          <a:xfrm>
            <a:off x="2388626" y="4842068"/>
            <a:ext cx="6579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/>
              <a:t>Creación de entornos virtuales Python usando </a:t>
            </a:r>
            <a:r>
              <a:rPr lang="es-ES" dirty="0" err="1"/>
              <a:t>VirtualEnvironment</a:t>
            </a:r>
            <a:r>
              <a:rPr lang="es-ES" dirty="0"/>
              <a:t> y </a:t>
            </a:r>
            <a:r>
              <a:rPr lang="es-ES" dirty="0" err="1"/>
              <a:t>Mamba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B61A062-1020-4AB7-9905-44B81A8A8DE1}"/>
              </a:ext>
            </a:extLst>
          </p:cNvPr>
          <p:cNvSpPr txBox="1"/>
          <p:nvPr/>
        </p:nvSpPr>
        <p:spPr>
          <a:xfrm>
            <a:off x="2419448" y="5692118"/>
            <a:ext cx="6579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ES" dirty="0"/>
              <a:t>Activación del entorno virtual y ejecución de un programa dentro de ese entorno.</a:t>
            </a:r>
          </a:p>
        </p:txBody>
      </p:sp>
    </p:spTree>
    <p:extLst>
      <p:ext uri="{BB962C8B-B14F-4D97-AF65-F5344CB8AC3E}">
        <p14:creationId xmlns:p14="http://schemas.microsoft.com/office/powerpoint/2010/main" val="202790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E79B2E9-15C8-4FAD-B4DD-4E7AEA6DA705}"/>
              </a:ext>
            </a:extLst>
          </p:cNvPr>
          <p:cNvSpPr txBox="1"/>
          <p:nvPr/>
        </p:nvSpPr>
        <p:spPr>
          <a:xfrm>
            <a:off x="92467" y="30822"/>
            <a:ext cx="905153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500" b="1" dirty="0"/>
              <a:t>Bloque 3: </a:t>
            </a:r>
            <a:r>
              <a:rPr lang="es-ES" sz="1500" dirty="0"/>
              <a:t>Envío de trabajos desde el punto de vista del usuario. “</a:t>
            </a:r>
            <a:r>
              <a:rPr lang="es-ES" sz="1500" dirty="0" err="1"/>
              <a:t>Benchmarks</a:t>
            </a:r>
            <a:r>
              <a:rPr lang="es-ES" sz="1500" dirty="0"/>
              <a:t>” y buenas prácticas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DD01F38-037F-483B-BA9B-4F80615C4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85" y="774676"/>
            <a:ext cx="1402345" cy="132321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9A000A8-A109-495F-8CE9-E0EA0694456C}"/>
              </a:ext>
            </a:extLst>
          </p:cNvPr>
          <p:cNvSpPr txBox="1"/>
          <p:nvPr/>
        </p:nvSpPr>
        <p:spPr>
          <a:xfrm>
            <a:off x="1991302" y="1129354"/>
            <a:ext cx="6729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Franklin Gothic Heavy" panose="020B0903020102020204" pitchFamily="34" charset="0"/>
              </a:rPr>
              <a:t>Conceptos de paralelización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7C2BAAA-A1C1-4660-A3B5-186352C771A1}"/>
              </a:ext>
            </a:extLst>
          </p:cNvPr>
          <p:cNvSpPr txBox="1"/>
          <p:nvPr/>
        </p:nvSpPr>
        <p:spPr>
          <a:xfrm>
            <a:off x="2269670" y="2760244"/>
            <a:ext cx="67294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Franklin Gothic Heavy" panose="020B0903020102020204" pitchFamily="34" charset="0"/>
              </a:rPr>
              <a:t>Envío de trabajos en serie y en paralelo usando software instalado en DRAGO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9D4616C-FFB1-47C1-9540-ABA3BD9244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4" y="2627573"/>
            <a:ext cx="1800225" cy="151766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3091E44-BDB0-40AF-8A4D-B144E2464271}"/>
              </a:ext>
            </a:extLst>
          </p:cNvPr>
          <p:cNvSpPr txBox="1"/>
          <p:nvPr/>
        </p:nvSpPr>
        <p:spPr>
          <a:xfrm>
            <a:off x="2269670" y="4890234"/>
            <a:ext cx="67294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Franklin Gothic Heavy" panose="020B0903020102020204" pitchFamily="34" charset="0"/>
              </a:rPr>
              <a:t>Preparación de “</a:t>
            </a:r>
            <a:r>
              <a:rPr lang="es-ES" sz="2800" dirty="0" err="1">
                <a:latin typeface="Franklin Gothic Heavy" panose="020B0903020102020204" pitchFamily="34" charset="0"/>
              </a:rPr>
              <a:t>benchmarks</a:t>
            </a:r>
            <a:r>
              <a:rPr lang="es-ES" sz="2800" dirty="0">
                <a:latin typeface="Franklin Gothic Heavy" panose="020B0903020102020204" pitchFamily="34" charset="0"/>
              </a:rPr>
              <a:t>” para optimizar el numero de procesadores, nodos y uso de las </a:t>
            </a:r>
            <a:r>
              <a:rPr lang="es-ES" sz="2800" dirty="0" err="1">
                <a:latin typeface="Franklin Gothic Heavy" panose="020B0903020102020204" pitchFamily="34" charset="0"/>
              </a:rPr>
              <a:t>GPUs</a:t>
            </a:r>
            <a:r>
              <a:rPr lang="es-ES" sz="2800" dirty="0">
                <a:latin typeface="Franklin Gothic Heavy" panose="020B0903020102020204" pitchFamily="34" charset="0"/>
              </a:rPr>
              <a:t>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AF267B3-4153-4E1F-9079-9827362644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4" y="4757563"/>
            <a:ext cx="1800225" cy="151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5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F5DFB81-5F27-45C0-BA3F-EDB6BB1B8827}"/>
              </a:ext>
            </a:extLst>
          </p:cNvPr>
          <p:cNvSpPr txBox="1"/>
          <p:nvPr/>
        </p:nvSpPr>
        <p:spPr>
          <a:xfrm>
            <a:off x="92467" y="30822"/>
            <a:ext cx="905153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500" b="1" dirty="0"/>
              <a:t>Acceso a las maquinas virtuales para el curso</a:t>
            </a:r>
            <a:endParaRPr lang="es-ES" sz="15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FD47C19-0CFD-46CC-B762-1561FE339D8C}"/>
              </a:ext>
            </a:extLst>
          </p:cNvPr>
          <p:cNvSpPr/>
          <p:nvPr/>
        </p:nvSpPr>
        <p:spPr>
          <a:xfrm>
            <a:off x="3176900" y="543664"/>
            <a:ext cx="26116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hlinkClick r:id="rId2"/>
              </a:rPr>
              <a:t>https://vdi.csic.es</a:t>
            </a:r>
            <a:endParaRPr lang="en-US"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5993D1-951F-4102-88D8-DA330947F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81" y="1195006"/>
            <a:ext cx="7562850" cy="268605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64A8AF72-36F9-4808-A9ED-95BB70997699}"/>
              </a:ext>
            </a:extLst>
          </p:cNvPr>
          <p:cNvSpPr/>
          <p:nvPr/>
        </p:nvSpPr>
        <p:spPr>
          <a:xfrm>
            <a:off x="1472180" y="4541323"/>
            <a:ext cx="629210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 err="1">
                <a:solidFill>
                  <a:srgbClr val="222222"/>
                </a:solidFill>
                <a:latin typeface="system-ui"/>
              </a:rPr>
              <a:t>User</a:t>
            </a:r>
            <a:r>
              <a:rPr lang="es-ES" sz="2400" b="1" dirty="0">
                <a:solidFill>
                  <a:srgbClr val="222222"/>
                </a:solidFill>
                <a:latin typeface="system-ui"/>
              </a:rPr>
              <a:t>:</a:t>
            </a:r>
            <a:r>
              <a:rPr lang="es-ES" sz="2400" dirty="0">
                <a:solidFill>
                  <a:srgbClr val="222222"/>
                </a:solidFill>
                <a:latin typeface="system-ui"/>
              </a:rPr>
              <a:t>		 Alumno32 al 46 y Alumno91 al 95</a:t>
            </a:r>
          </a:p>
          <a:p>
            <a:endParaRPr lang="es-ES" sz="2400" dirty="0">
              <a:solidFill>
                <a:srgbClr val="222222"/>
              </a:solidFill>
              <a:latin typeface="system-ui"/>
            </a:endParaRPr>
          </a:p>
          <a:p>
            <a:r>
              <a:rPr lang="es-ES" sz="2400" b="1" dirty="0">
                <a:solidFill>
                  <a:srgbClr val="222222"/>
                </a:solidFill>
                <a:latin typeface="system-ui"/>
              </a:rPr>
              <a:t>Password:</a:t>
            </a:r>
            <a:r>
              <a:rPr lang="es-ES" sz="2400" dirty="0">
                <a:solidFill>
                  <a:srgbClr val="222222"/>
                </a:solidFill>
                <a:latin typeface="system-ui"/>
              </a:rPr>
              <a:t>	 CTSC2025.Aula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7046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BE288B1-D51A-4B9C-88B4-432D4F35E40A}"/>
              </a:ext>
            </a:extLst>
          </p:cNvPr>
          <p:cNvSpPr txBox="1"/>
          <p:nvPr/>
        </p:nvSpPr>
        <p:spPr>
          <a:xfrm>
            <a:off x="92467" y="30822"/>
            <a:ext cx="905153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500" b="1" dirty="0"/>
              <a:t>Descargar Material del Curso</a:t>
            </a:r>
            <a:endParaRPr lang="es-ES" sz="1500" dirty="0"/>
          </a:p>
        </p:txBody>
      </p:sp>
    </p:spTree>
    <p:extLst>
      <p:ext uri="{BB962C8B-B14F-4D97-AF65-F5344CB8AC3E}">
        <p14:creationId xmlns:p14="http://schemas.microsoft.com/office/powerpoint/2010/main" val="2037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CuadroTexto">
            <a:extLst>
              <a:ext uri="{FF2B5EF4-FFF2-40B4-BE49-F238E27FC236}">
                <a16:creationId xmlns:a16="http://schemas.microsoft.com/office/drawing/2014/main" id="{81DCA2E0-C02C-488B-AC76-B874924F2B3F}"/>
              </a:ext>
            </a:extLst>
          </p:cNvPr>
          <p:cNvSpPr txBox="1"/>
          <p:nvPr/>
        </p:nvSpPr>
        <p:spPr>
          <a:xfrm>
            <a:off x="457199" y="1508469"/>
            <a:ext cx="8229600" cy="938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55600" indent="-355600" algn="ctr">
              <a:lnSpc>
                <a:spcPct val="150000"/>
              </a:lnSpc>
            </a:pPr>
            <a:r>
              <a:rPr lang="es-ES" sz="4000" dirty="0">
                <a:solidFill>
                  <a:srgbClr val="FF0000"/>
                </a:solidFill>
                <a:latin typeface="Lucida Calligraphy" pitchFamily="66" charset="0"/>
              </a:rPr>
              <a:t>Preguntas???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53A9E8-CC61-4D41-96A4-6F9E4925C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2" y="2852936"/>
            <a:ext cx="45243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8774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dad">
  <a:themeElements>
    <a:clrScheme name="Claridad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da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Claridad.thmx</Template>
  <TotalTime>8649</TotalTime>
  <Words>719</Words>
  <Application>Microsoft Office PowerPoint</Application>
  <PresentationFormat>Presentación en pantalla (4:3)</PresentationFormat>
  <Paragraphs>104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Arial</vt:lpstr>
      <vt:lpstr>Arial Narrow</vt:lpstr>
      <vt:lpstr>Calibri</vt:lpstr>
      <vt:lpstr>Century Schoolbook</vt:lpstr>
      <vt:lpstr>Franklin Gothic Heavy</vt:lpstr>
      <vt:lpstr>Lucida Calligraphy</vt:lpstr>
      <vt:lpstr>system-ui</vt:lpstr>
      <vt:lpstr>Claridad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Alberto Gallardo</dc:creator>
  <cp:lastModifiedBy>Javi Ramos</cp:lastModifiedBy>
  <cp:revision>210</cp:revision>
  <dcterms:created xsi:type="dcterms:W3CDTF">2023-09-21T12:30:28Z</dcterms:created>
  <dcterms:modified xsi:type="dcterms:W3CDTF">2025-11-03T07:48:33Z</dcterms:modified>
</cp:coreProperties>
</file>