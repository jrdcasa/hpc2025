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30"/>
  </p:notesMasterIdLst>
  <p:sldIdLst>
    <p:sldId id="256" r:id="rId2"/>
    <p:sldId id="608" r:id="rId3"/>
    <p:sldId id="609" r:id="rId4"/>
    <p:sldId id="610" r:id="rId5"/>
    <p:sldId id="615" r:id="rId6"/>
    <p:sldId id="616" r:id="rId7"/>
    <p:sldId id="617" r:id="rId8"/>
    <p:sldId id="618" r:id="rId9"/>
    <p:sldId id="634" r:id="rId10"/>
    <p:sldId id="633" r:id="rId11"/>
    <p:sldId id="635" r:id="rId12"/>
    <p:sldId id="619" r:id="rId13"/>
    <p:sldId id="621" r:id="rId14"/>
    <p:sldId id="611" r:id="rId15"/>
    <p:sldId id="612" r:id="rId16"/>
    <p:sldId id="613" r:id="rId17"/>
    <p:sldId id="623" r:id="rId18"/>
    <p:sldId id="614" r:id="rId19"/>
    <p:sldId id="622" r:id="rId20"/>
    <p:sldId id="624" r:id="rId21"/>
    <p:sldId id="625" r:id="rId22"/>
    <p:sldId id="626" r:id="rId23"/>
    <p:sldId id="627" r:id="rId24"/>
    <p:sldId id="628" r:id="rId25"/>
    <p:sldId id="629" r:id="rId26"/>
    <p:sldId id="630" r:id="rId27"/>
    <p:sldId id="631" r:id="rId28"/>
    <p:sldId id="494" r:id="rId29"/>
  </p:sldIdLst>
  <p:sldSz cx="9144000" cy="6858000" type="screen4x3"/>
  <p:notesSz cx="6735763" cy="9866313"/>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Sección predeterminada" id="{2AEEEA98-2D27-4036-8D8E-2CD07B647C8C}">
          <p14:sldIdLst>
            <p14:sldId id="256"/>
            <p14:sldId id="608"/>
            <p14:sldId id="609"/>
            <p14:sldId id="610"/>
            <p14:sldId id="615"/>
            <p14:sldId id="616"/>
            <p14:sldId id="617"/>
            <p14:sldId id="618"/>
            <p14:sldId id="634"/>
            <p14:sldId id="633"/>
            <p14:sldId id="635"/>
            <p14:sldId id="619"/>
            <p14:sldId id="621"/>
            <p14:sldId id="611"/>
            <p14:sldId id="612"/>
            <p14:sldId id="613"/>
            <p14:sldId id="623"/>
            <p14:sldId id="614"/>
            <p14:sldId id="622"/>
            <p14:sldId id="624"/>
            <p14:sldId id="625"/>
            <p14:sldId id="626"/>
            <p14:sldId id="627"/>
            <p14:sldId id="628"/>
            <p14:sldId id="629"/>
            <p14:sldId id="630"/>
            <p14:sldId id="631"/>
            <p14:sldId id="494"/>
          </p14:sldIdLst>
        </p14:section>
        <p14:section name="Sección de resumen" id="{70C2D4A4-35DF-48D4-A444-3FDB5D7C930D}">
          <p14:sldIdLst/>
        </p14:section>
        <p14:section name="Sección 1" id="{F2A36F3D-0386-4E78-9111-05BCF7259E6C}">
          <p14:sldIdLst/>
        </p14:section>
        <p14:section name="Sección 2" id="{7EB88AC6-FB22-4D94-BBD5-BCB9577034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0FFF"/>
    <a:srgbClr val="585857"/>
    <a:srgbClr val="B6B6B6"/>
    <a:srgbClr val="9A9A9A"/>
    <a:srgbClr val="1E1E1E"/>
    <a:srgbClr val="6CFF6C"/>
    <a:srgbClr val="616161"/>
    <a:srgbClr val="92D050"/>
    <a:srgbClr val="00FF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964" autoAdjust="0"/>
  </p:normalViewPr>
  <p:slideViewPr>
    <p:cSldViewPr>
      <p:cViewPr>
        <p:scale>
          <a:sx n="100" d="100"/>
          <a:sy n="100" d="100"/>
        </p:scale>
        <p:origin x="1146" y="0"/>
      </p:cViewPr>
      <p:guideLst>
        <p:guide orient="horz" pos="2160"/>
        <p:guide pos="2880"/>
      </p:guideLst>
    </p:cSldViewPr>
  </p:slideViewPr>
  <p:outlineViewPr>
    <p:cViewPr>
      <p:scale>
        <a:sx n="33" d="100"/>
        <a:sy n="33" d="100"/>
      </p:scale>
      <p:origin x="0" y="-4086"/>
    </p:cViewPr>
  </p:outlineViewPr>
  <p:notesTextViewPr>
    <p:cViewPr>
      <p:scale>
        <a:sx n="100" d="100"/>
        <a:sy n="100" d="100"/>
      </p:scale>
      <p:origin x="0" y="0"/>
    </p:cViewPr>
  </p:notesTextViewPr>
  <p:sorterViewPr>
    <p:cViewPr>
      <p:scale>
        <a:sx n="100" d="100"/>
        <a:sy n="100" d="100"/>
      </p:scale>
      <p:origin x="0" y="1350"/>
    </p:cViewPr>
  </p:sorterViewPr>
  <p:notesViewPr>
    <p:cSldViewPr>
      <p:cViewPr varScale="1">
        <p:scale>
          <a:sx n="52" d="100"/>
          <a:sy n="52" d="100"/>
        </p:scale>
        <p:origin x="-2724" y="-102"/>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2918831" cy="49331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cs typeface="Arial" pitchFamily="34" charset="0"/>
              </a:defRPr>
            </a:lvl1pPr>
          </a:lstStyle>
          <a:p>
            <a:endParaRPr lang="en-US"/>
          </a:p>
        </p:txBody>
      </p:sp>
      <p:sp>
        <p:nvSpPr>
          <p:cNvPr id="68611" name="Rectangle 3"/>
          <p:cNvSpPr>
            <a:spLocks noGrp="1" noChangeArrowheads="1"/>
          </p:cNvSpPr>
          <p:nvPr>
            <p:ph type="dt" idx="1"/>
          </p:nvPr>
        </p:nvSpPr>
        <p:spPr bwMode="auto">
          <a:xfrm>
            <a:off x="3815373" y="0"/>
            <a:ext cx="2918831" cy="49331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cs typeface="Arial" pitchFamily="34" charset="0"/>
              </a:defRPr>
            </a:lvl1pPr>
          </a:lstStyle>
          <a:p>
            <a:endParaRPr lang="en-US"/>
          </a:p>
        </p:txBody>
      </p:sp>
      <p:sp>
        <p:nvSpPr>
          <p:cNvPr id="68612" name="Rectangle 4"/>
          <p:cNvSpPr>
            <a:spLocks noGrp="1" noRot="1" noChangeAspect="1" noChangeArrowheads="1" noTextEdit="1"/>
          </p:cNvSpPr>
          <p:nvPr>
            <p:ph type="sldImg" idx="2"/>
          </p:nvPr>
        </p:nvSpPr>
        <p:spPr bwMode="auto">
          <a:xfrm>
            <a:off x="901700" y="739775"/>
            <a:ext cx="4932363" cy="3700463"/>
          </a:xfrm>
          <a:prstGeom prst="rect">
            <a:avLst/>
          </a:prstGeom>
          <a:noFill/>
          <a:ln w="9525">
            <a:solidFill>
              <a:srgbClr val="000000"/>
            </a:solidFill>
            <a:miter lim="800000"/>
            <a:headEnd/>
            <a:tailEnd/>
          </a:ln>
          <a:effectLst/>
        </p:spPr>
      </p:sp>
      <p:sp>
        <p:nvSpPr>
          <p:cNvPr id="68613" name="Rectangle 5"/>
          <p:cNvSpPr>
            <a:spLocks noGrp="1" noChangeArrowheads="1"/>
          </p:cNvSpPr>
          <p:nvPr>
            <p:ph type="body" sz="quarter" idx="3"/>
          </p:nvPr>
        </p:nvSpPr>
        <p:spPr bwMode="auto">
          <a:xfrm>
            <a:off x="673577" y="4686499"/>
            <a:ext cx="5388610" cy="443984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8614" name="Rectangle 6"/>
          <p:cNvSpPr>
            <a:spLocks noGrp="1" noChangeArrowheads="1"/>
          </p:cNvSpPr>
          <p:nvPr>
            <p:ph type="ftr" sz="quarter" idx="4"/>
          </p:nvPr>
        </p:nvSpPr>
        <p:spPr bwMode="auto">
          <a:xfrm>
            <a:off x="0" y="9371285"/>
            <a:ext cx="2918831" cy="49331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cs typeface="Arial" pitchFamily="34" charset="0"/>
              </a:defRPr>
            </a:lvl1pPr>
          </a:lstStyle>
          <a:p>
            <a:endParaRPr lang="en-US"/>
          </a:p>
        </p:txBody>
      </p:sp>
      <p:sp>
        <p:nvSpPr>
          <p:cNvPr id="68615" name="Rectangle 7"/>
          <p:cNvSpPr>
            <a:spLocks noGrp="1" noChangeArrowheads="1"/>
          </p:cNvSpPr>
          <p:nvPr>
            <p:ph type="sldNum" sz="quarter" idx="5"/>
          </p:nvPr>
        </p:nvSpPr>
        <p:spPr bwMode="auto">
          <a:xfrm>
            <a:off x="3815373" y="9371285"/>
            <a:ext cx="2918831" cy="49331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34" charset="0"/>
                <a:cs typeface="Arial" pitchFamily="34" charset="0"/>
              </a:defRPr>
            </a:lvl1pPr>
          </a:lstStyle>
          <a:p>
            <a:fld id="{9363109A-8CB5-43AC-B5FD-C2D84CF896AC}" type="slidenum">
              <a:rPr lang="en-US"/>
              <a:pPr/>
              <a:t>‹Nº›</a:t>
            </a:fld>
            <a:endParaRPr lang="en-US"/>
          </a:p>
        </p:txBody>
      </p:sp>
    </p:spTree>
    <p:extLst>
      <p:ext uri="{BB962C8B-B14F-4D97-AF65-F5344CB8AC3E}">
        <p14:creationId xmlns:p14="http://schemas.microsoft.com/office/powerpoint/2010/main" val="377949535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457200" algn="l" rtl="0" fontAlgn="base">
      <a:spcBef>
        <a:spcPct val="30000"/>
      </a:spcBef>
      <a:spcAft>
        <a:spcPct val="0"/>
      </a:spcAft>
      <a:defRPr sz="1200" kern="1200">
        <a:solidFill>
          <a:schemeClr val="tx1"/>
        </a:solidFill>
        <a:latin typeface="Arial" pitchFamily="34" charset="0"/>
        <a:ea typeface="+mn-ea"/>
        <a:cs typeface="Arial" pitchFamily="34" charset="0"/>
      </a:defRPr>
    </a:lvl2pPr>
    <a:lvl3pPr marL="914400" algn="l" rtl="0" fontAlgn="base">
      <a:spcBef>
        <a:spcPct val="30000"/>
      </a:spcBef>
      <a:spcAft>
        <a:spcPct val="0"/>
      </a:spcAft>
      <a:defRPr sz="1200" kern="1200">
        <a:solidFill>
          <a:schemeClr val="tx1"/>
        </a:solidFill>
        <a:latin typeface="Arial" pitchFamily="34" charset="0"/>
        <a:ea typeface="+mn-ea"/>
        <a:cs typeface="Arial" pitchFamily="34" charset="0"/>
      </a:defRPr>
    </a:lvl3pPr>
    <a:lvl4pPr marL="1371600" algn="l" rtl="0" fontAlgn="base">
      <a:spcBef>
        <a:spcPct val="30000"/>
      </a:spcBef>
      <a:spcAft>
        <a:spcPct val="0"/>
      </a:spcAft>
      <a:defRPr sz="1200" kern="1200">
        <a:solidFill>
          <a:schemeClr val="tx1"/>
        </a:solidFill>
        <a:latin typeface="Arial" pitchFamily="34" charset="0"/>
        <a:ea typeface="+mn-ea"/>
        <a:cs typeface="Arial" pitchFamily="34" charset="0"/>
      </a:defRPr>
    </a:lvl4pPr>
    <a:lvl5pPr marL="1828800" algn="l" rtl="0" fontAlgn="base">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a:p>
        </p:txBody>
      </p:sp>
      <p:sp>
        <p:nvSpPr>
          <p:cNvPr id="4" name="3 Marcador de número de diapositiva"/>
          <p:cNvSpPr>
            <a:spLocks noGrp="1"/>
          </p:cNvSpPr>
          <p:nvPr>
            <p:ph type="sldNum" sz="quarter" idx="10"/>
          </p:nvPr>
        </p:nvSpPr>
        <p:spPr/>
        <p:txBody>
          <a:bodyPr/>
          <a:lstStyle/>
          <a:p>
            <a:fld id="{9363109A-8CB5-43AC-B5FD-C2D84CF896AC}" type="slidenum">
              <a:rPr lang="en-US" smtClean="0"/>
              <a:pPr/>
              <a:t>28</a:t>
            </a:fld>
            <a:endParaRPr lang="en-US"/>
          </a:p>
        </p:txBody>
      </p:sp>
    </p:spTree>
    <p:extLst>
      <p:ext uri="{BB962C8B-B14F-4D97-AF65-F5344CB8AC3E}">
        <p14:creationId xmlns:p14="http://schemas.microsoft.com/office/powerpoint/2010/main" val="3838948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32770"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32771"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32772" name="Rectangle 4"/>
          <p:cNvSpPr>
            <a:spLocks noGrp="1" noChangeArrowheads="1"/>
          </p:cNvSpPr>
          <p:nvPr>
            <p:ph type="dt" sz="half" idx="2"/>
          </p:nvPr>
        </p:nvSpPr>
        <p:spPr/>
        <p:txBody>
          <a:bodyPr/>
          <a:lstStyle>
            <a:lvl1pPr>
              <a:defRPr/>
            </a:lvl1pPr>
          </a:lstStyle>
          <a:p>
            <a:endParaRPr lang="en-US" altLang="en-US"/>
          </a:p>
        </p:txBody>
      </p:sp>
      <p:sp>
        <p:nvSpPr>
          <p:cNvPr id="32773" name="Rectangle 5"/>
          <p:cNvSpPr>
            <a:spLocks noGrp="1" noChangeArrowheads="1"/>
          </p:cNvSpPr>
          <p:nvPr>
            <p:ph type="ftr" sz="quarter" idx="3"/>
          </p:nvPr>
        </p:nvSpPr>
        <p:spPr>
          <a:xfrm>
            <a:off x="3124200" y="6243638"/>
            <a:ext cx="2895600" cy="457200"/>
          </a:xfrm>
        </p:spPr>
        <p:txBody>
          <a:bodyPr/>
          <a:lstStyle>
            <a:lvl1pPr>
              <a:defRPr/>
            </a:lvl1pPr>
          </a:lstStyle>
          <a:p>
            <a:r>
              <a:rPr lang="en-US" altLang="en-US"/>
              <a:t>aaaaaaaaaaa</a:t>
            </a:r>
          </a:p>
        </p:txBody>
      </p:sp>
      <p:sp>
        <p:nvSpPr>
          <p:cNvPr id="32774" name="Rectangle 6"/>
          <p:cNvSpPr>
            <a:spLocks noGrp="1" noChangeArrowheads="1"/>
          </p:cNvSpPr>
          <p:nvPr>
            <p:ph type="sldNum" sz="quarter" idx="4"/>
          </p:nvPr>
        </p:nvSpPr>
        <p:spPr/>
        <p:txBody>
          <a:bodyPr/>
          <a:lstStyle>
            <a:lvl1pPr>
              <a:defRPr/>
            </a:lvl1pPr>
          </a:lstStyle>
          <a:p>
            <a:fld id="{E4B85DA4-1D62-4F6B-974A-891900480BF6}" type="slidenum">
              <a:rPr lang="en-US" altLang="en-US"/>
              <a:pPr/>
              <a:t>‹Nº›</a:t>
            </a:fld>
            <a:endParaRPr lang="en-US" altLang="en-US"/>
          </a:p>
        </p:txBody>
      </p:sp>
      <p:sp>
        <p:nvSpPr>
          <p:cNvPr id="32775"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endParaRPr lang="es-ES"/>
          </a:p>
        </p:txBody>
      </p:sp>
      <p:sp>
        <p:nvSpPr>
          <p:cNvPr id="32776"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lvl1pPr>
              <a:defRPr/>
            </a:lvl1pPr>
          </a:lstStyle>
          <a:p>
            <a:endParaRPr lang="en-US" altLang="en-US"/>
          </a:p>
        </p:txBody>
      </p:sp>
      <p:sp>
        <p:nvSpPr>
          <p:cNvPr id="5" name="4 Marcador de pie de página"/>
          <p:cNvSpPr>
            <a:spLocks noGrp="1"/>
          </p:cNvSpPr>
          <p:nvPr>
            <p:ph type="ftr" sz="quarter" idx="11"/>
          </p:nvPr>
        </p:nvSpPr>
        <p:spPr/>
        <p:txBody>
          <a:bodyPr/>
          <a:lstStyle>
            <a:lvl1pPr>
              <a:defRPr/>
            </a:lvl1pPr>
          </a:lstStyle>
          <a:p>
            <a:r>
              <a:rPr lang="en-US" altLang="en-US"/>
              <a:t>aaaaaaaaaaa</a:t>
            </a:r>
          </a:p>
        </p:txBody>
      </p:sp>
      <p:sp>
        <p:nvSpPr>
          <p:cNvPr id="6" name="5 Marcador de número de diapositiva"/>
          <p:cNvSpPr>
            <a:spLocks noGrp="1"/>
          </p:cNvSpPr>
          <p:nvPr>
            <p:ph type="sldNum" sz="quarter" idx="12"/>
          </p:nvPr>
        </p:nvSpPr>
        <p:spPr/>
        <p:txBody>
          <a:bodyPr/>
          <a:lstStyle>
            <a:lvl1pPr>
              <a:defRPr/>
            </a:lvl1pPr>
          </a:lstStyle>
          <a:p>
            <a:fld id="{2BC99F66-008B-4912-B721-8943319F59B7}" type="slidenum">
              <a:rPr lang="en-US" altLang="en-US"/>
              <a:pPr/>
              <a:t>‹Nº›</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lvl1pPr>
              <a:defRPr/>
            </a:lvl1pPr>
          </a:lstStyle>
          <a:p>
            <a:endParaRPr lang="en-US" altLang="en-US"/>
          </a:p>
        </p:txBody>
      </p:sp>
      <p:sp>
        <p:nvSpPr>
          <p:cNvPr id="5" name="4 Marcador de pie de página"/>
          <p:cNvSpPr>
            <a:spLocks noGrp="1"/>
          </p:cNvSpPr>
          <p:nvPr>
            <p:ph type="ftr" sz="quarter" idx="11"/>
          </p:nvPr>
        </p:nvSpPr>
        <p:spPr/>
        <p:txBody>
          <a:bodyPr/>
          <a:lstStyle>
            <a:lvl1pPr>
              <a:defRPr/>
            </a:lvl1pPr>
          </a:lstStyle>
          <a:p>
            <a:r>
              <a:rPr lang="en-US" altLang="en-US"/>
              <a:t>aaaaaaaaaaa</a:t>
            </a:r>
          </a:p>
        </p:txBody>
      </p:sp>
      <p:sp>
        <p:nvSpPr>
          <p:cNvPr id="6" name="5 Marcador de número de diapositiva"/>
          <p:cNvSpPr>
            <a:spLocks noGrp="1"/>
          </p:cNvSpPr>
          <p:nvPr>
            <p:ph type="sldNum" sz="quarter" idx="12"/>
          </p:nvPr>
        </p:nvSpPr>
        <p:spPr/>
        <p:txBody>
          <a:bodyPr/>
          <a:lstStyle>
            <a:lvl1pPr>
              <a:defRPr/>
            </a:lvl1pPr>
          </a:lstStyle>
          <a:p>
            <a:fld id="{73903BED-33A2-4DA8-A5E9-A08699BB5DF0}" type="slidenum">
              <a:rPr lang="en-US" altLang="en-US"/>
              <a:pPr/>
              <a:t>‹Nº›</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lvl1pPr>
              <a:defRPr/>
            </a:lvl1pPr>
          </a:lstStyle>
          <a:p>
            <a:endParaRPr lang="en-US" altLang="en-US"/>
          </a:p>
        </p:txBody>
      </p:sp>
      <p:sp>
        <p:nvSpPr>
          <p:cNvPr id="6" name="5 Marcador de pie de página"/>
          <p:cNvSpPr>
            <a:spLocks noGrp="1"/>
          </p:cNvSpPr>
          <p:nvPr>
            <p:ph type="ftr" sz="quarter" idx="11"/>
          </p:nvPr>
        </p:nvSpPr>
        <p:spPr/>
        <p:txBody>
          <a:bodyPr/>
          <a:lstStyle>
            <a:lvl1pPr>
              <a:defRPr/>
            </a:lvl1pPr>
          </a:lstStyle>
          <a:p>
            <a:r>
              <a:rPr lang="en-US" altLang="en-US"/>
              <a:t>aaaaaaaaaaa</a:t>
            </a:r>
          </a:p>
        </p:txBody>
      </p:sp>
      <p:sp>
        <p:nvSpPr>
          <p:cNvPr id="7" name="6 Marcador de número de diapositiva"/>
          <p:cNvSpPr>
            <a:spLocks noGrp="1"/>
          </p:cNvSpPr>
          <p:nvPr>
            <p:ph type="sldNum" sz="quarter" idx="12"/>
          </p:nvPr>
        </p:nvSpPr>
        <p:spPr/>
        <p:txBody>
          <a:bodyPr/>
          <a:lstStyle>
            <a:lvl1pPr>
              <a:defRPr/>
            </a:lvl1pPr>
          </a:lstStyle>
          <a:p>
            <a:fld id="{57A9CBE8-1702-4A3D-A655-09ADDFFC6780}" type="slidenum">
              <a:rPr lang="en-US" altLang="en-US"/>
              <a:pPr/>
              <a:t>‹Nº›</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lvl1pPr>
              <a:defRPr/>
            </a:lvl1pPr>
          </a:lstStyle>
          <a:p>
            <a:endParaRPr lang="en-US" altLang="en-US"/>
          </a:p>
        </p:txBody>
      </p:sp>
      <p:sp>
        <p:nvSpPr>
          <p:cNvPr id="8" name="7 Marcador de pie de página"/>
          <p:cNvSpPr>
            <a:spLocks noGrp="1"/>
          </p:cNvSpPr>
          <p:nvPr>
            <p:ph type="ftr" sz="quarter" idx="11"/>
          </p:nvPr>
        </p:nvSpPr>
        <p:spPr/>
        <p:txBody>
          <a:bodyPr/>
          <a:lstStyle>
            <a:lvl1pPr>
              <a:defRPr/>
            </a:lvl1pPr>
          </a:lstStyle>
          <a:p>
            <a:r>
              <a:rPr lang="en-US" altLang="en-US"/>
              <a:t>aaaaaaaaaaa</a:t>
            </a:r>
          </a:p>
        </p:txBody>
      </p:sp>
      <p:sp>
        <p:nvSpPr>
          <p:cNvPr id="9" name="8 Marcador de número de diapositiva"/>
          <p:cNvSpPr>
            <a:spLocks noGrp="1"/>
          </p:cNvSpPr>
          <p:nvPr>
            <p:ph type="sldNum" sz="quarter" idx="12"/>
          </p:nvPr>
        </p:nvSpPr>
        <p:spPr/>
        <p:txBody>
          <a:bodyPr/>
          <a:lstStyle>
            <a:lvl1pPr>
              <a:defRPr/>
            </a:lvl1pPr>
          </a:lstStyle>
          <a:p>
            <a:fld id="{2FB905A4-F31A-4C50-9CB0-EEBFE63820FA}" type="slidenum">
              <a:rPr lang="en-US" altLang="en-US"/>
              <a:pPr/>
              <a:t>‹Nº›</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7813"/>
            <a:ext cx="8229600" cy="484187"/>
          </a:xfrm>
        </p:spPr>
        <p:txBody>
          <a:bodyPr/>
          <a:lstStyle>
            <a:lvl1pPr>
              <a:defRPr sz="2400"/>
            </a:lvl1pPr>
          </a:lstStyle>
          <a:p>
            <a:r>
              <a:rPr lang="es-ES" dirty="0"/>
              <a:t>Haga clic para modificar el estilo de título del patrón</a:t>
            </a:r>
          </a:p>
        </p:txBody>
      </p:sp>
      <p:sp>
        <p:nvSpPr>
          <p:cNvPr id="9" name="8 Marcador de número de diapositiva"/>
          <p:cNvSpPr>
            <a:spLocks noGrp="1"/>
          </p:cNvSpPr>
          <p:nvPr>
            <p:ph type="sldNum" sz="quarter" idx="12"/>
          </p:nvPr>
        </p:nvSpPr>
        <p:spPr/>
        <p:txBody>
          <a:bodyPr/>
          <a:lstStyle/>
          <a:p>
            <a:fld id="{CA547DB1-849F-43E5-A840-F39FE04B29C2}" type="slidenum">
              <a:rPr lang="en-US" altLang="en-US" smtClean="0"/>
              <a:pPr/>
              <a:t>‹Nº›</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lvl1pPr>
          </a:lstStyle>
          <a:p>
            <a:endParaRPr lang="en-US" altLang="en-US"/>
          </a:p>
        </p:txBody>
      </p:sp>
      <p:sp>
        <p:nvSpPr>
          <p:cNvPr id="3" name="2 Marcador de pie de página"/>
          <p:cNvSpPr>
            <a:spLocks noGrp="1"/>
          </p:cNvSpPr>
          <p:nvPr>
            <p:ph type="ftr" sz="quarter" idx="11"/>
          </p:nvPr>
        </p:nvSpPr>
        <p:spPr/>
        <p:txBody>
          <a:bodyPr/>
          <a:lstStyle>
            <a:lvl1pPr>
              <a:defRPr/>
            </a:lvl1pPr>
          </a:lstStyle>
          <a:p>
            <a:r>
              <a:rPr lang="en-US" altLang="en-US"/>
              <a:t>aaaaaaaaaaa</a:t>
            </a:r>
          </a:p>
        </p:txBody>
      </p:sp>
      <p:sp>
        <p:nvSpPr>
          <p:cNvPr id="4" name="3 Marcador de número de diapositiva"/>
          <p:cNvSpPr>
            <a:spLocks noGrp="1"/>
          </p:cNvSpPr>
          <p:nvPr>
            <p:ph type="sldNum" sz="quarter" idx="12"/>
          </p:nvPr>
        </p:nvSpPr>
        <p:spPr/>
        <p:txBody>
          <a:bodyPr/>
          <a:lstStyle>
            <a:lvl1pPr>
              <a:defRPr/>
            </a:lvl1pPr>
          </a:lstStyle>
          <a:p>
            <a:fld id="{473CB002-C9BF-4513-8555-5F25C01DB3F6}" type="slidenum">
              <a:rPr lang="en-US" altLang="en-US"/>
              <a:pPr/>
              <a:t>‹Nº›</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lvl1pPr>
              <a:defRPr/>
            </a:lvl1pPr>
          </a:lstStyle>
          <a:p>
            <a:endParaRPr lang="en-US" altLang="en-US"/>
          </a:p>
        </p:txBody>
      </p:sp>
      <p:sp>
        <p:nvSpPr>
          <p:cNvPr id="6" name="5 Marcador de pie de página"/>
          <p:cNvSpPr>
            <a:spLocks noGrp="1"/>
          </p:cNvSpPr>
          <p:nvPr>
            <p:ph type="ftr" sz="quarter" idx="11"/>
          </p:nvPr>
        </p:nvSpPr>
        <p:spPr/>
        <p:txBody>
          <a:bodyPr/>
          <a:lstStyle>
            <a:lvl1pPr>
              <a:defRPr/>
            </a:lvl1pPr>
          </a:lstStyle>
          <a:p>
            <a:r>
              <a:rPr lang="en-US" altLang="en-US"/>
              <a:t>aaaaaaaaaaa</a:t>
            </a:r>
          </a:p>
        </p:txBody>
      </p:sp>
      <p:sp>
        <p:nvSpPr>
          <p:cNvPr id="7" name="6 Marcador de número de diapositiva"/>
          <p:cNvSpPr>
            <a:spLocks noGrp="1"/>
          </p:cNvSpPr>
          <p:nvPr>
            <p:ph type="sldNum" sz="quarter" idx="12"/>
          </p:nvPr>
        </p:nvSpPr>
        <p:spPr/>
        <p:txBody>
          <a:bodyPr/>
          <a:lstStyle>
            <a:lvl1pPr>
              <a:defRPr/>
            </a:lvl1pPr>
          </a:lstStyle>
          <a:p>
            <a:fld id="{188D477F-7A80-4FAA-BC21-A01BE5BD50E6}" type="slidenum">
              <a:rPr lang="en-US" altLang="en-US"/>
              <a:pPr/>
              <a:t>‹Nº›</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lvl1pPr>
              <a:defRPr/>
            </a:lvl1pPr>
          </a:lstStyle>
          <a:p>
            <a:endParaRPr lang="en-US" altLang="en-US"/>
          </a:p>
        </p:txBody>
      </p:sp>
      <p:sp>
        <p:nvSpPr>
          <p:cNvPr id="6" name="5 Marcador de pie de página"/>
          <p:cNvSpPr>
            <a:spLocks noGrp="1"/>
          </p:cNvSpPr>
          <p:nvPr>
            <p:ph type="ftr" sz="quarter" idx="11"/>
          </p:nvPr>
        </p:nvSpPr>
        <p:spPr/>
        <p:txBody>
          <a:bodyPr/>
          <a:lstStyle>
            <a:lvl1pPr>
              <a:defRPr/>
            </a:lvl1pPr>
          </a:lstStyle>
          <a:p>
            <a:r>
              <a:rPr lang="en-US" altLang="en-US"/>
              <a:t>aaaaaaaaaaa</a:t>
            </a:r>
          </a:p>
        </p:txBody>
      </p:sp>
      <p:sp>
        <p:nvSpPr>
          <p:cNvPr id="7" name="6 Marcador de número de diapositiva"/>
          <p:cNvSpPr>
            <a:spLocks noGrp="1"/>
          </p:cNvSpPr>
          <p:nvPr>
            <p:ph type="sldNum" sz="quarter" idx="12"/>
          </p:nvPr>
        </p:nvSpPr>
        <p:spPr/>
        <p:txBody>
          <a:bodyPr/>
          <a:lstStyle>
            <a:lvl1pPr>
              <a:defRPr/>
            </a:lvl1pPr>
          </a:lstStyle>
          <a:p>
            <a:fld id="{D903173D-5583-4CFA-A1F6-DF630D638D93}" type="slidenum">
              <a:rPr lang="en-US" altLang="en-US"/>
              <a:pPr/>
              <a:t>‹Nº›</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lvl1pPr>
              <a:defRPr/>
            </a:lvl1pPr>
          </a:lstStyle>
          <a:p>
            <a:endParaRPr lang="en-US" altLang="en-US"/>
          </a:p>
        </p:txBody>
      </p:sp>
      <p:sp>
        <p:nvSpPr>
          <p:cNvPr id="5" name="4 Marcador de pie de página"/>
          <p:cNvSpPr>
            <a:spLocks noGrp="1"/>
          </p:cNvSpPr>
          <p:nvPr>
            <p:ph type="ftr" sz="quarter" idx="11"/>
          </p:nvPr>
        </p:nvSpPr>
        <p:spPr/>
        <p:txBody>
          <a:bodyPr/>
          <a:lstStyle>
            <a:lvl1pPr>
              <a:defRPr/>
            </a:lvl1pPr>
          </a:lstStyle>
          <a:p>
            <a:r>
              <a:rPr lang="en-US" altLang="en-US"/>
              <a:t>aaaaaaaaaaa</a:t>
            </a:r>
          </a:p>
        </p:txBody>
      </p:sp>
      <p:sp>
        <p:nvSpPr>
          <p:cNvPr id="6" name="5 Marcador de número de diapositiva"/>
          <p:cNvSpPr>
            <a:spLocks noGrp="1"/>
          </p:cNvSpPr>
          <p:nvPr>
            <p:ph type="sldNum" sz="quarter" idx="12"/>
          </p:nvPr>
        </p:nvSpPr>
        <p:spPr/>
        <p:txBody>
          <a:bodyPr/>
          <a:lstStyle>
            <a:lvl1pPr>
              <a:defRPr/>
            </a:lvl1pPr>
          </a:lstStyle>
          <a:p>
            <a:fld id="{213F10D2-05C7-4229-AA64-0237E48081F5}" type="slidenum">
              <a:rPr lang="en-US" altLang="en-US"/>
              <a:pPr/>
              <a:t>‹Nº›</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7813"/>
            <a:ext cx="2057400" cy="5853112"/>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7813"/>
            <a:ext cx="6019800" cy="5853112"/>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lvl1pPr>
              <a:defRPr/>
            </a:lvl1pPr>
          </a:lstStyle>
          <a:p>
            <a:endParaRPr lang="en-US" altLang="en-US"/>
          </a:p>
        </p:txBody>
      </p:sp>
      <p:sp>
        <p:nvSpPr>
          <p:cNvPr id="5" name="4 Marcador de pie de página"/>
          <p:cNvSpPr>
            <a:spLocks noGrp="1"/>
          </p:cNvSpPr>
          <p:nvPr>
            <p:ph type="ftr" sz="quarter" idx="11"/>
          </p:nvPr>
        </p:nvSpPr>
        <p:spPr/>
        <p:txBody>
          <a:bodyPr/>
          <a:lstStyle>
            <a:lvl1pPr>
              <a:defRPr/>
            </a:lvl1pPr>
          </a:lstStyle>
          <a:p>
            <a:r>
              <a:rPr lang="en-US" altLang="en-US"/>
              <a:t>aaaaaaaaaaa</a:t>
            </a:r>
          </a:p>
        </p:txBody>
      </p:sp>
      <p:sp>
        <p:nvSpPr>
          <p:cNvPr id="6" name="5 Marcador de número de diapositiva"/>
          <p:cNvSpPr>
            <a:spLocks noGrp="1"/>
          </p:cNvSpPr>
          <p:nvPr>
            <p:ph type="sldNum" sz="quarter" idx="12"/>
          </p:nvPr>
        </p:nvSpPr>
        <p:spPr/>
        <p:txBody>
          <a:bodyPr/>
          <a:lstStyle>
            <a:lvl1pPr>
              <a:defRPr/>
            </a:lvl1pPr>
          </a:lstStyle>
          <a:p>
            <a:fld id="{136A8D33-FB07-433D-8054-67643F239BA8}" type="slidenum">
              <a:rPr lang="en-US" altLang="en-US"/>
              <a:pPr/>
              <a:t>‹Nº›</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3174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1748"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j-lt"/>
                <a:cs typeface="+mn-cs"/>
              </a:defRPr>
            </a:lvl1pPr>
          </a:lstStyle>
          <a:p>
            <a:endParaRPr lang="en-US" altLang="en-US"/>
          </a:p>
        </p:txBody>
      </p:sp>
      <p:sp>
        <p:nvSpPr>
          <p:cNvPr id="3174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j-lt"/>
                <a:cs typeface="+mn-cs"/>
              </a:defRPr>
            </a:lvl1pPr>
          </a:lstStyle>
          <a:p>
            <a:r>
              <a:rPr lang="en-US" altLang="en-US"/>
              <a:t>aaaaaaaaaaa</a:t>
            </a:r>
          </a:p>
        </p:txBody>
      </p:sp>
      <p:sp>
        <p:nvSpPr>
          <p:cNvPr id="31750"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j-lt"/>
                <a:cs typeface="+mn-cs"/>
              </a:defRPr>
            </a:lvl1pPr>
          </a:lstStyle>
          <a:p>
            <a:fld id="{CA547DB1-849F-43E5-A840-F39FE04B29C2}" type="slidenum">
              <a:rPr lang="en-US" altLang="en-US"/>
              <a:pPr/>
              <a:t>‹Nº›</a:t>
            </a:fld>
            <a:endParaRPr lang="en-US" altLang="en-US"/>
          </a:p>
        </p:txBody>
      </p:sp>
      <p:sp>
        <p:nvSpPr>
          <p:cNvPr id="31751"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endParaRPr lang="es-ES"/>
          </a:p>
        </p:txBody>
      </p:sp>
      <p:sp>
        <p:nvSpPr>
          <p:cNvPr id="3175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endParaRPr lang="es-E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rtl="0" fontAlgn="base">
        <a:spcBef>
          <a:spcPct val="0"/>
        </a:spcBef>
        <a:spcAft>
          <a:spcPct val="0"/>
        </a:spcAft>
        <a:defRPr sz="4200">
          <a:solidFill>
            <a:schemeClr val="tx2"/>
          </a:solidFill>
          <a:latin typeface="+mj-lt"/>
          <a:ea typeface="+mj-ea"/>
          <a:cs typeface="+mj-cs"/>
        </a:defRPr>
      </a:lvl1pPr>
      <a:lvl2pPr algn="l" rtl="0" fontAlgn="base">
        <a:spcBef>
          <a:spcPct val="0"/>
        </a:spcBef>
        <a:spcAft>
          <a:spcPct val="0"/>
        </a:spcAft>
        <a:defRPr sz="4200">
          <a:solidFill>
            <a:schemeClr val="tx2"/>
          </a:solidFill>
          <a:latin typeface="Garamond" pitchFamily="18" charset="0"/>
          <a:cs typeface="Arial" pitchFamily="34" charset="0"/>
        </a:defRPr>
      </a:lvl2pPr>
      <a:lvl3pPr algn="l" rtl="0" fontAlgn="base">
        <a:spcBef>
          <a:spcPct val="0"/>
        </a:spcBef>
        <a:spcAft>
          <a:spcPct val="0"/>
        </a:spcAft>
        <a:defRPr sz="4200">
          <a:solidFill>
            <a:schemeClr val="tx2"/>
          </a:solidFill>
          <a:latin typeface="Garamond" pitchFamily="18" charset="0"/>
          <a:cs typeface="Arial" pitchFamily="34" charset="0"/>
        </a:defRPr>
      </a:lvl3pPr>
      <a:lvl4pPr algn="l" rtl="0" fontAlgn="base">
        <a:spcBef>
          <a:spcPct val="0"/>
        </a:spcBef>
        <a:spcAft>
          <a:spcPct val="0"/>
        </a:spcAft>
        <a:defRPr sz="4200">
          <a:solidFill>
            <a:schemeClr val="tx2"/>
          </a:solidFill>
          <a:latin typeface="Garamond" pitchFamily="18" charset="0"/>
          <a:cs typeface="Arial" pitchFamily="34" charset="0"/>
        </a:defRPr>
      </a:lvl4pPr>
      <a:lvl5pPr algn="l" rtl="0" fontAlgn="base">
        <a:spcBef>
          <a:spcPct val="0"/>
        </a:spcBef>
        <a:spcAft>
          <a:spcPct val="0"/>
        </a:spcAft>
        <a:defRPr sz="4200">
          <a:solidFill>
            <a:schemeClr val="tx2"/>
          </a:solidFill>
          <a:latin typeface="Garamond" pitchFamily="18" charset="0"/>
          <a:cs typeface="Arial" pitchFamily="34" charset="0"/>
        </a:defRPr>
      </a:lvl5pPr>
      <a:lvl6pPr marL="457200" algn="l" rtl="0" fontAlgn="base">
        <a:spcBef>
          <a:spcPct val="0"/>
        </a:spcBef>
        <a:spcAft>
          <a:spcPct val="0"/>
        </a:spcAft>
        <a:defRPr sz="4200">
          <a:solidFill>
            <a:schemeClr val="tx2"/>
          </a:solidFill>
          <a:latin typeface="Garamond" pitchFamily="18" charset="0"/>
          <a:cs typeface="Arial" pitchFamily="34" charset="0"/>
        </a:defRPr>
      </a:lvl6pPr>
      <a:lvl7pPr marL="914400" algn="l" rtl="0" fontAlgn="base">
        <a:spcBef>
          <a:spcPct val="0"/>
        </a:spcBef>
        <a:spcAft>
          <a:spcPct val="0"/>
        </a:spcAft>
        <a:defRPr sz="4200">
          <a:solidFill>
            <a:schemeClr val="tx2"/>
          </a:solidFill>
          <a:latin typeface="Garamond" pitchFamily="18" charset="0"/>
          <a:cs typeface="Arial" pitchFamily="34" charset="0"/>
        </a:defRPr>
      </a:lvl7pPr>
      <a:lvl8pPr marL="1371600" algn="l" rtl="0" fontAlgn="base">
        <a:spcBef>
          <a:spcPct val="0"/>
        </a:spcBef>
        <a:spcAft>
          <a:spcPct val="0"/>
        </a:spcAft>
        <a:defRPr sz="4200">
          <a:solidFill>
            <a:schemeClr val="tx2"/>
          </a:solidFill>
          <a:latin typeface="Garamond" pitchFamily="18" charset="0"/>
          <a:cs typeface="Arial" pitchFamily="34" charset="0"/>
        </a:defRPr>
      </a:lvl8pPr>
      <a:lvl9pPr marL="1828800" algn="l" rtl="0" fontAlgn="base">
        <a:spcBef>
          <a:spcPct val="0"/>
        </a:spcBef>
        <a:spcAft>
          <a:spcPct val="0"/>
        </a:spcAft>
        <a:defRPr sz="4200">
          <a:solidFill>
            <a:schemeClr val="tx2"/>
          </a:solidFill>
          <a:latin typeface="Garamond" pitchFamily="18" charset="0"/>
          <a:cs typeface="Arial" pitchFamily="34" charset="0"/>
        </a:defRPr>
      </a:lvl9pPr>
    </p:titleStyle>
    <p:bodyStyle>
      <a:lvl1pPr marL="342900" indent="-342900" algn="l" rtl="0" fontAlgn="base">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fontAlgn="base">
        <a:spcBef>
          <a:spcPct val="20000"/>
        </a:spcBef>
        <a:spcAft>
          <a:spcPct val="0"/>
        </a:spcAft>
        <a:buClr>
          <a:schemeClr val="accent2"/>
        </a:buClr>
        <a:buSzPct val="60000"/>
        <a:buFont typeface="Wingdings" pitchFamily="2" charset="2"/>
        <a:buChar char="q"/>
        <a:defRPr sz="2600">
          <a:solidFill>
            <a:schemeClr val="tx1"/>
          </a:solidFill>
          <a:latin typeface="+mn-lt"/>
          <a:cs typeface="+mn-cs"/>
        </a:defRPr>
      </a:lvl2pPr>
      <a:lvl3pPr marL="1022350" indent="-350838" algn="l" rtl="0" fontAlgn="base">
        <a:spcBef>
          <a:spcPct val="20000"/>
        </a:spcBef>
        <a:spcAft>
          <a:spcPct val="0"/>
        </a:spcAft>
        <a:buClr>
          <a:schemeClr val="accent1"/>
        </a:buClr>
        <a:buSzPct val="65000"/>
        <a:buFont typeface="Wingdings" pitchFamily="2" charset="2"/>
        <a:buChar char="n"/>
        <a:defRPr sz="2200">
          <a:solidFill>
            <a:schemeClr val="tx1"/>
          </a:solidFill>
          <a:latin typeface="+mn-lt"/>
          <a:cs typeface="+mn-cs"/>
        </a:defRPr>
      </a:lvl3pPr>
      <a:lvl4pPr marL="1339850" indent="-315913" algn="l" rtl="0" fontAlgn="base">
        <a:spcBef>
          <a:spcPct val="20000"/>
        </a:spcBef>
        <a:spcAft>
          <a:spcPct val="0"/>
        </a:spcAft>
        <a:buClr>
          <a:schemeClr val="accent2"/>
        </a:buClr>
        <a:buSzPct val="70000"/>
        <a:buFont typeface="Wingdings" pitchFamily="2" charset="2"/>
        <a:buChar char="q"/>
        <a:defRPr sz="2000">
          <a:solidFill>
            <a:schemeClr val="tx1"/>
          </a:solidFill>
          <a:latin typeface="+mn-lt"/>
          <a:cs typeface="+mn-cs"/>
        </a:defRPr>
      </a:lvl4pPr>
      <a:lvl5pPr marL="16811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microsoft.com/office/2007/relationships/hdphoto" Target="../media/hdphoto3.wdp"/><Relationship Id="rId3" Type="http://schemas.openxmlformats.org/officeDocument/2006/relationships/image" Target="../media/image5.gif"/><Relationship Id="rId7" Type="http://schemas.openxmlformats.org/officeDocument/2006/relationships/image" Target="../media/image9.png"/><Relationship Id="rId12" Type="http://schemas.openxmlformats.org/officeDocument/2006/relationships/image" Target="../media/image12.png"/><Relationship Id="rId17" Type="http://schemas.microsoft.com/office/2007/relationships/hdphoto" Target="../media/hdphoto5.wdp"/><Relationship Id="rId2" Type="http://schemas.openxmlformats.org/officeDocument/2006/relationships/image" Target="../media/image4.png"/><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8.png"/><Relationship Id="rId11" Type="http://schemas.microsoft.com/office/2007/relationships/hdphoto" Target="../media/hdphoto2.wdp"/><Relationship Id="rId5" Type="http://schemas.openxmlformats.org/officeDocument/2006/relationships/image" Target="../media/image7.png"/><Relationship Id="rId15" Type="http://schemas.microsoft.com/office/2007/relationships/hdphoto" Target="../media/hdphoto4.wdp"/><Relationship Id="rId10" Type="http://schemas.openxmlformats.org/officeDocument/2006/relationships/image" Target="../media/image11.png"/><Relationship Id="rId4" Type="http://schemas.openxmlformats.org/officeDocument/2006/relationships/image" Target="../media/image6.png"/><Relationship Id="rId9" Type="http://schemas.microsoft.com/office/2007/relationships/hdphoto" Target="../media/hdphoto1.wdp"/><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gif"/><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jpg"/></Relationships>
</file>

<file path=ppt/slides/_rels/slide1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P28LKWTzrI" TargetMode="External"/><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32656" y="2012913"/>
            <a:ext cx="7963479" cy="1371600"/>
          </a:xfrm>
          <a:noFill/>
        </p:spPr>
        <p:txBody>
          <a:bodyPr/>
          <a:lstStyle/>
          <a:p>
            <a:pPr algn="ctr"/>
            <a:r>
              <a:rPr lang="es-ES" sz="3800" dirty="0">
                <a:latin typeface="Book Antiqua" pitchFamily="18" charset="0"/>
              </a:rPr>
              <a:t>Conceptos de Paralelización</a:t>
            </a:r>
            <a:endParaRPr lang="es-ES" sz="1400" dirty="0">
              <a:latin typeface="Book Antiqua" pitchFamily="18" charset="0"/>
            </a:endParaRPr>
          </a:p>
        </p:txBody>
      </p:sp>
      <p:sp>
        <p:nvSpPr>
          <p:cNvPr id="2051" name="Rectangle 3"/>
          <p:cNvSpPr>
            <a:spLocks noGrp="1" noChangeArrowheads="1"/>
          </p:cNvSpPr>
          <p:nvPr>
            <p:ph type="subTitle" idx="1"/>
          </p:nvPr>
        </p:nvSpPr>
        <p:spPr>
          <a:xfrm>
            <a:off x="1331640" y="4412704"/>
            <a:ext cx="6553200" cy="1752600"/>
          </a:xfrm>
        </p:spPr>
        <p:txBody>
          <a:bodyPr/>
          <a:lstStyle/>
          <a:p>
            <a:pPr lvl="0" algn="ctr">
              <a:lnSpc>
                <a:spcPct val="80000"/>
              </a:lnSpc>
              <a:spcBef>
                <a:spcPts val="600"/>
              </a:spcBef>
              <a:buClr>
                <a:srgbClr val="FE8637"/>
              </a:buClr>
              <a:buSzPct val="70000"/>
            </a:pPr>
            <a:r>
              <a:rPr kumimoji="0" lang="es-ES" sz="1600" b="1" i="0" u="sng" strike="noStrike" kern="1200" cap="none" spc="0" normalizeH="0" baseline="0" noProof="0" dirty="0">
                <a:ln>
                  <a:noFill/>
                </a:ln>
                <a:solidFill>
                  <a:srgbClr val="AC0000"/>
                </a:solidFill>
                <a:effectLst/>
                <a:uLnTx/>
                <a:uFillTx/>
                <a:latin typeface="Century Schoolbook"/>
                <a:ea typeface="+mn-ea"/>
                <a:cs typeface="+mn-cs"/>
              </a:rPr>
              <a:t>Javier Ramos</a:t>
            </a:r>
            <a:endParaRPr kumimoji="0" lang="es-ES" sz="1600" b="1" i="0" u="none" strike="noStrike" kern="1200" cap="none" spc="0" normalizeH="0" baseline="0" noProof="0" dirty="0">
              <a:ln>
                <a:noFill/>
              </a:ln>
              <a:solidFill>
                <a:srgbClr val="AC0000"/>
              </a:solidFill>
              <a:effectLst/>
              <a:uLnTx/>
              <a:uFillTx/>
              <a:latin typeface="Century Schoolbook"/>
              <a:ea typeface="+mn-ea"/>
              <a:cs typeface="+mn-cs"/>
            </a:endParaRPr>
          </a:p>
          <a:p>
            <a:pPr lvl="0" algn="ctr">
              <a:lnSpc>
                <a:spcPct val="80000"/>
              </a:lnSpc>
              <a:spcBef>
                <a:spcPts val="600"/>
              </a:spcBef>
              <a:buClr>
                <a:srgbClr val="FE8637"/>
              </a:buClr>
              <a:buSzPct val="70000"/>
            </a:pPr>
            <a:r>
              <a:rPr kumimoji="0" lang="es-ES" sz="1200" b="1" i="0" u="none" strike="noStrike" kern="1200" cap="none" spc="0" normalizeH="0" baseline="0" noProof="0" dirty="0" err="1">
                <a:ln>
                  <a:noFill/>
                </a:ln>
                <a:solidFill>
                  <a:srgbClr val="AC0000"/>
                </a:solidFill>
                <a:effectLst/>
                <a:uLnTx/>
                <a:uFillTx/>
                <a:latin typeface="Century Schoolbook"/>
                <a:ea typeface="+mn-ea"/>
                <a:cs typeface="+mn-cs"/>
              </a:rPr>
              <a:t>Biophysics</a:t>
            </a:r>
            <a:r>
              <a:rPr kumimoji="0" lang="es-ES" sz="1200" b="1" i="0" u="none" strike="noStrike" kern="1200" cap="none" spc="0" normalizeH="0" baseline="0" noProof="0" dirty="0">
                <a:ln>
                  <a:noFill/>
                </a:ln>
                <a:solidFill>
                  <a:srgbClr val="AC0000"/>
                </a:solidFill>
                <a:effectLst/>
                <a:uLnTx/>
                <a:uFillTx/>
                <a:latin typeface="Century Schoolbook"/>
                <a:ea typeface="+mn-ea"/>
                <a:cs typeface="+mn-cs"/>
              </a:rPr>
              <a:t> of Macromolecular Systems </a:t>
            </a:r>
            <a:r>
              <a:rPr kumimoji="0" lang="es-ES" sz="1200" b="1" i="0" u="none" strike="noStrike" kern="1200" cap="none" spc="0" normalizeH="0" baseline="0" noProof="0" dirty="0" err="1">
                <a:ln>
                  <a:noFill/>
                </a:ln>
                <a:solidFill>
                  <a:srgbClr val="AC0000"/>
                </a:solidFill>
                <a:effectLst/>
                <a:uLnTx/>
                <a:uFillTx/>
                <a:latin typeface="Century Schoolbook"/>
                <a:ea typeface="+mn-ea"/>
                <a:cs typeface="+mn-cs"/>
              </a:rPr>
              <a:t>group</a:t>
            </a:r>
            <a:r>
              <a:rPr kumimoji="0" lang="es-ES" sz="1200" b="1" i="0" u="none" strike="noStrike" kern="1200" cap="none" spc="0" normalizeH="0" baseline="0" noProof="0" dirty="0">
                <a:ln>
                  <a:noFill/>
                </a:ln>
                <a:solidFill>
                  <a:srgbClr val="AC0000"/>
                </a:solidFill>
                <a:effectLst/>
                <a:uLnTx/>
                <a:uFillTx/>
                <a:latin typeface="Century Schoolbook"/>
                <a:ea typeface="+mn-ea"/>
                <a:cs typeface="+mn-cs"/>
              </a:rPr>
              <a:t> </a:t>
            </a:r>
          </a:p>
          <a:p>
            <a:pPr lvl="0" algn="ctr">
              <a:lnSpc>
                <a:spcPct val="80000"/>
              </a:lnSpc>
              <a:spcBef>
                <a:spcPts val="600"/>
              </a:spcBef>
              <a:buClr>
                <a:srgbClr val="FE8637"/>
              </a:buClr>
              <a:buSzPct val="70000"/>
            </a:pPr>
            <a:r>
              <a:rPr kumimoji="0" lang="es-ES" sz="1200" b="1" i="0" u="none" strike="noStrike" kern="1200" cap="none" spc="0" normalizeH="0" baseline="0" noProof="0" dirty="0">
                <a:ln>
                  <a:noFill/>
                </a:ln>
                <a:solidFill>
                  <a:srgbClr val="AC0000"/>
                </a:solidFill>
                <a:effectLst/>
                <a:uLnTx/>
                <a:uFillTx/>
                <a:latin typeface="Century Schoolbook"/>
                <a:ea typeface="+mn-ea"/>
                <a:cs typeface="+mn-cs"/>
              </a:rPr>
              <a:t>(BIOPHYM)</a:t>
            </a:r>
          </a:p>
          <a:p>
            <a:pPr lvl="0" algn="ctr">
              <a:lnSpc>
                <a:spcPct val="80000"/>
              </a:lnSpc>
              <a:spcBef>
                <a:spcPts val="600"/>
              </a:spcBef>
              <a:buClr>
                <a:srgbClr val="FE8637"/>
              </a:buClr>
              <a:buSzPct val="70000"/>
            </a:pPr>
            <a:r>
              <a:rPr kumimoji="0" lang="es-ES" sz="1200" b="1" i="0" u="none" strike="noStrike" kern="1200" cap="none" spc="0" normalizeH="0" baseline="0" noProof="0" dirty="0">
                <a:ln>
                  <a:noFill/>
                </a:ln>
                <a:solidFill>
                  <a:srgbClr val="AC0000"/>
                </a:solidFill>
                <a:effectLst/>
                <a:uLnTx/>
                <a:uFillTx/>
                <a:latin typeface="Century Schoolbook"/>
                <a:ea typeface="+mn-ea"/>
                <a:cs typeface="+mn-cs"/>
              </a:rPr>
              <a:t>Macromolecular </a:t>
            </a:r>
            <a:r>
              <a:rPr kumimoji="0" lang="es-ES" sz="1200" b="1" i="0" u="none" strike="noStrike" kern="1200" cap="none" spc="0" normalizeH="0" baseline="0" noProof="0" dirty="0" err="1">
                <a:ln>
                  <a:noFill/>
                </a:ln>
                <a:solidFill>
                  <a:srgbClr val="AC0000"/>
                </a:solidFill>
                <a:effectLst/>
                <a:uLnTx/>
                <a:uFillTx/>
                <a:latin typeface="Century Schoolbook"/>
                <a:ea typeface="+mn-ea"/>
                <a:cs typeface="+mn-cs"/>
              </a:rPr>
              <a:t>Physic</a:t>
            </a:r>
            <a:r>
              <a:rPr lang="es-ES" sz="1200" b="1" kern="1200" dirty="0">
                <a:solidFill>
                  <a:srgbClr val="AC0000"/>
                </a:solidFill>
                <a:latin typeface="Century Schoolbook"/>
              </a:rPr>
              <a:t>s </a:t>
            </a:r>
            <a:r>
              <a:rPr lang="es-ES" sz="1200" b="1" kern="1200" dirty="0" err="1">
                <a:solidFill>
                  <a:srgbClr val="AC0000"/>
                </a:solidFill>
                <a:latin typeface="Century Schoolbook"/>
              </a:rPr>
              <a:t>Department</a:t>
            </a:r>
            <a:endParaRPr kumimoji="0" lang="es-ES" sz="1200" b="1" i="0" u="none" strike="noStrike" kern="1200" cap="none" spc="0" normalizeH="0" baseline="0" noProof="0" dirty="0">
              <a:ln>
                <a:noFill/>
              </a:ln>
              <a:solidFill>
                <a:srgbClr val="AC0000"/>
              </a:solidFill>
              <a:effectLst/>
              <a:uLnTx/>
              <a:uFillTx/>
              <a:latin typeface="Century Schoolbook"/>
              <a:ea typeface="+mn-ea"/>
              <a:cs typeface="+mn-cs"/>
            </a:endParaRPr>
          </a:p>
          <a:p>
            <a:pPr lvl="0" algn="ctr">
              <a:lnSpc>
                <a:spcPct val="80000"/>
              </a:lnSpc>
              <a:spcBef>
                <a:spcPts val="600"/>
              </a:spcBef>
              <a:buClr>
                <a:srgbClr val="FE8637"/>
              </a:buClr>
              <a:buSzPct val="70000"/>
            </a:pPr>
            <a:r>
              <a:rPr kumimoji="0" lang="es-ES" sz="1200" b="1" i="0" u="none" strike="noStrike" kern="1200" cap="none" spc="0" normalizeH="0" baseline="0" noProof="0" dirty="0">
                <a:ln>
                  <a:noFill/>
                </a:ln>
                <a:solidFill>
                  <a:srgbClr val="AC0000"/>
                </a:solidFill>
                <a:effectLst/>
                <a:uLnTx/>
                <a:uFillTx/>
                <a:latin typeface="Century Schoolbook"/>
                <a:ea typeface="+mn-ea"/>
                <a:cs typeface="+mn-cs"/>
              </a:rPr>
              <a:t>Instituto de Estructura de la Materia – CSIC</a:t>
            </a:r>
          </a:p>
          <a:p>
            <a:pPr lvl="0" algn="ctr">
              <a:lnSpc>
                <a:spcPct val="80000"/>
              </a:lnSpc>
              <a:spcBef>
                <a:spcPts val="600"/>
              </a:spcBef>
              <a:buClr>
                <a:srgbClr val="FE8637"/>
              </a:buClr>
              <a:buSzPct val="70000"/>
            </a:pPr>
            <a:r>
              <a:rPr kumimoji="0" lang="es-ES" sz="1200" b="1" i="0" u="none" strike="noStrike" kern="1200" cap="none" spc="0" normalizeH="0" baseline="0" noProof="0" dirty="0">
                <a:ln>
                  <a:noFill/>
                </a:ln>
                <a:solidFill>
                  <a:srgbClr val="575F6D"/>
                </a:solidFill>
                <a:effectLst/>
                <a:uLnTx/>
                <a:uFillTx/>
                <a:latin typeface="Century Schoolbook"/>
                <a:ea typeface="+mn-ea"/>
                <a:cs typeface="+mn-cs"/>
              </a:rPr>
              <a:t>j.ramos@csic.es</a:t>
            </a:r>
          </a:p>
          <a:p>
            <a:endParaRPr lang="en-US" sz="1800" dirty="0">
              <a:latin typeface="Book Antiqua" pitchFamily="18" charset="0"/>
            </a:endParaRPr>
          </a:p>
          <a:p>
            <a:endParaRPr lang="en-US" sz="1800" dirty="0">
              <a:latin typeface="Book Antiqua" pitchFamily="18" charset="0"/>
            </a:endParaRPr>
          </a:p>
        </p:txBody>
      </p:sp>
      <p:sp>
        <p:nvSpPr>
          <p:cNvPr id="2" name="1 Marcador de número de diapositiva"/>
          <p:cNvSpPr>
            <a:spLocks noGrp="1"/>
          </p:cNvSpPr>
          <p:nvPr>
            <p:ph type="sldNum" sz="quarter" idx="4"/>
          </p:nvPr>
        </p:nvSpPr>
        <p:spPr/>
        <p:txBody>
          <a:bodyPr/>
          <a:lstStyle/>
          <a:p>
            <a:fld id="{E4B85DA4-1D62-4F6B-974A-891900480BF6}" type="slidenum">
              <a:rPr lang="en-US" altLang="en-US" smtClean="0"/>
              <a:pPr/>
              <a:t>1</a:t>
            </a:fld>
            <a:endParaRPr lang="en-US" altLang="en-US"/>
          </a:p>
        </p:txBody>
      </p:sp>
      <p:sp>
        <p:nvSpPr>
          <p:cNvPr id="4" name="Rectangle 2"/>
          <p:cNvSpPr txBox="1">
            <a:spLocks noChangeArrowheads="1"/>
          </p:cNvSpPr>
          <p:nvPr/>
        </p:nvSpPr>
        <p:spPr bwMode="auto">
          <a:xfrm>
            <a:off x="732656" y="6266207"/>
            <a:ext cx="7623175" cy="34346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sz="5000">
                <a:solidFill>
                  <a:schemeClr val="tx2"/>
                </a:solidFill>
                <a:latin typeface="+mj-lt"/>
                <a:ea typeface="+mj-ea"/>
                <a:cs typeface="+mj-cs"/>
              </a:defRPr>
            </a:lvl1pPr>
            <a:lvl2pPr algn="l" rtl="0" fontAlgn="base">
              <a:spcBef>
                <a:spcPct val="0"/>
              </a:spcBef>
              <a:spcAft>
                <a:spcPct val="0"/>
              </a:spcAft>
              <a:defRPr sz="4200">
                <a:solidFill>
                  <a:schemeClr val="tx2"/>
                </a:solidFill>
                <a:latin typeface="Garamond" pitchFamily="18" charset="0"/>
                <a:cs typeface="Arial" pitchFamily="34" charset="0"/>
              </a:defRPr>
            </a:lvl2pPr>
            <a:lvl3pPr algn="l" rtl="0" fontAlgn="base">
              <a:spcBef>
                <a:spcPct val="0"/>
              </a:spcBef>
              <a:spcAft>
                <a:spcPct val="0"/>
              </a:spcAft>
              <a:defRPr sz="4200">
                <a:solidFill>
                  <a:schemeClr val="tx2"/>
                </a:solidFill>
                <a:latin typeface="Garamond" pitchFamily="18" charset="0"/>
                <a:cs typeface="Arial" pitchFamily="34" charset="0"/>
              </a:defRPr>
            </a:lvl3pPr>
            <a:lvl4pPr algn="l" rtl="0" fontAlgn="base">
              <a:spcBef>
                <a:spcPct val="0"/>
              </a:spcBef>
              <a:spcAft>
                <a:spcPct val="0"/>
              </a:spcAft>
              <a:defRPr sz="4200">
                <a:solidFill>
                  <a:schemeClr val="tx2"/>
                </a:solidFill>
                <a:latin typeface="Garamond" pitchFamily="18" charset="0"/>
                <a:cs typeface="Arial" pitchFamily="34" charset="0"/>
              </a:defRPr>
            </a:lvl4pPr>
            <a:lvl5pPr algn="l" rtl="0" fontAlgn="base">
              <a:spcBef>
                <a:spcPct val="0"/>
              </a:spcBef>
              <a:spcAft>
                <a:spcPct val="0"/>
              </a:spcAft>
              <a:defRPr sz="4200">
                <a:solidFill>
                  <a:schemeClr val="tx2"/>
                </a:solidFill>
                <a:latin typeface="Garamond" pitchFamily="18" charset="0"/>
                <a:cs typeface="Arial" pitchFamily="34" charset="0"/>
              </a:defRPr>
            </a:lvl5pPr>
            <a:lvl6pPr marL="457200" algn="l" rtl="0" fontAlgn="base">
              <a:spcBef>
                <a:spcPct val="0"/>
              </a:spcBef>
              <a:spcAft>
                <a:spcPct val="0"/>
              </a:spcAft>
              <a:defRPr sz="4200">
                <a:solidFill>
                  <a:schemeClr val="tx2"/>
                </a:solidFill>
                <a:latin typeface="Garamond" pitchFamily="18" charset="0"/>
                <a:cs typeface="Arial" pitchFamily="34" charset="0"/>
              </a:defRPr>
            </a:lvl6pPr>
            <a:lvl7pPr marL="914400" algn="l" rtl="0" fontAlgn="base">
              <a:spcBef>
                <a:spcPct val="0"/>
              </a:spcBef>
              <a:spcAft>
                <a:spcPct val="0"/>
              </a:spcAft>
              <a:defRPr sz="4200">
                <a:solidFill>
                  <a:schemeClr val="tx2"/>
                </a:solidFill>
                <a:latin typeface="Garamond" pitchFamily="18" charset="0"/>
                <a:cs typeface="Arial" pitchFamily="34" charset="0"/>
              </a:defRPr>
            </a:lvl7pPr>
            <a:lvl8pPr marL="1371600" algn="l" rtl="0" fontAlgn="base">
              <a:spcBef>
                <a:spcPct val="0"/>
              </a:spcBef>
              <a:spcAft>
                <a:spcPct val="0"/>
              </a:spcAft>
              <a:defRPr sz="4200">
                <a:solidFill>
                  <a:schemeClr val="tx2"/>
                </a:solidFill>
                <a:latin typeface="Garamond" pitchFamily="18" charset="0"/>
                <a:cs typeface="Arial" pitchFamily="34" charset="0"/>
              </a:defRPr>
            </a:lvl8pPr>
            <a:lvl9pPr marL="1828800" algn="l" rtl="0" fontAlgn="base">
              <a:spcBef>
                <a:spcPct val="0"/>
              </a:spcBef>
              <a:spcAft>
                <a:spcPct val="0"/>
              </a:spcAft>
              <a:defRPr sz="4200">
                <a:solidFill>
                  <a:schemeClr val="tx2"/>
                </a:solidFill>
                <a:latin typeface="Garamond" pitchFamily="18" charset="0"/>
                <a:cs typeface="Arial" pitchFamily="34" charset="0"/>
              </a:defRPr>
            </a:lvl9pPr>
          </a:lstStyle>
          <a:p>
            <a:pPr algn="ctr"/>
            <a:r>
              <a:rPr lang="en-AU" sz="1400" kern="0" dirty="0">
                <a:latin typeface="Book Antiqua" pitchFamily="18" charset="0"/>
              </a:rPr>
              <a:t>Lunes-Viernes 2-6  </a:t>
            </a:r>
            <a:r>
              <a:rPr lang="en-AU" sz="1400" kern="0" dirty="0" err="1">
                <a:latin typeface="Book Antiqua" pitchFamily="18" charset="0"/>
              </a:rPr>
              <a:t>Octubre</a:t>
            </a:r>
            <a:r>
              <a:rPr lang="en-AU" sz="1400" kern="0" dirty="0">
                <a:latin typeface="Book Antiqua" pitchFamily="18" charset="0"/>
              </a:rPr>
              <a:t> 2023 – </a:t>
            </a:r>
            <a:r>
              <a:rPr lang="en-AU" sz="1400" kern="0" dirty="0" err="1">
                <a:latin typeface="Book Antiqua" pitchFamily="18" charset="0"/>
              </a:rPr>
              <a:t>Gabinete</a:t>
            </a:r>
            <a:r>
              <a:rPr lang="en-AU" sz="1400" kern="0" dirty="0">
                <a:latin typeface="Book Antiqua" pitchFamily="18" charset="0"/>
              </a:rPr>
              <a:t> </a:t>
            </a:r>
            <a:r>
              <a:rPr lang="en-AU" sz="1400" kern="0" dirty="0" err="1">
                <a:latin typeface="Book Antiqua" pitchFamily="18" charset="0"/>
              </a:rPr>
              <a:t>Formación</a:t>
            </a:r>
            <a:r>
              <a:rPr lang="en-AU" sz="1400" kern="0" dirty="0">
                <a:latin typeface="Book Antiqua" pitchFamily="18" charset="0"/>
              </a:rPr>
              <a:t> CSIC</a:t>
            </a:r>
          </a:p>
        </p:txBody>
      </p:sp>
      <p:sp>
        <p:nvSpPr>
          <p:cNvPr id="6" name="Title 1"/>
          <p:cNvSpPr txBox="1">
            <a:spLocks/>
          </p:cNvSpPr>
          <p:nvPr/>
        </p:nvSpPr>
        <p:spPr>
          <a:xfrm>
            <a:off x="495300" y="533947"/>
            <a:ext cx="8153400" cy="413929"/>
          </a:xfrm>
          <a:prstGeom prst="rect">
            <a:avLst/>
          </a:prstGeom>
        </p:spPr>
        <p:txBody>
          <a:bodyPr anchor="b"/>
          <a:lstStyle/>
          <a:p>
            <a:pPr algn="ctr" fontAlgn="auto">
              <a:spcAft>
                <a:spcPts val="0"/>
              </a:spcAft>
              <a:defRPr/>
            </a:pPr>
            <a:r>
              <a:rPr lang="es-ES" b="1" cap="small" dirty="0">
                <a:solidFill>
                  <a:schemeClr val="accent5">
                    <a:lumMod val="50000"/>
                  </a:schemeClr>
                </a:solidFill>
                <a:latin typeface="Book Antiqua" pitchFamily="18" charset="0"/>
              </a:rPr>
              <a:t>Curso: Optimización de aplicaciones computacionales orientadas a la investigación</a:t>
            </a:r>
          </a:p>
        </p:txBody>
      </p:sp>
      <p:grpSp>
        <p:nvGrpSpPr>
          <p:cNvPr id="9" name="Grupo 8">
            <a:extLst>
              <a:ext uri="{FF2B5EF4-FFF2-40B4-BE49-F238E27FC236}">
                <a16:creationId xmlns:a16="http://schemas.microsoft.com/office/drawing/2014/main" id="{0EE01ABE-6771-4ABD-99B5-7FF1D758D274}"/>
              </a:ext>
            </a:extLst>
          </p:cNvPr>
          <p:cNvGrpSpPr/>
          <p:nvPr/>
        </p:nvGrpSpPr>
        <p:grpSpPr>
          <a:xfrm>
            <a:off x="6842276" y="4659101"/>
            <a:ext cx="2165048" cy="1403162"/>
            <a:chOff x="467543" y="4613559"/>
            <a:chExt cx="2165048" cy="1403162"/>
          </a:xfrm>
        </p:grpSpPr>
        <p:pic>
          <p:nvPicPr>
            <p:cNvPr id="5" name="Imagen 4">
              <a:extLst>
                <a:ext uri="{FF2B5EF4-FFF2-40B4-BE49-F238E27FC236}">
                  <a16:creationId xmlns:a16="http://schemas.microsoft.com/office/drawing/2014/main" id="{50B55610-C07E-4CB8-818C-01517679A6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543" y="4863045"/>
              <a:ext cx="2165048" cy="1153676"/>
            </a:xfrm>
            <a:prstGeom prst="rect">
              <a:avLst/>
            </a:prstGeom>
          </p:spPr>
        </p:pic>
        <p:pic>
          <p:nvPicPr>
            <p:cNvPr id="8" name="Imagen 7">
              <a:extLst>
                <a:ext uri="{FF2B5EF4-FFF2-40B4-BE49-F238E27FC236}">
                  <a16:creationId xmlns:a16="http://schemas.microsoft.com/office/drawing/2014/main" id="{CE668CFB-C631-4D7C-AD0E-522BE6B857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817" y="4613559"/>
              <a:ext cx="952500" cy="476250"/>
            </a:xfrm>
            <a:prstGeom prst="rect">
              <a:avLst/>
            </a:prstGeom>
          </p:spPr>
        </p:pic>
      </p:grpSp>
      <p:pic>
        <p:nvPicPr>
          <p:cNvPr id="11" name="Imagen 10">
            <a:extLst>
              <a:ext uri="{FF2B5EF4-FFF2-40B4-BE49-F238E27FC236}">
                <a16:creationId xmlns:a16="http://schemas.microsoft.com/office/drawing/2014/main" id="{32C27DDD-2562-4992-AABC-FB11929209C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5172" t="8631" r="26375" b="8840"/>
          <a:stretch/>
        </p:blipFill>
        <p:spPr>
          <a:xfrm>
            <a:off x="467543" y="4449550"/>
            <a:ext cx="1315259" cy="13716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7308022-3D1C-41FF-952D-77A40B575EF4}"/>
              </a:ext>
            </a:extLst>
          </p:cNvPr>
          <p:cNvSpPr>
            <a:spLocks noGrp="1"/>
          </p:cNvSpPr>
          <p:nvPr>
            <p:ph type="sldNum" sz="quarter" idx="12"/>
          </p:nvPr>
        </p:nvSpPr>
        <p:spPr/>
        <p:txBody>
          <a:bodyPr/>
          <a:lstStyle/>
          <a:p>
            <a:fld id="{2BC99F66-008B-4912-B721-8943319F59B7}" type="slidenum">
              <a:rPr lang="en-US" altLang="en-US" smtClean="0"/>
              <a:pPr/>
              <a:t>2</a:t>
            </a:fld>
            <a:endParaRPr lang="en-US" altLang="en-US"/>
          </a:p>
        </p:txBody>
      </p:sp>
      <p:sp>
        <p:nvSpPr>
          <p:cNvPr id="5" name="CuadroTexto 4">
            <a:extLst>
              <a:ext uri="{FF2B5EF4-FFF2-40B4-BE49-F238E27FC236}">
                <a16:creationId xmlns:a16="http://schemas.microsoft.com/office/drawing/2014/main" id="{61AA7F8C-4C37-4D8D-91F8-CC98D8110897}"/>
              </a:ext>
            </a:extLst>
          </p:cNvPr>
          <p:cNvSpPr txBox="1"/>
          <p:nvPr/>
        </p:nvSpPr>
        <p:spPr>
          <a:xfrm>
            <a:off x="683568" y="836712"/>
            <a:ext cx="7355160" cy="923330"/>
          </a:xfrm>
          <a:prstGeom prst="rect">
            <a:avLst/>
          </a:prstGeom>
          <a:noFill/>
        </p:spPr>
        <p:txBody>
          <a:bodyPr wrap="square" rtlCol="0">
            <a:spAutoFit/>
          </a:bodyPr>
          <a:lstStyle/>
          <a:p>
            <a:pPr marL="285750" indent="-285750" algn="just">
              <a:buFont typeface="Arial" panose="020B0604020202020204" pitchFamily="34" charset="0"/>
              <a:buChar char="•"/>
            </a:pPr>
            <a:r>
              <a:rPr lang="es-ES" dirty="0"/>
              <a:t>La programación en paralelo es el proceso de descomponer un problema en tareas mas pequeñas que se pueden ejecutar al mismo tiempo usando múltiples recursos computacionales.</a:t>
            </a:r>
          </a:p>
        </p:txBody>
      </p:sp>
      <p:sp>
        <p:nvSpPr>
          <p:cNvPr id="20" name="CuadroTexto 19">
            <a:extLst>
              <a:ext uri="{FF2B5EF4-FFF2-40B4-BE49-F238E27FC236}">
                <a16:creationId xmlns:a16="http://schemas.microsoft.com/office/drawing/2014/main" id="{A2159DAC-7971-4867-805C-8E5F06D55A9A}"/>
              </a:ext>
            </a:extLst>
          </p:cNvPr>
          <p:cNvSpPr txBox="1"/>
          <p:nvPr/>
        </p:nvSpPr>
        <p:spPr>
          <a:xfrm>
            <a:off x="683568" y="1990603"/>
            <a:ext cx="7355160" cy="923330"/>
          </a:xfrm>
          <a:prstGeom prst="rect">
            <a:avLst/>
          </a:prstGeom>
          <a:noFill/>
        </p:spPr>
        <p:txBody>
          <a:bodyPr wrap="square" rtlCol="0">
            <a:spAutoFit/>
          </a:bodyPr>
          <a:lstStyle/>
          <a:p>
            <a:pPr marL="285750" indent="-285750" algn="just">
              <a:buFont typeface="Arial" panose="020B0604020202020204" pitchFamily="34" charset="0"/>
              <a:buChar char="•"/>
            </a:pPr>
            <a:r>
              <a:rPr lang="es-ES" dirty="0"/>
              <a:t>La programación en paralelo es un concepto que describe que mucho tipos de procesos que se ejecutan de forma simultanea sobre e la misma maquina o en diferentes maquinas.  </a:t>
            </a:r>
          </a:p>
        </p:txBody>
      </p:sp>
      <p:sp>
        <p:nvSpPr>
          <p:cNvPr id="7" name="CuadroTexto 6">
            <a:extLst>
              <a:ext uri="{FF2B5EF4-FFF2-40B4-BE49-F238E27FC236}">
                <a16:creationId xmlns:a16="http://schemas.microsoft.com/office/drawing/2014/main" id="{92B314FC-5051-44A0-94DF-E1B802329037}"/>
              </a:ext>
            </a:extLst>
          </p:cNvPr>
          <p:cNvSpPr txBox="1"/>
          <p:nvPr/>
        </p:nvSpPr>
        <p:spPr>
          <a:xfrm>
            <a:off x="663320" y="3111129"/>
            <a:ext cx="6984776" cy="369332"/>
          </a:xfrm>
          <a:prstGeom prst="rect">
            <a:avLst/>
          </a:prstGeom>
          <a:noFill/>
        </p:spPr>
        <p:txBody>
          <a:bodyPr wrap="square" rtlCol="0">
            <a:spAutoFit/>
          </a:bodyPr>
          <a:lstStyle/>
          <a:p>
            <a:r>
              <a:rPr lang="es-ES" b="1" dirty="0"/>
              <a:t>¿Por qué paralelizamos?</a:t>
            </a:r>
          </a:p>
        </p:txBody>
      </p:sp>
      <p:sp>
        <p:nvSpPr>
          <p:cNvPr id="8" name="CuadroTexto 7">
            <a:extLst>
              <a:ext uri="{FF2B5EF4-FFF2-40B4-BE49-F238E27FC236}">
                <a16:creationId xmlns:a16="http://schemas.microsoft.com/office/drawing/2014/main" id="{8953D103-79F5-457E-8C5B-16408D6DCB3E}"/>
              </a:ext>
            </a:extLst>
          </p:cNvPr>
          <p:cNvSpPr txBox="1"/>
          <p:nvPr/>
        </p:nvSpPr>
        <p:spPr>
          <a:xfrm>
            <a:off x="755576" y="3729806"/>
            <a:ext cx="7355160" cy="646331"/>
          </a:xfrm>
          <a:prstGeom prst="rect">
            <a:avLst/>
          </a:prstGeom>
          <a:noFill/>
        </p:spPr>
        <p:txBody>
          <a:bodyPr wrap="square" rtlCol="0">
            <a:spAutoFit/>
          </a:bodyPr>
          <a:lstStyle/>
          <a:p>
            <a:pPr marL="285750" indent="-285750" algn="just">
              <a:buFont typeface="Arial" panose="020B0604020202020204" pitchFamily="34" charset="0"/>
              <a:buChar char="•"/>
            </a:pPr>
            <a:r>
              <a:rPr lang="es-ES" dirty="0"/>
              <a:t>Queremos resolver problemas de forma más rápida, pero la velocidad de una sola CPU se “satura”.  </a:t>
            </a:r>
          </a:p>
        </p:txBody>
      </p:sp>
      <p:sp>
        <p:nvSpPr>
          <p:cNvPr id="9" name="CuadroTexto 8">
            <a:extLst>
              <a:ext uri="{FF2B5EF4-FFF2-40B4-BE49-F238E27FC236}">
                <a16:creationId xmlns:a16="http://schemas.microsoft.com/office/drawing/2014/main" id="{10B491CE-54BC-4BA1-8AD6-546D3DEDE6D4}"/>
              </a:ext>
            </a:extLst>
          </p:cNvPr>
          <p:cNvSpPr txBox="1"/>
          <p:nvPr/>
        </p:nvSpPr>
        <p:spPr>
          <a:xfrm>
            <a:off x="755576" y="4643844"/>
            <a:ext cx="7355160" cy="646331"/>
          </a:xfrm>
          <a:prstGeom prst="rect">
            <a:avLst/>
          </a:prstGeom>
          <a:noFill/>
        </p:spPr>
        <p:txBody>
          <a:bodyPr wrap="square" rtlCol="0">
            <a:spAutoFit/>
          </a:bodyPr>
          <a:lstStyle/>
          <a:p>
            <a:pPr marL="285750" indent="-285750" algn="just">
              <a:buFont typeface="Arial" panose="020B0604020202020204" pitchFamily="34" charset="0"/>
              <a:buChar char="•"/>
            </a:pPr>
            <a:r>
              <a:rPr lang="es-ES" dirty="0"/>
              <a:t>Queremos resolver problemas más grandes, pero lo cantidad de memoria en un solo sistema no es suficientemente grande.  </a:t>
            </a:r>
          </a:p>
        </p:txBody>
      </p:sp>
    </p:spTree>
    <p:extLst>
      <p:ext uri="{BB962C8B-B14F-4D97-AF65-F5344CB8AC3E}">
        <p14:creationId xmlns:p14="http://schemas.microsoft.com/office/powerpoint/2010/main" val="364647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82FA06C-FB78-44D7-BDBF-28A5556B9CEE}"/>
              </a:ext>
            </a:extLst>
          </p:cNvPr>
          <p:cNvSpPr>
            <a:spLocks noGrp="1"/>
          </p:cNvSpPr>
          <p:nvPr>
            <p:ph type="sldNum" sz="quarter" idx="12"/>
          </p:nvPr>
        </p:nvSpPr>
        <p:spPr/>
        <p:txBody>
          <a:bodyPr/>
          <a:lstStyle/>
          <a:p>
            <a:fld id="{2BC99F66-008B-4912-B721-8943319F59B7}" type="slidenum">
              <a:rPr lang="en-US" altLang="en-US" smtClean="0"/>
              <a:pPr/>
              <a:t>3</a:t>
            </a:fld>
            <a:endParaRPr lang="en-US" altLang="en-US"/>
          </a:p>
        </p:txBody>
      </p:sp>
      <p:grpSp>
        <p:nvGrpSpPr>
          <p:cNvPr id="3" name="Grupo 2">
            <a:extLst>
              <a:ext uri="{FF2B5EF4-FFF2-40B4-BE49-F238E27FC236}">
                <a16:creationId xmlns:a16="http://schemas.microsoft.com/office/drawing/2014/main" id="{C18D3988-852B-4383-A8CD-420B847B1CD9}"/>
              </a:ext>
            </a:extLst>
          </p:cNvPr>
          <p:cNvGrpSpPr/>
          <p:nvPr/>
        </p:nvGrpSpPr>
        <p:grpSpPr>
          <a:xfrm>
            <a:off x="107504" y="1429736"/>
            <a:ext cx="2678609" cy="2198598"/>
            <a:chOff x="107504" y="1429736"/>
            <a:chExt cx="2678609" cy="2198598"/>
          </a:xfrm>
        </p:grpSpPr>
        <p:pic>
          <p:nvPicPr>
            <p:cNvPr id="5" name="Imagen 4">
              <a:extLst>
                <a:ext uri="{FF2B5EF4-FFF2-40B4-BE49-F238E27FC236}">
                  <a16:creationId xmlns:a16="http://schemas.microsoft.com/office/drawing/2014/main" id="{BD3EC409-F4F5-44B1-8203-CCD49EDD007C}"/>
                </a:ext>
              </a:extLst>
            </p:cNvPr>
            <p:cNvPicPr>
              <a:picLocks noChangeAspect="1"/>
            </p:cNvPicPr>
            <p:nvPr/>
          </p:nvPicPr>
          <p:blipFill>
            <a:blip r:embed="rId2"/>
            <a:stretch>
              <a:fillRect/>
            </a:stretch>
          </p:blipFill>
          <p:spPr>
            <a:xfrm>
              <a:off x="107504" y="1429736"/>
              <a:ext cx="2678609" cy="1757617"/>
            </a:xfrm>
            <a:prstGeom prst="rect">
              <a:avLst/>
            </a:prstGeom>
          </p:spPr>
        </p:pic>
        <p:sp>
          <p:nvSpPr>
            <p:cNvPr id="15" name="CuadroTexto 14">
              <a:extLst>
                <a:ext uri="{FF2B5EF4-FFF2-40B4-BE49-F238E27FC236}">
                  <a16:creationId xmlns:a16="http://schemas.microsoft.com/office/drawing/2014/main" id="{F2BC87AF-B1BF-461C-BB33-B21B37A44592}"/>
                </a:ext>
              </a:extLst>
            </p:cNvPr>
            <p:cNvSpPr txBox="1"/>
            <p:nvPr/>
          </p:nvSpPr>
          <p:spPr>
            <a:xfrm>
              <a:off x="582712" y="3259002"/>
              <a:ext cx="1154886" cy="369332"/>
            </a:xfrm>
            <a:prstGeom prst="rect">
              <a:avLst/>
            </a:prstGeom>
            <a:noFill/>
          </p:spPr>
          <p:txBody>
            <a:bodyPr wrap="square" rtlCol="0">
              <a:spAutoFit/>
            </a:bodyPr>
            <a:lstStyle/>
            <a:p>
              <a:r>
                <a:rPr lang="en-US" dirty="0"/>
                <a:t>Master-0</a:t>
              </a:r>
            </a:p>
          </p:txBody>
        </p:sp>
      </p:grpSp>
      <p:pic>
        <p:nvPicPr>
          <p:cNvPr id="18" name="Imagen 17">
            <a:extLst>
              <a:ext uri="{FF2B5EF4-FFF2-40B4-BE49-F238E27FC236}">
                <a16:creationId xmlns:a16="http://schemas.microsoft.com/office/drawing/2014/main" id="{1F18CB86-564A-4FC1-B0E5-C10E7C1DCA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072" y="4333657"/>
            <a:ext cx="5425888" cy="2138581"/>
          </a:xfrm>
          <a:prstGeom prst="rect">
            <a:avLst/>
          </a:prstGeom>
        </p:spPr>
      </p:pic>
      <p:sp>
        <p:nvSpPr>
          <p:cNvPr id="19" name="CuadroTexto 18">
            <a:extLst>
              <a:ext uri="{FF2B5EF4-FFF2-40B4-BE49-F238E27FC236}">
                <a16:creationId xmlns:a16="http://schemas.microsoft.com/office/drawing/2014/main" id="{66BBDB4A-DEF3-4751-B83D-EB750C69C6E5}"/>
              </a:ext>
            </a:extLst>
          </p:cNvPr>
          <p:cNvSpPr txBox="1"/>
          <p:nvPr/>
        </p:nvSpPr>
        <p:spPr>
          <a:xfrm>
            <a:off x="467544" y="368537"/>
            <a:ext cx="7355160" cy="369332"/>
          </a:xfrm>
          <a:prstGeom prst="rect">
            <a:avLst/>
          </a:prstGeom>
          <a:noFill/>
        </p:spPr>
        <p:txBody>
          <a:bodyPr wrap="square" rtlCol="0">
            <a:spAutoFit/>
          </a:bodyPr>
          <a:lstStyle/>
          <a:p>
            <a:pPr marL="285750" indent="-285750" algn="just">
              <a:buFont typeface="Arial" panose="020B0604020202020204" pitchFamily="34" charset="0"/>
              <a:buChar char="•"/>
            </a:pPr>
            <a:r>
              <a:rPr lang="es-ES" b="1" dirty="0"/>
              <a:t>Ejemplo procesamiento en paralelo de una imagen:</a:t>
            </a:r>
          </a:p>
        </p:txBody>
      </p:sp>
      <p:grpSp>
        <p:nvGrpSpPr>
          <p:cNvPr id="2" name="Grupo 1">
            <a:extLst>
              <a:ext uri="{FF2B5EF4-FFF2-40B4-BE49-F238E27FC236}">
                <a16:creationId xmlns:a16="http://schemas.microsoft.com/office/drawing/2014/main" id="{421932B0-69DE-43CF-BC6A-FFDB5DBA7B98}"/>
              </a:ext>
            </a:extLst>
          </p:cNvPr>
          <p:cNvGrpSpPr/>
          <p:nvPr/>
        </p:nvGrpSpPr>
        <p:grpSpPr>
          <a:xfrm>
            <a:off x="2992016" y="903613"/>
            <a:ext cx="3034629" cy="2961788"/>
            <a:chOff x="3193977" y="903613"/>
            <a:chExt cx="3034629" cy="2961788"/>
          </a:xfrm>
        </p:grpSpPr>
        <p:pic>
          <p:nvPicPr>
            <p:cNvPr id="7" name="Imagen 6">
              <a:extLst>
                <a:ext uri="{FF2B5EF4-FFF2-40B4-BE49-F238E27FC236}">
                  <a16:creationId xmlns:a16="http://schemas.microsoft.com/office/drawing/2014/main" id="{AC60D1C8-7FB1-4417-BF47-CE9C674B1D37}"/>
                </a:ext>
              </a:extLst>
            </p:cNvPr>
            <p:cNvPicPr>
              <a:picLocks noChangeAspect="1"/>
            </p:cNvPicPr>
            <p:nvPr/>
          </p:nvPicPr>
          <p:blipFill>
            <a:blip r:embed="rId4"/>
            <a:stretch>
              <a:fillRect/>
            </a:stretch>
          </p:blipFill>
          <p:spPr>
            <a:xfrm>
              <a:off x="3232077" y="903613"/>
              <a:ext cx="2952750" cy="590550"/>
            </a:xfrm>
            <a:prstGeom prst="rect">
              <a:avLst/>
            </a:prstGeom>
          </p:spPr>
        </p:pic>
        <p:pic>
          <p:nvPicPr>
            <p:cNvPr id="8" name="Imagen 7">
              <a:extLst>
                <a:ext uri="{FF2B5EF4-FFF2-40B4-BE49-F238E27FC236}">
                  <a16:creationId xmlns:a16="http://schemas.microsoft.com/office/drawing/2014/main" id="{DF2823D4-DB91-4281-B10B-EC6CC792DDB1}"/>
                </a:ext>
              </a:extLst>
            </p:cNvPr>
            <p:cNvPicPr>
              <a:picLocks noChangeAspect="1"/>
            </p:cNvPicPr>
            <p:nvPr/>
          </p:nvPicPr>
          <p:blipFill>
            <a:blip r:embed="rId5"/>
            <a:stretch>
              <a:fillRect/>
            </a:stretch>
          </p:blipFill>
          <p:spPr>
            <a:xfrm>
              <a:off x="3218706" y="1759856"/>
              <a:ext cx="2962275" cy="647700"/>
            </a:xfrm>
            <a:prstGeom prst="rect">
              <a:avLst/>
            </a:prstGeom>
          </p:spPr>
        </p:pic>
        <p:pic>
          <p:nvPicPr>
            <p:cNvPr id="9" name="Imagen 8">
              <a:extLst>
                <a:ext uri="{FF2B5EF4-FFF2-40B4-BE49-F238E27FC236}">
                  <a16:creationId xmlns:a16="http://schemas.microsoft.com/office/drawing/2014/main" id="{BA8CE860-96E3-4E12-B8ED-CDE465864FDA}"/>
                </a:ext>
              </a:extLst>
            </p:cNvPr>
            <p:cNvPicPr>
              <a:picLocks noChangeAspect="1"/>
            </p:cNvPicPr>
            <p:nvPr/>
          </p:nvPicPr>
          <p:blipFill>
            <a:blip r:embed="rId6"/>
            <a:stretch>
              <a:fillRect/>
            </a:stretch>
          </p:blipFill>
          <p:spPr>
            <a:xfrm>
              <a:off x="3209181" y="2547998"/>
              <a:ext cx="3019425" cy="561975"/>
            </a:xfrm>
            <a:prstGeom prst="rect">
              <a:avLst/>
            </a:prstGeom>
          </p:spPr>
        </p:pic>
        <p:pic>
          <p:nvPicPr>
            <p:cNvPr id="10" name="Imagen 9">
              <a:extLst>
                <a:ext uri="{FF2B5EF4-FFF2-40B4-BE49-F238E27FC236}">
                  <a16:creationId xmlns:a16="http://schemas.microsoft.com/office/drawing/2014/main" id="{09CFAADF-1442-4578-89DA-3052A5AE6CC4}"/>
                </a:ext>
              </a:extLst>
            </p:cNvPr>
            <p:cNvPicPr>
              <a:picLocks noChangeAspect="1"/>
            </p:cNvPicPr>
            <p:nvPr/>
          </p:nvPicPr>
          <p:blipFill>
            <a:blip r:embed="rId7"/>
            <a:stretch>
              <a:fillRect/>
            </a:stretch>
          </p:blipFill>
          <p:spPr>
            <a:xfrm>
              <a:off x="3193977" y="3255801"/>
              <a:ext cx="3019425" cy="609600"/>
            </a:xfrm>
            <a:prstGeom prst="rect">
              <a:avLst/>
            </a:prstGeom>
          </p:spPr>
        </p:pic>
        <p:sp>
          <p:nvSpPr>
            <p:cNvPr id="20" name="CuadroTexto 19">
              <a:extLst>
                <a:ext uri="{FF2B5EF4-FFF2-40B4-BE49-F238E27FC236}">
                  <a16:creationId xmlns:a16="http://schemas.microsoft.com/office/drawing/2014/main" id="{D430C6EF-F2DB-48A3-B4D7-8157E396BA1A}"/>
                </a:ext>
              </a:extLst>
            </p:cNvPr>
            <p:cNvSpPr txBox="1"/>
            <p:nvPr/>
          </p:nvSpPr>
          <p:spPr>
            <a:xfrm>
              <a:off x="4122400" y="1056260"/>
              <a:ext cx="1154886" cy="369332"/>
            </a:xfrm>
            <a:prstGeom prst="rect">
              <a:avLst/>
            </a:prstGeom>
            <a:noFill/>
          </p:spPr>
          <p:txBody>
            <a:bodyPr wrap="square" rtlCol="0">
              <a:spAutoFit/>
            </a:bodyPr>
            <a:lstStyle/>
            <a:p>
              <a:r>
                <a:rPr lang="en-US" dirty="0">
                  <a:solidFill>
                    <a:schemeClr val="bg1"/>
                  </a:solidFill>
                </a:rPr>
                <a:t>Master-0</a:t>
              </a:r>
            </a:p>
          </p:txBody>
        </p:sp>
        <p:sp>
          <p:nvSpPr>
            <p:cNvPr id="21" name="CuadroTexto 20">
              <a:extLst>
                <a:ext uri="{FF2B5EF4-FFF2-40B4-BE49-F238E27FC236}">
                  <a16:creationId xmlns:a16="http://schemas.microsoft.com/office/drawing/2014/main" id="{30C307B0-E4A4-45AB-843E-2CA8100DD0FA}"/>
                </a:ext>
              </a:extLst>
            </p:cNvPr>
            <p:cNvSpPr txBox="1"/>
            <p:nvPr/>
          </p:nvSpPr>
          <p:spPr>
            <a:xfrm>
              <a:off x="3981873" y="2030705"/>
              <a:ext cx="1154886" cy="369332"/>
            </a:xfrm>
            <a:prstGeom prst="rect">
              <a:avLst/>
            </a:prstGeom>
            <a:noFill/>
          </p:spPr>
          <p:txBody>
            <a:bodyPr wrap="square" rtlCol="0">
              <a:spAutoFit/>
            </a:bodyPr>
            <a:lstStyle/>
            <a:p>
              <a:r>
                <a:rPr lang="en-US" dirty="0">
                  <a:solidFill>
                    <a:schemeClr val="bg1"/>
                  </a:solidFill>
                </a:rPr>
                <a:t>Master-1</a:t>
              </a:r>
            </a:p>
          </p:txBody>
        </p:sp>
        <p:sp>
          <p:nvSpPr>
            <p:cNvPr id="22" name="CuadroTexto 21">
              <a:extLst>
                <a:ext uri="{FF2B5EF4-FFF2-40B4-BE49-F238E27FC236}">
                  <a16:creationId xmlns:a16="http://schemas.microsoft.com/office/drawing/2014/main" id="{6BB0D58F-C620-4516-B9C5-77851F66F4B1}"/>
                </a:ext>
              </a:extLst>
            </p:cNvPr>
            <p:cNvSpPr txBox="1"/>
            <p:nvPr/>
          </p:nvSpPr>
          <p:spPr>
            <a:xfrm>
              <a:off x="3209181" y="2673249"/>
              <a:ext cx="1154886" cy="369332"/>
            </a:xfrm>
            <a:prstGeom prst="rect">
              <a:avLst/>
            </a:prstGeom>
            <a:noFill/>
          </p:spPr>
          <p:txBody>
            <a:bodyPr wrap="square" rtlCol="0">
              <a:spAutoFit/>
            </a:bodyPr>
            <a:lstStyle/>
            <a:p>
              <a:r>
                <a:rPr lang="en-US" dirty="0">
                  <a:solidFill>
                    <a:schemeClr val="bg1"/>
                  </a:solidFill>
                </a:rPr>
                <a:t>Master-2</a:t>
              </a:r>
            </a:p>
          </p:txBody>
        </p:sp>
        <p:sp>
          <p:nvSpPr>
            <p:cNvPr id="23" name="CuadroTexto 22">
              <a:extLst>
                <a:ext uri="{FF2B5EF4-FFF2-40B4-BE49-F238E27FC236}">
                  <a16:creationId xmlns:a16="http://schemas.microsoft.com/office/drawing/2014/main" id="{B19C4B0B-2838-438A-AB77-B9F74C2544A5}"/>
                </a:ext>
              </a:extLst>
            </p:cNvPr>
            <p:cNvSpPr txBox="1"/>
            <p:nvPr/>
          </p:nvSpPr>
          <p:spPr>
            <a:xfrm>
              <a:off x="3235156" y="3330010"/>
              <a:ext cx="1154886" cy="369332"/>
            </a:xfrm>
            <a:prstGeom prst="rect">
              <a:avLst/>
            </a:prstGeom>
            <a:noFill/>
          </p:spPr>
          <p:txBody>
            <a:bodyPr wrap="square" rtlCol="0">
              <a:spAutoFit/>
            </a:bodyPr>
            <a:lstStyle/>
            <a:p>
              <a:r>
                <a:rPr lang="en-US" dirty="0">
                  <a:solidFill>
                    <a:schemeClr val="bg1"/>
                  </a:solidFill>
                </a:rPr>
                <a:t>Master-3</a:t>
              </a:r>
            </a:p>
          </p:txBody>
        </p:sp>
      </p:grpSp>
      <p:sp>
        <p:nvSpPr>
          <p:cNvPr id="16" name="Flecha: a la derecha 15">
            <a:extLst>
              <a:ext uri="{FF2B5EF4-FFF2-40B4-BE49-F238E27FC236}">
                <a16:creationId xmlns:a16="http://schemas.microsoft.com/office/drawing/2014/main" id="{656ED631-3806-4189-A990-2F33BD4D840A}"/>
              </a:ext>
            </a:extLst>
          </p:cNvPr>
          <p:cNvSpPr/>
          <p:nvPr/>
        </p:nvSpPr>
        <p:spPr>
          <a:xfrm>
            <a:off x="2123728" y="1979173"/>
            <a:ext cx="1298902" cy="422997"/>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uadroTexto 23">
            <a:extLst>
              <a:ext uri="{FF2B5EF4-FFF2-40B4-BE49-F238E27FC236}">
                <a16:creationId xmlns:a16="http://schemas.microsoft.com/office/drawing/2014/main" id="{682AB050-A803-4C19-8947-3430AE96F5C5}"/>
              </a:ext>
            </a:extLst>
          </p:cNvPr>
          <p:cNvSpPr txBox="1"/>
          <p:nvPr/>
        </p:nvSpPr>
        <p:spPr>
          <a:xfrm>
            <a:off x="2161770" y="1990277"/>
            <a:ext cx="830246" cy="369332"/>
          </a:xfrm>
          <a:prstGeom prst="rect">
            <a:avLst/>
          </a:prstGeom>
          <a:noFill/>
        </p:spPr>
        <p:txBody>
          <a:bodyPr wrap="square" rtlCol="0">
            <a:spAutoFit/>
          </a:bodyPr>
          <a:lstStyle/>
          <a:p>
            <a:r>
              <a:rPr lang="en-US" dirty="0" err="1">
                <a:solidFill>
                  <a:schemeClr val="bg1"/>
                </a:solidFill>
              </a:rPr>
              <a:t>Dividir</a:t>
            </a:r>
            <a:endParaRPr lang="en-US" dirty="0">
              <a:solidFill>
                <a:schemeClr val="bg1"/>
              </a:solidFill>
            </a:endParaRPr>
          </a:p>
        </p:txBody>
      </p:sp>
      <p:grpSp>
        <p:nvGrpSpPr>
          <p:cNvPr id="38" name="Grupo 37">
            <a:extLst>
              <a:ext uri="{FF2B5EF4-FFF2-40B4-BE49-F238E27FC236}">
                <a16:creationId xmlns:a16="http://schemas.microsoft.com/office/drawing/2014/main" id="{FD123069-92CF-4D1F-8D36-CCB0D1825F8C}"/>
              </a:ext>
            </a:extLst>
          </p:cNvPr>
          <p:cNvGrpSpPr/>
          <p:nvPr/>
        </p:nvGrpSpPr>
        <p:grpSpPr>
          <a:xfrm>
            <a:off x="5289322" y="904984"/>
            <a:ext cx="3827514" cy="2968764"/>
            <a:chOff x="5289322" y="904984"/>
            <a:chExt cx="3827514" cy="2968764"/>
          </a:xfrm>
        </p:grpSpPr>
        <p:pic>
          <p:nvPicPr>
            <p:cNvPr id="14" name="Imagen 13">
              <a:extLst>
                <a:ext uri="{FF2B5EF4-FFF2-40B4-BE49-F238E27FC236}">
                  <a16:creationId xmlns:a16="http://schemas.microsoft.com/office/drawing/2014/main" id="{F2F4C32E-1E14-46F9-B1D2-C217DB680A14}"/>
                </a:ext>
              </a:extLst>
            </p:cNvPr>
            <p:cNvPicPr>
              <a:picLocks noChangeAspect="1"/>
            </p:cNvPicPr>
            <p:nvPr/>
          </p:nvPicPr>
          <p:blipFill>
            <a:blip r:embed="rId8">
              <a:duotone>
                <a:prstClr val="black"/>
                <a:schemeClr val="accent1">
                  <a:tint val="45000"/>
                  <a:satMod val="400000"/>
                </a:schemeClr>
              </a:duotone>
              <a:extLst>
                <a:ext uri="{BEBA8EAE-BF5A-486C-A8C5-ECC9F3942E4B}">
                  <a14:imgProps xmlns:a14="http://schemas.microsoft.com/office/drawing/2010/main">
                    <a14:imgLayer r:embed="rId9">
                      <a14:imgEffect>
                        <a14:artisticWatercolorSponge/>
                      </a14:imgEffect>
                    </a14:imgLayer>
                  </a14:imgProps>
                </a:ext>
              </a:extLst>
            </a:blip>
            <a:stretch>
              <a:fillRect/>
            </a:stretch>
          </p:blipFill>
          <p:spPr>
            <a:xfrm>
              <a:off x="6079976" y="3264148"/>
              <a:ext cx="3019425" cy="609600"/>
            </a:xfrm>
            <a:prstGeom prst="rect">
              <a:avLst/>
            </a:prstGeom>
          </p:spPr>
        </p:pic>
        <p:pic>
          <p:nvPicPr>
            <p:cNvPr id="11" name="Imagen 10">
              <a:extLst>
                <a:ext uri="{FF2B5EF4-FFF2-40B4-BE49-F238E27FC236}">
                  <a16:creationId xmlns:a16="http://schemas.microsoft.com/office/drawing/2014/main" id="{DD78DBB8-B3BC-4704-ADDF-45A09A6AA803}"/>
                </a:ext>
              </a:extLst>
            </p:cNvPr>
            <p:cNvPicPr>
              <a:picLocks noChangeAspect="1"/>
            </p:cNvPicPr>
            <p:nvPr/>
          </p:nvPicPr>
          <p:blipFill>
            <a:blip r:embed="rId10">
              <a:duotone>
                <a:prstClr val="black"/>
                <a:schemeClr val="accent1">
                  <a:tint val="45000"/>
                  <a:satMod val="400000"/>
                </a:schemeClr>
              </a:duotone>
              <a:extLst>
                <a:ext uri="{BEBA8EAE-BF5A-486C-A8C5-ECC9F3942E4B}">
                  <a14:imgProps xmlns:a14="http://schemas.microsoft.com/office/drawing/2010/main">
                    <a14:imgLayer r:embed="rId11">
                      <a14:imgEffect>
                        <a14:artisticWatercolorSponge/>
                      </a14:imgEffect>
                    </a14:imgLayer>
                  </a14:imgProps>
                </a:ext>
              </a:extLst>
            </a:blip>
            <a:stretch>
              <a:fillRect/>
            </a:stretch>
          </p:blipFill>
          <p:spPr>
            <a:xfrm>
              <a:off x="6156176" y="904984"/>
              <a:ext cx="2952750" cy="590550"/>
            </a:xfrm>
            <a:prstGeom prst="rect">
              <a:avLst/>
            </a:prstGeom>
          </p:spPr>
        </p:pic>
        <p:pic>
          <p:nvPicPr>
            <p:cNvPr id="12" name="Imagen 11">
              <a:extLst>
                <a:ext uri="{FF2B5EF4-FFF2-40B4-BE49-F238E27FC236}">
                  <a16:creationId xmlns:a16="http://schemas.microsoft.com/office/drawing/2014/main" id="{F73F0E72-9898-4FBA-8868-426E524475C5}"/>
                </a:ext>
              </a:extLst>
            </p:cNvPr>
            <p:cNvPicPr>
              <a:picLocks noChangeAspect="1"/>
            </p:cNvPicPr>
            <p:nvPr/>
          </p:nvPicPr>
          <p:blipFill>
            <a:blip r:embed="rId12">
              <a:duotone>
                <a:prstClr val="black"/>
                <a:schemeClr val="accent1">
                  <a:tint val="45000"/>
                  <a:satMod val="400000"/>
                </a:schemeClr>
              </a:duotone>
              <a:extLst>
                <a:ext uri="{BEBA8EAE-BF5A-486C-A8C5-ECC9F3942E4B}">
                  <a14:imgProps xmlns:a14="http://schemas.microsoft.com/office/drawing/2010/main">
                    <a14:imgLayer r:embed="rId13">
                      <a14:imgEffect>
                        <a14:artisticWatercolorSponge/>
                      </a14:imgEffect>
                    </a14:imgLayer>
                  </a14:imgProps>
                </a:ext>
              </a:extLst>
            </a:blip>
            <a:stretch>
              <a:fillRect/>
            </a:stretch>
          </p:blipFill>
          <p:spPr>
            <a:xfrm>
              <a:off x="6135511" y="1775309"/>
              <a:ext cx="2962275" cy="647700"/>
            </a:xfrm>
            <a:prstGeom prst="rect">
              <a:avLst/>
            </a:prstGeom>
          </p:spPr>
        </p:pic>
        <p:pic>
          <p:nvPicPr>
            <p:cNvPr id="13" name="Imagen 12">
              <a:extLst>
                <a:ext uri="{FF2B5EF4-FFF2-40B4-BE49-F238E27FC236}">
                  <a16:creationId xmlns:a16="http://schemas.microsoft.com/office/drawing/2014/main" id="{C54D08F1-34C8-4EC6-9039-62897337B2CB}"/>
                </a:ext>
              </a:extLst>
            </p:cNvPr>
            <p:cNvPicPr>
              <a:picLocks noChangeAspect="1"/>
            </p:cNvPicPr>
            <p:nvPr/>
          </p:nvPicPr>
          <p:blipFill>
            <a:blip r:embed="rId14">
              <a:duotone>
                <a:prstClr val="black"/>
                <a:schemeClr val="accent1">
                  <a:tint val="45000"/>
                  <a:satMod val="400000"/>
                </a:schemeClr>
              </a:duotone>
              <a:extLst>
                <a:ext uri="{BEBA8EAE-BF5A-486C-A8C5-ECC9F3942E4B}">
                  <a14:imgProps xmlns:a14="http://schemas.microsoft.com/office/drawing/2010/main">
                    <a14:imgLayer r:embed="rId15">
                      <a14:imgEffect>
                        <a14:artisticWatercolorSponge/>
                      </a14:imgEffect>
                    </a14:imgLayer>
                  </a14:imgProps>
                </a:ext>
              </a:extLst>
            </a:blip>
            <a:stretch>
              <a:fillRect/>
            </a:stretch>
          </p:blipFill>
          <p:spPr>
            <a:xfrm>
              <a:off x="6097411" y="2549214"/>
              <a:ext cx="3019425" cy="561975"/>
            </a:xfrm>
            <a:prstGeom prst="rect">
              <a:avLst/>
            </a:prstGeom>
          </p:spPr>
        </p:pic>
        <p:sp>
          <p:nvSpPr>
            <p:cNvPr id="25" name="Flecha: a la derecha 24">
              <a:extLst>
                <a:ext uri="{FF2B5EF4-FFF2-40B4-BE49-F238E27FC236}">
                  <a16:creationId xmlns:a16="http://schemas.microsoft.com/office/drawing/2014/main" id="{5194F6FA-93A9-4BC9-BC09-FD9465FB50E8}"/>
                </a:ext>
              </a:extLst>
            </p:cNvPr>
            <p:cNvSpPr/>
            <p:nvPr/>
          </p:nvSpPr>
          <p:spPr>
            <a:xfrm>
              <a:off x="5404996" y="1020272"/>
              <a:ext cx="1298902" cy="422997"/>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lecha: a la derecha 26">
              <a:extLst>
                <a:ext uri="{FF2B5EF4-FFF2-40B4-BE49-F238E27FC236}">
                  <a16:creationId xmlns:a16="http://schemas.microsoft.com/office/drawing/2014/main" id="{96FAD9C0-DD8E-4CAD-9FFD-1CF62F7D21CE}"/>
                </a:ext>
              </a:extLst>
            </p:cNvPr>
            <p:cNvSpPr/>
            <p:nvPr/>
          </p:nvSpPr>
          <p:spPr>
            <a:xfrm>
              <a:off x="5417437" y="1873903"/>
              <a:ext cx="1298902" cy="422997"/>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lecha: a la derecha 28">
              <a:extLst>
                <a:ext uri="{FF2B5EF4-FFF2-40B4-BE49-F238E27FC236}">
                  <a16:creationId xmlns:a16="http://schemas.microsoft.com/office/drawing/2014/main" id="{1044310D-6917-4678-A242-5F494649694A}"/>
                </a:ext>
              </a:extLst>
            </p:cNvPr>
            <p:cNvSpPr/>
            <p:nvPr/>
          </p:nvSpPr>
          <p:spPr>
            <a:xfrm>
              <a:off x="5364088" y="2645963"/>
              <a:ext cx="1298902" cy="422997"/>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echa: a la derecha 30">
              <a:extLst>
                <a:ext uri="{FF2B5EF4-FFF2-40B4-BE49-F238E27FC236}">
                  <a16:creationId xmlns:a16="http://schemas.microsoft.com/office/drawing/2014/main" id="{F74DC25B-C2F9-4EA7-A728-DFE5B7CE1855}"/>
                </a:ext>
              </a:extLst>
            </p:cNvPr>
            <p:cNvSpPr/>
            <p:nvPr/>
          </p:nvSpPr>
          <p:spPr>
            <a:xfrm>
              <a:off x="5289322" y="3366043"/>
              <a:ext cx="1298902" cy="422997"/>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uadroTexto 25">
              <a:extLst>
                <a:ext uri="{FF2B5EF4-FFF2-40B4-BE49-F238E27FC236}">
                  <a16:creationId xmlns:a16="http://schemas.microsoft.com/office/drawing/2014/main" id="{18C66569-60CC-434F-B224-D58AA824EBF7}"/>
                </a:ext>
              </a:extLst>
            </p:cNvPr>
            <p:cNvSpPr txBox="1"/>
            <p:nvPr/>
          </p:nvSpPr>
          <p:spPr>
            <a:xfrm>
              <a:off x="5443038" y="1031376"/>
              <a:ext cx="1110162" cy="369332"/>
            </a:xfrm>
            <a:prstGeom prst="rect">
              <a:avLst/>
            </a:prstGeom>
            <a:noFill/>
          </p:spPr>
          <p:txBody>
            <a:bodyPr wrap="square" rtlCol="0">
              <a:spAutoFit/>
            </a:bodyPr>
            <a:lstStyle/>
            <a:p>
              <a:r>
                <a:rPr lang="en-US" dirty="0" err="1">
                  <a:solidFill>
                    <a:schemeClr val="bg1"/>
                  </a:solidFill>
                </a:rPr>
                <a:t>Procesar</a:t>
              </a:r>
              <a:endParaRPr lang="en-US" dirty="0">
                <a:solidFill>
                  <a:schemeClr val="bg1"/>
                </a:solidFill>
              </a:endParaRPr>
            </a:p>
          </p:txBody>
        </p:sp>
        <p:sp>
          <p:nvSpPr>
            <p:cNvPr id="28" name="CuadroTexto 27">
              <a:extLst>
                <a:ext uri="{FF2B5EF4-FFF2-40B4-BE49-F238E27FC236}">
                  <a16:creationId xmlns:a16="http://schemas.microsoft.com/office/drawing/2014/main" id="{978DB4E3-0899-40A1-9FA2-8CE1004F897D}"/>
                </a:ext>
              </a:extLst>
            </p:cNvPr>
            <p:cNvSpPr txBox="1"/>
            <p:nvPr/>
          </p:nvSpPr>
          <p:spPr>
            <a:xfrm>
              <a:off x="5455479" y="1885007"/>
              <a:ext cx="1110162" cy="369332"/>
            </a:xfrm>
            <a:prstGeom prst="rect">
              <a:avLst/>
            </a:prstGeom>
            <a:noFill/>
          </p:spPr>
          <p:txBody>
            <a:bodyPr wrap="square" rtlCol="0">
              <a:spAutoFit/>
            </a:bodyPr>
            <a:lstStyle/>
            <a:p>
              <a:r>
                <a:rPr lang="en-US" dirty="0" err="1">
                  <a:solidFill>
                    <a:schemeClr val="bg1"/>
                  </a:solidFill>
                </a:rPr>
                <a:t>Procesar</a:t>
              </a:r>
              <a:endParaRPr lang="en-US" dirty="0">
                <a:solidFill>
                  <a:schemeClr val="bg1"/>
                </a:solidFill>
              </a:endParaRPr>
            </a:p>
          </p:txBody>
        </p:sp>
        <p:sp>
          <p:nvSpPr>
            <p:cNvPr id="30" name="CuadroTexto 29">
              <a:extLst>
                <a:ext uri="{FF2B5EF4-FFF2-40B4-BE49-F238E27FC236}">
                  <a16:creationId xmlns:a16="http://schemas.microsoft.com/office/drawing/2014/main" id="{4FF4DBC7-7E64-474B-9F7B-B0DDE291DF41}"/>
                </a:ext>
              </a:extLst>
            </p:cNvPr>
            <p:cNvSpPr txBox="1"/>
            <p:nvPr/>
          </p:nvSpPr>
          <p:spPr>
            <a:xfrm>
              <a:off x="5402130" y="2657067"/>
              <a:ext cx="1110162" cy="369332"/>
            </a:xfrm>
            <a:prstGeom prst="rect">
              <a:avLst/>
            </a:prstGeom>
            <a:noFill/>
          </p:spPr>
          <p:txBody>
            <a:bodyPr wrap="square" rtlCol="0">
              <a:spAutoFit/>
            </a:bodyPr>
            <a:lstStyle/>
            <a:p>
              <a:r>
                <a:rPr lang="en-US" dirty="0" err="1">
                  <a:solidFill>
                    <a:schemeClr val="bg1"/>
                  </a:solidFill>
                </a:rPr>
                <a:t>Procesar</a:t>
              </a:r>
              <a:endParaRPr lang="en-US" dirty="0">
                <a:solidFill>
                  <a:schemeClr val="bg1"/>
                </a:solidFill>
              </a:endParaRPr>
            </a:p>
          </p:txBody>
        </p:sp>
        <p:sp>
          <p:nvSpPr>
            <p:cNvPr id="32" name="CuadroTexto 31">
              <a:extLst>
                <a:ext uri="{FF2B5EF4-FFF2-40B4-BE49-F238E27FC236}">
                  <a16:creationId xmlns:a16="http://schemas.microsoft.com/office/drawing/2014/main" id="{4416DF2A-1364-424B-9689-2C12735A8152}"/>
                </a:ext>
              </a:extLst>
            </p:cNvPr>
            <p:cNvSpPr txBox="1"/>
            <p:nvPr/>
          </p:nvSpPr>
          <p:spPr>
            <a:xfrm>
              <a:off x="5327364" y="3377147"/>
              <a:ext cx="1110162" cy="369332"/>
            </a:xfrm>
            <a:prstGeom prst="rect">
              <a:avLst/>
            </a:prstGeom>
            <a:noFill/>
          </p:spPr>
          <p:txBody>
            <a:bodyPr wrap="square" rtlCol="0">
              <a:spAutoFit/>
            </a:bodyPr>
            <a:lstStyle/>
            <a:p>
              <a:r>
                <a:rPr lang="en-US" dirty="0" err="1">
                  <a:solidFill>
                    <a:schemeClr val="bg1"/>
                  </a:solidFill>
                </a:rPr>
                <a:t>Procesar</a:t>
              </a:r>
              <a:endParaRPr lang="en-US" dirty="0">
                <a:solidFill>
                  <a:schemeClr val="bg1"/>
                </a:solidFill>
              </a:endParaRPr>
            </a:p>
          </p:txBody>
        </p:sp>
      </p:grpSp>
      <p:grpSp>
        <p:nvGrpSpPr>
          <p:cNvPr id="36" name="Grupo 35">
            <a:extLst>
              <a:ext uri="{FF2B5EF4-FFF2-40B4-BE49-F238E27FC236}">
                <a16:creationId xmlns:a16="http://schemas.microsoft.com/office/drawing/2014/main" id="{68EFD7BE-92D7-413B-84C8-34DD1E58085B}"/>
              </a:ext>
            </a:extLst>
          </p:cNvPr>
          <p:cNvGrpSpPr/>
          <p:nvPr/>
        </p:nvGrpSpPr>
        <p:grpSpPr>
          <a:xfrm>
            <a:off x="6026645" y="4020694"/>
            <a:ext cx="2678609" cy="2460859"/>
            <a:chOff x="6026645" y="4020694"/>
            <a:chExt cx="2678609" cy="2460859"/>
          </a:xfrm>
        </p:grpSpPr>
        <p:pic>
          <p:nvPicPr>
            <p:cNvPr id="6" name="Imagen 5">
              <a:extLst>
                <a:ext uri="{FF2B5EF4-FFF2-40B4-BE49-F238E27FC236}">
                  <a16:creationId xmlns:a16="http://schemas.microsoft.com/office/drawing/2014/main" id="{53A7BA83-76CB-4801-BABC-1AAE66DE61F9}"/>
                </a:ext>
              </a:extLst>
            </p:cNvPr>
            <p:cNvPicPr>
              <a:picLocks noChangeAspect="1"/>
            </p:cNvPicPr>
            <p:nvPr/>
          </p:nvPicPr>
          <p:blipFill>
            <a:blip r:embed="rId16">
              <a:duotone>
                <a:prstClr val="black"/>
                <a:schemeClr val="accent1">
                  <a:tint val="45000"/>
                  <a:satMod val="400000"/>
                </a:schemeClr>
              </a:duotone>
              <a:extLst>
                <a:ext uri="{BEBA8EAE-BF5A-486C-A8C5-ECC9F3942E4B}">
                  <a14:imgProps xmlns:a14="http://schemas.microsoft.com/office/drawing/2010/main">
                    <a14:imgLayer r:embed="rId17">
                      <a14:imgEffect>
                        <a14:artisticWatercolorSponge/>
                      </a14:imgEffect>
                    </a14:imgLayer>
                  </a14:imgProps>
                </a:ext>
              </a:extLst>
            </a:blip>
            <a:stretch>
              <a:fillRect/>
            </a:stretch>
          </p:blipFill>
          <p:spPr>
            <a:xfrm>
              <a:off x="6026645" y="4723936"/>
              <a:ext cx="2678609" cy="1757617"/>
            </a:xfrm>
            <a:prstGeom prst="rect">
              <a:avLst/>
            </a:prstGeom>
          </p:spPr>
        </p:pic>
        <p:sp>
          <p:nvSpPr>
            <p:cNvPr id="33" name="Flecha: a la derecha 32">
              <a:extLst>
                <a:ext uri="{FF2B5EF4-FFF2-40B4-BE49-F238E27FC236}">
                  <a16:creationId xmlns:a16="http://schemas.microsoft.com/office/drawing/2014/main" id="{57BC776C-D9E6-430A-BBB7-AD8D81386F1A}"/>
                </a:ext>
              </a:extLst>
            </p:cNvPr>
            <p:cNvSpPr/>
            <p:nvPr/>
          </p:nvSpPr>
          <p:spPr>
            <a:xfrm rot="5400000">
              <a:off x="7054966" y="4132419"/>
              <a:ext cx="646447" cy="422997"/>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uadroTexto 33">
              <a:extLst>
                <a:ext uri="{FF2B5EF4-FFF2-40B4-BE49-F238E27FC236}">
                  <a16:creationId xmlns:a16="http://schemas.microsoft.com/office/drawing/2014/main" id="{04EC0EE7-1A7C-48E0-8CE8-4CED423A3388}"/>
                </a:ext>
              </a:extLst>
            </p:cNvPr>
            <p:cNvSpPr txBox="1"/>
            <p:nvPr/>
          </p:nvSpPr>
          <p:spPr>
            <a:xfrm>
              <a:off x="6733426" y="4036349"/>
              <a:ext cx="1438973" cy="369332"/>
            </a:xfrm>
            <a:prstGeom prst="rect">
              <a:avLst/>
            </a:prstGeom>
            <a:noFill/>
          </p:spPr>
          <p:txBody>
            <a:bodyPr wrap="square" rtlCol="0">
              <a:spAutoFit/>
            </a:bodyPr>
            <a:lstStyle/>
            <a:p>
              <a:r>
                <a:rPr lang="en-US" b="1" dirty="0" err="1">
                  <a:solidFill>
                    <a:schemeClr val="accent1"/>
                  </a:solidFill>
                </a:rPr>
                <a:t>Comunicar</a:t>
              </a:r>
              <a:endParaRPr lang="en-US" b="1" dirty="0">
                <a:solidFill>
                  <a:schemeClr val="accent1"/>
                </a:solidFill>
              </a:endParaRPr>
            </a:p>
          </p:txBody>
        </p:sp>
      </p:grpSp>
    </p:spTree>
    <p:extLst>
      <p:ext uri="{BB962C8B-B14F-4D97-AF65-F5344CB8AC3E}">
        <p14:creationId xmlns:p14="http://schemas.microsoft.com/office/powerpoint/2010/main" val="4257392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BB7BBA0-E292-4C75-95F7-CF225A68A560}"/>
              </a:ext>
            </a:extLst>
          </p:cNvPr>
          <p:cNvSpPr>
            <a:spLocks noGrp="1"/>
          </p:cNvSpPr>
          <p:nvPr>
            <p:ph type="sldNum" sz="quarter" idx="12"/>
          </p:nvPr>
        </p:nvSpPr>
        <p:spPr/>
        <p:txBody>
          <a:bodyPr/>
          <a:lstStyle/>
          <a:p>
            <a:fld id="{2BC99F66-008B-4912-B721-8943319F59B7}" type="slidenum">
              <a:rPr lang="en-US" altLang="en-US" smtClean="0"/>
              <a:pPr/>
              <a:t>4</a:t>
            </a:fld>
            <a:endParaRPr lang="en-US" altLang="en-US"/>
          </a:p>
        </p:txBody>
      </p:sp>
      <p:sp>
        <p:nvSpPr>
          <p:cNvPr id="5" name="CuadroTexto 4">
            <a:extLst>
              <a:ext uri="{FF2B5EF4-FFF2-40B4-BE49-F238E27FC236}">
                <a16:creationId xmlns:a16="http://schemas.microsoft.com/office/drawing/2014/main" id="{A24DC278-74F8-400E-B74F-8CF6D798367C}"/>
              </a:ext>
            </a:extLst>
          </p:cNvPr>
          <p:cNvSpPr txBox="1"/>
          <p:nvPr/>
        </p:nvSpPr>
        <p:spPr>
          <a:xfrm>
            <a:off x="467544" y="404664"/>
            <a:ext cx="6984776" cy="369332"/>
          </a:xfrm>
          <a:prstGeom prst="rect">
            <a:avLst/>
          </a:prstGeom>
          <a:noFill/>
        </p:spPr>
        <p:txBody>
          <a:bodyPr wrap="square" rtlCol="0">
            <a:spAutoFit/>
          </a:bodyPr>
          <a:lstStyle/>
          <a:p>
            <a:r>
              <a:rPr lang="es-ES" b="1" dirty="0"/>
              <a:t>Desventajas / Problemas</a:t>
            </a:r>
          </a:p>
        </p:txBody>
      </p:sp>
      <p:sp>
        <p:nvSpPr>
          <p:cNvPr id="6" name="CuadroTexto 5">
            <a:extLst>
              <a:ext uri="{FF2B5EF4-FFF2-40B4-BE49-F238E27FC236}">
                <a16:creationId xmlns:a16="http://schemas.microsoft.com/office/drawing/2014/main" id="{5316A073-46A5-4DF8-A039-950574B90DE8}"/>
              </a:ext>
            </a:extLst>
          </p:cNvPr>
          <p:cNvSpPr txBox="1"/>
          <p:nvPr/>
        </p:nvSpPr>
        <p:spPr>
          <a:xfrm>
            <a:off x="467544" y="908720"/>
            <a:ext cx="6372200"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“No free lunch” </a:t>
            </a:r>
            <a:r>
              <a:rPr lang="en-US" sz="1600" dirty="0">
                <a:sym typeface="Wingdings" panose="05000000000000000000" pitchFamily="2" charset="2"/>
              </a:rPr>
              <a:t> </a:t>
            </a:r>
            <a:r>
              <a:rPr lang="es-ES" sz="1600" dirty="0">
                <a:sym typeface="Wingdings" panose="05000000000000000000" pitchFamily="2" charset="2"/>
              </a:rPr>
              <a:t>No es posible paralelizar de forma 			  automática un software/algoritmo ya creado.</a:t>
            </a:r>
            <a:endParaRPr lang="es-ES" sz="1600" dirty="0"/>
          </a:p>
        </p:txBody>
      </p:sp>
      <p:sp>
        <p:nvSpPr>
          <p:cNvPr id="7" name="CuadroTexto 6">
            <a:extLst>
              <a:ext uri="{FF2B5EF4-FFF2-40B4-BE49-F238E27FC236}">
                <a16:creationId xmlns:a16="http://schemas.microsoft.com/office/drawing/2014/main" id="{24BDDD75-A573-4BB3-BDF2-8287F44E449B}"/>
              </a:ext>
            </a:extLst>
          </p:cNvPr>
          <p:cNvSpPr txBox="1"/>
          <p:nvPr/>
        </p:nvSpPr>
        <p:spPr>
          <a:xfrm>
            <a:off x="467544" y="1484784"/>
            <a:ext cx="8136904" cy="1077218"/>
          </a:xfrm>
          <a:prstGeom prst="rect">
            <a:avLst/>
          </a:prstGeom>
          <a:noFill/>
        </p:spPr>
        <p:txBody>
          <a:bodyPr wrap="square" rtlCol="0">
            <a:spAutoFit/>
          </a:bodyPr>
          <a:lstStyle/>
          <a:p>
            <a:pPr marL="285750" indent="-285750">
              <a:buFont typeface="Arial" panose="020B0604020202020204" pitchFamily="34" charset="0"/>
              <a:buChar char="•"/>
            </a:pPr>
            <a:r>
              <a:rPr lang="es-ES" sz="1600" dirty="0"/>
              <a:t>La paralelización requiere trabajo (a veces mucho): </a:t>
            </a:r>
          </a:p>
          <a:p>
            <a:pPr marL="742950" lvl="1" indent="-285750">
              <a:buFont typeface="Arial" panose="020B0604020202020204" pitchFamily="34" charset="0"/>
              <a:buChar char="•"/>
            </a:pPr>
            <a:r>
              <a:rPr lang="es-ES" sz="1600" dirty="0"/>
              <a:t>Modificación del código fuente (Siempre)</a:t>
            </a:r>
          </a:p>
          <a:p>
            <a:pPr marL="742950" lvl="1" indent="-285750">
              <a:buFont typeface="Arial" panose="020B0604020202020204" pitchFamily="34" charset="0"/>
              <a:buChar char="•"/>
            </a:pPr>
            <a:r>
              <a:rPr lang="es-ES" sz="1600" dirty="0"/>
              <a:t>Modificación del algoritmo (A menudo)</a:t>
            </a:r>
          </a:p>
          <a:p>
            <a:pPr lvl="1"/>
            <a:endParaRPr lang="es-ES" sz="1600" dirty="0"/>
          </a:p>
        </p:txBody>
      </p:sp>
      <p:sp>
        <p:nvSpPr>
          <p:cNvPr id="8" name="CuadroTexto 7">
            <a:extLst>
              <a:ext uri="{FF2B5EF4-FFF2-40B4-BE49-F238E27FC236}">
                <a16:creationId xmlns:a16="http://schemas.microsoft.com/office/drawing/2014/main" id="{7EB3D869-B684-47BC-899D-0401E1BF56DC}"/>
              </a:ext>
            </a:extLst>
          </p:cNvPr>
          <p:cNvSpPr txBox="1"/>
          <p:nvPr/>
        </p:nvSpPr>
        <p:spPr>
          <a:xfrm>
            <a:off x="457200" y="6045409"/>
            <a:ext cx="6839439" cy="584775"/>
          </a:xfrm>
          <a:prstGeom prst="rect">
            <a:avLst/>
          </a:prstGeom>
          <a:noFill/>
        </p:spPr>
        <p:txBody>
          <a:bodyPr wrap="square" rtlCol="0">
            <a:spAutoFit/>
          </a:bodyPr>
          <a:lstStyle/>
          <a:p>
            <a:endParaRPr lang="es-ES" sz="1600" dirty="0"/>
          </a:p>
          <a:p>
            <a:pPr marL="285750" indent="-285750">
              <a:buFont typeface="Arial" panose="020B0604020202020204" pitchFamily="34" charset="0"/>
              <a:buChar char="•"/>
            </a:pPr>
            <a:r>
              <a:rPr lang="es-ES" sz="1600" dirty="0"/>
              <a:t>No todos los algoritmos son óptimos o se pueden paralelizar.	</a:t>
            </a:r>
          </a:p>
        </p:txBody>
      </p:sp>
      <p:pic>
        <p:nvPicPr>
          <p:cNvPr id="12" name="Imagen 11">
            <a:extLst>
              <a:ext uri="{FF2B5EF4-FFF2-40B4-BE49-F238E27FC236}">
                <a16:creationId xmlns:a16="http://schemas.microsoft.com/office/drawing/2014/main" id="{9787083F-DD0B-4D50-B02F-239AA35007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7976" y="4318249"/>
            <a:ext cx="2622024" cy="1818882"/>
          </a:xfrm>
          <a:prstGeom prst="rect">
            <a:avLst/>
          </a:prstGeom>
        </p:spPr>
      </p:pic>
      <p:pic>
        <p:nvPicPr>
          <p:cNvPr id="14" name="Imagen 13">
            <a:extLst>
              <a:ext uri="{FF2B5EF4-FFF2-40B4-BE49-F238E27FC236}">
                <a16:creationId xmlns:a16="http://schemas.microsoft.com/office/drawing/2014/main" id="{988B92C2-E6E4-46E5-AA4C-DEDC9D7DFF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0517" y="4176001"/>
            <a:ext cx="3311275" cy="1872229"/>
          </a:xfrm>
          <a:prstGeom prst="rect">
            <a:avLst/>
          </a:prstGeom>
        </p:spPr>
      </p:pic>
      <p:sp>
        <p:nvSpPr>
          <p:cNvPr id="9" name="CuadroTexto 8">
            <a:extLst>
              <a:ext uri="{FF2B5EF4-FFF2-40B4-BE49-F238E27FC236}">
                <a16:creationId xmlns:a16="http://schemas.microsoft.com/office/drawing/2014/main" id="{2ADB7313-224F-4546-9A70-FB768E5B735E}"/>
              </a:ext>
            </a:extLst>
          </p:cNvPr>
          <p:cNvSpPr txBox="1"/>
          <p:nvPr/>
        </p:nvSpPr>
        <p:spPr>
          <a:xfrm>
            <a:off x="467544" y="2405206"/>
            <a:ext cx="8136904" cy="1815882"/>
          </a:xfrm>
          <a:prstGeom prst="rect">
            <a:avLst/>
          </a:prstGeom>
          <a:noFill/>
        </p:spPr>
        <p:txBody>
          <a:bodyPr wrap="square" rtlCol="0">
            <a:spAutoFit/>
          </a:bodyPr>
          <a:lstStyle/>
          <a:p>
            <a:pPr marL="285750" indent="-285750">
              <a:buFont typeface="Arial" panose="020B0604020202020204" pitchFamily="34" charset="0"/>
              <a:buChar char="•"/>
            </a:pPr>
            <a:r>
              <a:rPr lang="es-ES" sz="1600" dirty="0"/>
              <a:t>Introducción de errores no deseados por la paralelización muy difíciles de encontrar y solucionar (depuración de código lleva mucho tiempo). Dos de los errores mas comunes introducidos durante la paralelización son:</a:t>
            </a:r>
          </a:p>
          <a:p>
            <a:pPr marL="742950" lvl="1" indent="-285750">
              <a:buFont typeface="Arial" panose="020B0604020202020204" pitchFamily="34" charset="0"/>
              <a:buChar char="•"/>
            </a:pPr>
            <a:r>
              <a:rPr lang="es-ES" sz="1600" dirty="0"/>
              <a:t>Condiciones de carrera (Data </a:t>
            </a:r>
            <a:r>
              <a:rPr lang="es-ES" sz="1600" dirty="0" err="1"/>
              <a:t>races</a:t>
            </a:r>
            <a:r>
              <a:rPr lang="es-ES" sz="1600" dirty="0"/>
              <a:t>): Dos procesos toman y modifican el mismo dato de forma no intencionada creando resultados inesperados. </a:t>
            </a:r>
          </a:p>
          <a:p>
            <a:pPr marL="742950" lvl="1" indent="-285750">
              <a:buFont typeface="Arial" panose="020B0604020202020204" pitchFamily="34" charset="0"/>
              <a:buChar char="•"/>
            </a:pPr>
            <a:r>
              <a:rPr lang="es-ES" sz="1600" dirty="0"/>
              <a:t>Bloqueo mutuo (</a:t>
            </a:r>
            <a:r>
              <a:rPr lang="es-ES" sz="1600" dirty="0" err="1"/>
              <a:t>Deadlocks</a:t>
            </a:r>
            <a:r>
              <a:rPr lang="es-ES" sz="1600" dirty="0"/>
              <a:t>): Dos o mas tareas se pausan esperándose la una a la otra para poder finalizar su trabajo.</a:t>
            </a:r>
          </a:p>
        </p:txBody>
      </p:sp>
    </p:spTree>
    <p:extLst>
      <p:ext uri="{BB962C8B-B14F-4D97-AF65-F5344CB8AC3E}">
        <p14:creationId xmlns:p14="http://schemas.microsoft.com/office/powerpoint/2010/main" val="3210015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2ABC104-681D-4431-B52D-A4D8B653F080}"/>
              </a:ext>
            </a:extLst>
          </p:cNvPr>
          <p:cNvSpPr>
            <a:spLocks noGrp="1"/>
          </p:cNvSpPr>
          <p:nvPr>
            <p:ph type="sldNum" sz="quarter" idx="12"/>
          </p:nvPr>
        </p:nvSpPr>
        <p:spPr/>
        <p:txBody>
          <a:bodyPr/>
          <a:lstStyle/>
          <a:p>
            <a:fld id="{2BC99F66-008B-4912-B721-8943319F59B7}" type="slidenum">
              <a:rPr lang="en-US" altLang="en-US" smtClean="0"/>
              <a:pPr/>
              <a:t>5</a:t>
            </a:fld>
            <a:endParaRPr lang="en-US" altLang="en-US"/>
          </a:p>
        </p:txBody>
      </p:sp>
      <p:sp>
        <p:nvSpPr>
          <p:cNvPr id="5" name="CuadroTexto 4">
            <a:extLst>
              <a:ext uri="{FF2B5EF4-FFF2-40B4-BE49-F238E27FC236}">
                <a16:creationId xmlns:a16="http://schemas.microsoft.com/office/drawing/2014/main" id="{4413F942-9FC6-429F-9268-58A0C1BB5DEA}"/>
              </a:ext>
            </a:extLst>
          </p:cNvPr>
          <p:cNvSpPr txBox="1"/>
          <p:nvPr/>
        </p:nvSpPr>
        <p:spPr>
          <a:xfrm>
            <a:off x="467544" y="404664"/>
            <a:ext cx="6984776" cy="369332"/>
          </a:xfrm>
          <a:prstGeom prst="rect">
            <a:avLst/>
          </a:prstGeom>
          <a:noFill/>
        </p:spPr>
        <p:txBody>
          <a:bodyPr wrap="square" rtlCol="0">
            <a:spAutoFit/>
          </a:bodyPr>
          <a:lstStyle/>
          <a:p>
            <a:r>
              <a:rPr lang="es-ES" b="1" dirty="0"/>
              <a:t>Algunos términos importantes respecto al hardware</a:t>
            </a:r>
          </a:p>
        </p:txBody>
      </p:sp>
      <p:sp>
        <p:nvSpPr>
          <p:cNvPr id="6" name="CuadroTexto 5">
            <a:extLst>
              <a:ext uri="{FF2B5EF4-FFF2-40B4-BE49-F238E27FC236}">
                <a16:creationId xmlns:a16="http://schemas.microsoft.com/office/drawing/2014/main" id="{6CB92D9A-2AF1-4ED6-83D0-30020A271549}"/>
              </a:ext>
            </a:extLst>
          </p:cNvPr>
          <p:cNvSpPr txBox="1"/>
          <p:nvPr/>
        </p:nvSpPr>
        <p:spPr>
          <a:xfrm>
            <a:off x="467544" y="1589891"/>
            <a:ext cx="8136904" cy="1077218"/>
          </a:xfrm>
          <a:prstGeom prst="rect">
            <a:avLst/>
          </a:prstGeom>
          <a:noFill/>
        </p:spPr>
        <p:txBody>
          <a:bodyPr wrap="square" rtlCol="0">
            <a:spAutoFit/>
          </a:bodyPr>
          <a:lstStyle/>
          <a:p>
            <a:pPr marL="285750" indent="-285750">
              <a:buFont typeface="Arial" panose="020B0604020202020204" pitchFamily="34" charset="0"/>
              <a:buChar char="•"/>
            </a:pPr>
            <a:r>
              <a:rPr lang="es-ES" sz="1600" b="1" dirty="0"/>
              <a:t>Core</a:t>
            </a:r>
            <a:r>
              <a:rPr lang="es-ES" sz="1600" dirty="0"/>
              <a:t>:</a:t>
            </a:r>
          </a:p>
          <a:p>
            <a:pPr marL="893763" indent="-893763"/>
            <a:r>
              <a:rPr lang="es-ES" sz="1600" dirty="0"/>
              <a:t>	Unidad de hardware que ejecuta instrucciones. Mas de un “core” en un procesador. Un “core” puede trabajar en una tarea mientras que los otros trabajan en otras tareas.</a:t>
            </a:r>
          </a:p>
        </p:txBody>
      </p:sp>
      <p:sp>
        <p:nvSpPr>
          <p:cNvPr id="7" name="CuadroTexto 6">
            <a:extLst>
              <a:ext uri="{FF2B5EF4-FFF2-40B4-BE49-F238E27FC236}">
                <a16:creationId xmlns:a16="http://schemas.microsoft.com/office/drawing/2014/main" id="{EF5CC6AC-B42D-4DC9-A8CF-E1F06243ACB9}"/>
              </a:ext>
            </a:extLst>
          </p:cNvPr>
          <p:cNvSpPr txBox="1"/>
          <p:nvPr/>
        </p:nvSpPr>
        <p:spPr>
          <a:xfrm>
            <a:off x="467738" y="908720"/>
            <a:ext cx="7992888" cy="584775"/>
          </a:xfrm>
          <a:prstGeom prst="rect">
            <a:avLst/>
          </a:prstGeom>
          <a:noFill/>
        </p:spPr>
        <p:txBody>
          <a:bodyPr wrap="square" rtlCol="0">
            <a:spAutoFit/>
          </a:bodyPr>
          <a:lstStyle/>
          <a:p>
            <a:r>
              <a:rPr lang="es-ES" sz="1600" dirty="0"/>
              <a:t>El hardware moderno es complejo y heterogéneo por lo que es necesario aclarar algunos términos.</a:t>
            </a:r>
          </a:p>
        </p:txBody>
      </p:sp>
      <p:sp>
        <p:nvSpPr>
          <p:cNvPr id="8" name="CuadroTexto 7">
            <a:extLst>
              <a:ext uri="{FF2B5EF4-FFF2-40B4-BE49-F238E27FC236}">
                <a16:creationId xmlns:a16="http://schemas.microsoft.com/office/drawing/2014/main" id="{E4C23FE3-02E1-4848-80BC-C6FF96BD95FA}"/>
              </a:ext>
            </a:extLst>
          </p:cNvPr>
          <p:cNvSpPr txBox="1"/>
          <p:nvPr/>
        </p:nvSpPr>
        <p:spPr>
          <a:xfrm>
            <a:off x="467544" y="2814027"/>
            <a:ext cx="8136904" cy="1077218"/>
          </a:xfrm>
          <a:prstGeom prst="rect">
            <a:avLst/>
          </a:prstGeom>
          <a:noFill/>
        </p:spPr>
        <p:txBody>
          <a:bodyPr wrap="square" rtlCol="0">
            <a:spAutoFit/>
          </a:bodyPr>
          <a:lstStyle/>
          <a:p>
            <a:pPr marL="285750" indent="-285750">
              <a:buFont typeface="Arial" panose="020B0604020202020204" pitchFamily="34" charset="0"/>
              <a:buChar char="•"/>
            </a:pPr>
            <a:r>
              <a:rPr lang="es-ES" sz="1600" b="1" dirty="0"/>
              <a:t>Cache</a:t>
            </a:r>
            <a:r>
              <a:rPr lang="es-ES" sz="1600" dirty="0"/>
              <a:t>:</a:t>
            </a:r>
          </a:p>
          <a:p>
            <a:pPr marL="893763" indent="-893763"/>
            <a:r>
              <a:rPr lang="es-ES" sz="1600" dirty="0"/>
              <a:t>	Un tipo de memoria local a los “cores” y que es mucho mas rápida que el acceso a la memoria principal. Existen varios niveles de cache asociados a cada “core” (L1, L2 y L3) </a:t>
            </a:r>
          </a:p>
        </p:txBody>
      </p:sp>
      <p:sp>
        <p:nvSpPr>
          <p:cNvPr id="9" name="CuadroTexto 8">
            <a:extLst>
              <a:ext uri="{FF2B5EF4-FFF2-40B4-BE49-F238E27FC236}">
                <a16:creationId xmlns:a16="http://schemas.microsoft.com/office/drawing/2014/main" id="{287AE6B9-9698-4BB6-BBF8-CB52D89FAFC8}"/>
              </a:ext>
            </a:extLst>
          </p:cNvPr>
          <p:cNvSpPr txBox="1"/>
          <p:nvPr/>
        </p:nvSpPr>
        <p:spPr>
          <a:xfrm>
            <a:off x="467544" y="3955282"/>
            <a:ext cx="8136904" cy="1569660"/>
          </a:xfrm>
          <a:prstGeom prst="rect">
            <a:avLst/>
          </a:prstGeom>
          <a:noFill/>
        </p:spPr>
        <p:txBody>
          <a:bodyPr wrap="square" rtlCol="0">
            <a:spAutoFit/>
          </a:bodyPr>
          <a:lstStyle/>
          <a:p>
            <a:pPr marL="285750" indent="-285750">
              <a:buFont typeface="Arial" panose="020B0604020202020204" pitchFamily="34" charset="0"/>
              <a:buChar char="•"/>
            </a:pPr>
            <a:r>
              <a:rPr lang="es-ES" sz="1600" b="1" dirty="0"/>
              <a:t>Socket o CPU</a:t>
            </a:r>
            <a:r>
              <a:rPr lang="es-ES" sz="1600" dirty="0"/>
              <a:t>:</a:t>
            </a:r>
          </a:p>
          <a:p>
            <a:pPr marL="893763" indent="-893763"/>
            <a:r>
              <a:rPr lang="es-ES" sz="1600" dirty="0"/>
              <a:t>	Un grupo de cores que comparten algún tipo de localidad, tal como la memoria cache o principal. Esto hace que sea mas eficiente hacer trabajo computacional sobre los cores dentro de un socket que sobre cores en diferentes sockets. Se puede considerar como un sinónimo de chip de procesador.</a:t>
            </a:r>
          </a:p>
        </p:txBody>
      </p:sp>
      <p:sp>
        <p:nvSpPr>
          <p:cNvPr id="10" name="CuadroTexto 9">
            <a:extLst>
              <a:ext uri="{FF2B5EF4-FFF2-40B4-BE49-F238E27FC236}">
                <a16:creationId xmlns:a16="http://schemas.microsoft.com/office/drawing/2014/main" id="{7E71EE3A-7AE3-4801-A21F-B81AE51F6E26}"/>
              </a:ext>
            </a:extLst>
          </p:cNvPr>
          <p:cNvSpPr txBox="1"/>
          <p:nvPr/>
        </p:nvSpPr>
        <p:spPr>
          <a:xfrm>
            <a:off x="395536" y="5345921"/>
            <a:ext cx="8208912" cy="830997"/>
          </a:xfrm>
          <a:prstGeom prst="rect">
            <a:avLst/>
          </a:prstGeom>
          <a:noFill/>
        </p:spPr>
        <p:txBody>
          <a:bodyPr wrap="square" rtlCol="0">
            <a:spAutoFit/>
          </a:bodyPr>
          <a:lstStyle/>
          <a:p>
            <a:pPr marL="285750" indent="-285750">
              <a:buFont typeface="Arial" panose="020B0604020202020204" pitchFamily="34" charset="0"/>
              <a:buChar char="•"/>
            </a:pPr>
            <a:r>
              <a:rPr lang="es-ES" sz="1600" b="1" dirty="0"/>
              <a:t>Nodo</a:t>
            </a:r>
            <a:r>
              <a:rPr lang="es-ES" sz="1600" dirty="0"/>
              <a:t>:</a:t>
            </a:r>
          </a:p>
          <a:p>
            <a:pPr marL="893763" indent="-893763"/>
            <a:r>
              <a:rPr lang="es-ES" sz="1600" dirty="0"/>
              <a:t>	Un grupo de sockets que comparten localidad de grano grueso, tal como la misma memoria sin requerir comunicación en la red. </a:t>
            </a:r>
          </a:p>
        </p:txBody>
      </p:sp>
    </p:spTree>
    <p:extLst>
      <p:ext uri="{BB962C8B-B14F-4D97-AF65-F5344CB8AC3E}">
        <p14:creationId xmlns:p14="http://schemas.microsoft.com/office/powerpoint/2010/main" val="3081751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DB996946-E24D-4028-B9DA-2557DEC1C5E3}"/>
              </a:ext>
            </a:extLst>
          </p:cNvPr>
          <p:cNvSpPr>
            <a:spLocks noGrp="1"/>
          </p:cNvSpPr>
          <p:nvPr>
            <p:ph type="sldNum" sz="quarter" idx="12"/>
          </p:nvPr>
        </p:nvSpPr>
        <p:spPr/>
        <p:txBody>
          <a:bodyPr/>
          <a:lstStyle/>
          <a:p>
            <a:fld id="{2BC99F66-008B-4912-B721-8943319F59B7}" type="slidenum">
              <a:rPr lang="en-US" altLang="en-US" smtClean="0"/>
              <a:pPr/>
              <a:t>6</a:t>
            </a:fld>
            <a:endParaRPr lang="en-US" altLang="en-US"/>
          </a:p>
        </p:txBody>
      </p:sp>
      <p:grpSp>
        <p:nvGrpSpPr>
          <p:cNvPr id="10" name="Grupo 9">
            <a:extLst>
              <a:ext uri="{FF2B5EF4-FFF2-40B4-BE49-F238E27FC236}">
                <a16:creationId xmlns:a16="http://schemas.microsoft.com/office/drawing/2014/main" id="{759988A4-5091-458C-AC75-80D60EF9074F}"/>
              </a:ext>
            </a:extLst>
          </p:cNvPr>
          <p:cNvGrpSpPr/>
          <p:nvPr/>
        </p:nvGrpSpPr>
        <p:grpSpPr>
          <a:xfrm>
            <a:off x="395536" y="980728"/>
            <a:ext cx="8208912" cy="4827072"/>
            <a:chOff x="395536" y="1268760"/>
            <a:chExt cx="8208912" cy="4827072"/>
          </a:xfrm>
        </p:grpSpPr>
        <p:pic>
          <p:nvPicPr>
            <p:cNvPr id="6" name="Imagen 5">
              <a:extLst>
                <a:ext uri="{FF2B5EF4-FFF2-40B4-BE49-F238E27FC236}">
                  <a16:creationId xmlns:a16="http://schemas.microsoft.com/office/drawing/2014/main" id="{BDB6EA57-348B-4044-B8C5-FE3FA95AB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1486792"/>
              <a:ext cx="8208912" cy="4609040"/>
            </a:xfrm>
            <a:prstGeom prst="rect">
              <a:avLst/>
            </a:prstGeom>
          </p:spPr>
        </p:pic>
        <p:sp>
          <p:nvSpPr>
            <p:cNvPr id="7" name="CuadroTexto 6">
              <a:extLst>
                <a:ext uri="{FF2B5EF4-FFF2-40B4-BE49-F238E27FC236}">
                  <a16:creationId xmlns:a16="http://schemas.microsoft.com/office/drawing/2014/main" id="{C786A3F9-4358-4AB3-A5B7-BB36684EDF57}"/>
                </a:ext>
              </a:extLst>
            </p:cNvPr>
            <p:cNvSpPr txBox="1"/>
            <p:nvPr/>
          </p:nvSpPr>
          <p:spPr>
            <a:xfrm>
              <a:off x="2041901" y="1268760"/>
              <a:ext cx="1243775" cy="369332"/>
            </a:xfrm>
            <a:prstGeom prst="rect">
              <a:avLst/>
            </a:prstGeom>
            <a:noFill/>
          </p:spPr>
          <p:txBody>
            <a:bodyPr wrap="square" rtlCol="0">
              <a:spAutoFit/>
            </a:bodyPr>
            <a:lstStyle/>
            <a:p>
              <a:pPr algn="ctr"/>
              <a:r>
                <a:rPr lang="en-US" b="1" dirty="0">
                  <a:solidFill>
                    <a:srgbClr val="585857"/>
                  </a:solidFill>
                </a:rPr>
                <a:t>Socket 0</a:t>
              </a:r>
            </a:p>
          </p:txBody>
        </p:sp>
        <p:sp>
          <p:nvSpPr>
            <p:cNvPr id="9" name="CuadroTexto 8">
              <a:extLst>
                <a:ext uri="{FF2B5EF4-FFF2-40B4-BE49-F238E27FC236}">
                  <a16:creationId xmlns:a16="http://schemas.microsoft.com/office/drawing/2014/main" id="{A906B80D-ED3F-459B-909A-7423842BE02E}"/>
                </a:ext>
              </a:extLst>
            </p:cNvPr>
            <p:cNvSpPr txBox="1"/>
            <p:nvPr/>
          </p:nvSpPr>
          <p:spPr>
            <a:xfrm>
              <a:off x="5868144" y="1277268"/>
              <a:ext cx="1243775" cy="369332"/>
            </a:xfrm>
            <a:prstGeom prst="rect">
              <a:avLst/>
            </a:prstGeom>
            <a:noFill/>
          </p:spPr>
          <p:txBody>
            <a:bodyPr wrap="square" rtlCol="0">
              <a:spAutoFit/>
            </a:bodyPr>
            <a:lstStyle/>
            <a:p>
              <a:pPr algn="ctr"/>
              <a:r>
                <a:rPr lang="en-US" b="1" dirty="0">
                  <a:solidFill>
                    <a:srgbClr val="585857"/>
                  </a:solidFill>
                </a:rPr>
                <a:t>Socket 1</a:t>
              </a:r>
            </a:p>
          </p:txBody>
        </p:sp>
      </p:grpSp>
      <p:sp>
        <p:nvSpPr>
          <p:cNvPr id="11" name="CuadroTexto 10">
            <a:extLst>
              <a:ext uri="{FF2B5EF4-FFF2-40B4-BE49-F238E27FC236}">
                <a16:creationId xmlns:a16="http://schemas.microsoft.com/office/drawing/2014/main" id="{2C548E11-96DB-418C-832B-70C19326E1BF}"/>
              </a:ext>
            </a:extLst>
          </p:cNvPr>
          <p:cNvSpPr txBox="1"/>
          <p:nvPr/>
        </p:nvSpPr>
        <p:spPr>
          <a:xfrm>
            <a:off x="467544" y="404664"/>
            <a:ext cx="6984776" cy="369332"/>
          </a:xfrm>
          <a:prstGeom prst="rect">
            <a:avLst/>
          </a:prstGeom>
          <a:noFill/>
        </p:spPr>
        <p:txBody>
          <a:bodyPr wrap="square" rtlCol="0">
            <a:spAutoFit/>
          </a:bodyPr>
          <a:lstStyle/>
          <a:p>
            <a:r>
              <a:rPr lang="es-ES" b="1" dirty="0"/>
              <a:t>Algunos términos importantes respecto al hardware</a:t>
            </a:r>
          </a:p>
        </p:txBody>
      </p:sp>
    </p:spTree>
    <p:extLst>
      <p:ext uri="{BB962C8B-B14F-4D97-AF65-F5344CB8AC3E}">
        <p14:creationId xmlns:p14="http://schemas.microsoft.com/office/powerpoint/2010/main" val="3722281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073894A-4EC1-4AF9-B7B9-A78693945B58}"/>
              </a:ext>
            </a:extLst>
          </p:cNvPr>
          <p:cNvSpPr>
            <a:spLocks noGrp="1"/>
          </p:cNvSpPr>
          <p:nvPr>
            <p:ph type="sldNum" sz="quarter" idx="12"/>
          </p:nvPr>
        </p:nvSpPr>
        <p:spPr/>
        <p:txBody>
          <a:bodyPr/>
          <a:lstStyle/>
          <a:p>
            <a:fld id="{2BC99F66-008B-4912-B721-8943319F59B7}" type="slidenum">
              <a:rPr lang="en-US" altLang="en-US" smtClean="0"/>
              <a:pPr/>
              <a:t>7</a:t>
            </a:fld>
            <a:endParaRPr lang="en-US" altLang="en-US"/>
          </a:p>
        </p:txBody>
      </p:sp>
      <p:sp>
        <p:nvSpPr>
          <p:cNvPr id="5" name="CuadroTexto 4">
            <a:extLst>
              <a:ext uri="{FF2B5EF4-FFF2-40B4-BE49-F238E27FC236}">
                <a16:creationId xmlns:a16="http://schemas.microsoft.com/office/drawing/2014/main" id="{8BE5A9CB-DD32-4FE1-8C48-07AEBCC3FA9C}"/>
              </a:ext>
            </a:extLst>
          </p:cNvPr>
          <p:cNvSpPr txBox="1"/>
          <p:nvPr/>
        </p:nvSpPr>
        <p:spPr>
          <a:xfrm>
            <a:off x="467544" y="404664"/>
            <a:ext cx="6984776" cy="369332"/>
          </a:xfrm>
          <a:prstGeom prst="rect">
            <a:avLst/>
          </a:prstGeom>
          <a:noFill/>
        </p:spPr>
        <p:txBody>
          <a:bodyPr wrap="square" rtlCol="0">
            <a:spAutoFit/>
          </a:bodyPr>
          <a:lstStyle/>
          <a:p>
            <a:r>
              <a:rPr lang="es-ES" b="1" dirty="0"/>
              <a:t>Algunos términos importantes respecto al hardware</a:t>
            </a:r>
          </a:p>
        </p:txBody>
      </p:sp>
      <p:sp>
        <p:nvSpPr>
          <p:cNvPr id="6" name="CuadroTexto 5">
            <a:extLst>
              <a:ext uri="{FF2B5EF4-FFF2-40B4-BE49-F238E27FC236}">
                <a16:creationId xmlns:a16="http://schemas.microsoft.com/office/drawing/2014/main" id="{85ED2E46-A216-4391-8C61-968A17173B59}"/>
              </a:ext>
            </a:extLst>
          </p:cNvPr>
          <p:cNvSpPr txBox="1"/>
          <p:nvPr/>
        </p:nvSpPr>
        <p:spPr>
          <a:xfrm>
            <a:off x="503548" y="908483"/>
            <a:ext cx="8136904" cy="3046988"/>
          </a:xfrm>
          <a:prstGeom prst="rect">
            <a:avLst/>
          </a:prstGeom>
          <a:noFill/>
        </p:spPr>
        <p:txBody>
          <a:bodyPr wrap="square" rtlCol="0">
            <a:spAutoFit/>
          </a:bodyPr>
          <a:lstStyle/>
          <a:p>
            <a:pPr marL="285750" indent="-285750">
              <a:buFont typeface="Arial" panose="020B0604020202020204" pitchFamily="34" charset="0"/>
              <a:buChar char="•"/>
            </a:pPr>
            <a:r>
              <a:rPr lang="es-ES" sz="1600" b="1" dirty="0"/>
              <a:t>Hilos (</a:t>
            </a:r>
            <a:r>
              <a:rPr lang="es-ES" sz="1600" b="1" dirty="0" err="1"/>
              <a:t>threads</a:t>
            </a:r>
            <a:r>
              <a:rPr lang="es-ES" sz="1600" b="1" dirty="0"/>
              <a:t>) versus núcleos (core)</a:t>
            </a:r>
            <a:r>
              <a:rPr lang="es-ES" sz="1600" dirty="0"/>
              <a:t>:</a:t>
            </a:r>
          </a:p>
          <a:p>
            <a:pPr defTabSz="539750"/>
            <a:endParaRPr lang="es-ES" sz="1600" dirty="0"/>
          </a:p>
          <a:p>
            <a:pPr marL="452438" indent="-452438" algn="just" defTabSz="539750"/>
            <a:r>
              <a:rPr lang="es-ES" sz="1600" dirty="0"/>
              <a:t>	Un núcleo (core) es una unidad física dentro de una CPU (socket). Se pueden ejecutar instrucciones de forma independiente a otros núcleos. </a:t>
            </a:r>
          </a:p>
          <a:p>
            <a:pPr marL="893763" indent="-893763" algn="just" defTabSz="539750"/>
            <a:endParaRPr lang="es-ES" sz="1600" dirty="0"/>
          </a:p>
          <a:p>
            <a:pPr marL="452438" indent="-452438" algn="just" defTabSz="539750"/>
            <a:r>
              <a:rPr lang="es-ES" sz="1600" dirty="0"/>
              <a:t>	Un hilo (</a:t>
            </a:r>
            <a:r>
              <a:rPr lang="es-ES" sz="1600" dirty="0" err="1"/>
              <a:t>thread</a:t>
            </a:r>
            <a:r>
              <a:rPr lang="es-ES" sz="1600" dirty="0"/>
              <a:t>) es una unidad lógica (virtual) de software que puede ejecutarse en un núcleo. El termino multihilo (“multithreading”) se aplica cuando varios hilos se ejecutan de forma simultanea en un núcleo.</a:t>
            </a:r>
          </a:p>
          <a:p>
            <a:pPr marL="452438" indent="-452438" algn="just" defTabSz="539750"/>
            <a:endParaRPr lang="es-ES" sz="1600" dirty="0"/>
          </a:p>
          <a:p>
            <a:pPr marL="452438" indent="-452438" algn="just" defTabSz="539750"/>
            <a:r>
              <a:rPr lang="es-ES" sz="1600" dirty="0"/>
              <a:t>	Por lo general, no es posible aumentar el numero de núcleos, mientras que el multithreading se puede encender o apagar por los administradores. En DRAGO el multithreading no esta activo por defecto.</a:t>
            </a:r>
          </a:p>
        </p:txBody>
      </p:sp>
      <p:pic>
        <p:nvPicPr>
          <p:cNvPr id="8" name="Imagen 7">
            <a:extLst>
              <a:ext uri="{FF2B5EF4-FFF2-40B4-BE49-F238E27FC236}">
                <a16:creationId xmlns:a16="http://schemas.microsoft.com/office/drawing/2014/main" id="{FC727C2D-AB85-4DC1-9531-3030FED7C6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783" y="4089958"/>
            <a:ext cx="3200434" cy="2610880"/>
          </a:xfrm>
          <a:prstGeom prst="rect">
            <a:avLst/>
          </a:prstGeom>
        </p:spPr>
      </p:pic>
    </p:spTree>
    <p:extLst>
      <p:ext uri="{BB962C8B-B14F-4D97-AF65-F5344CB8AC3E}">
        <p14:creationId xmlns:p14="http://schemas.microsoft.com/office/powerpoint/2010/main" val="3663922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CF0470E-5D17-4176-9FDC-4A6A4A8AC4D0}"/>
              </a:ext>
            </a:extLst>
          </p:cNvPr>
          <p:cNvSpPr>
            <a:spLocks noGrp="1"/>
          </p:cNvSpPr>
          <p:nvPr>
            <p:ph type="sldNum" sz="quarter" idx="12"/>
          </p:nvPr>
        </p:nvSpPr>
        <p:spPr/>
        <p:txBody>
          <a:bodyPr/>
          <a:lstStyle/>
          <a:p>
            <a:fld id="{2BC99F66-008B-4912-B721-8943319F59B7}" type="slidenum">
              <a:rPr lang="en-US" altLang="en-US" smtClean="0"/>
              <a:pPr/>
              <a:t>8</a:t>
            </a:fld>
            <a:endParaRPr lang="en-US" altLang="en-US"/>
          </a:p>
        </p:txBody>
      </p:sp>
      <p:pic>
        <p:nvPicPr>
          <p:cNvPr id="7" name="Imagen 6">
            <a:extLst>
              <a:ext uri="{FF2B5EF4-FFF2-40B4-BE49-F238E27FC236}">
                <a16:creationId xmlns:a16="http://schemas.microsoft.com/office/drawing/2014/main" id="{8F50C5EE-74DC-40BD-9CE6-08B0C8383A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376" y="1268760"/>
            <a:ext cx="8369424" cy="3989165"/>
          </a:xfrm>
          <a:prstGeom prst="rect">
            <a:avLst/>
          </a:prstGeom>
        </p:spPr>
      </p:pic>
      <p:sp>
        <p:nvSpPr>
          <p:cNvPr id="8" name="CuadroTexto 7">
            <a:extLst>
              <a:ext uri="{FF2B5EF4-FFF2-40B4-BE49-F238E27FC236}">
                <a16:creationId xmlns:a16="http://schemas.microsoft.com/office/drawing/2014/main" id="{76C33A0C-02CA-4641-A824-B19389E6733B}"/>
              </a:ext>
            </a:extLst>
          </p:cNvPr>
          <p:cNvSpPr txBox="1"/>
          <p:nvPr/>
        </p:nvSpPr>
        <p:spPr>
          <a:xfrm>
            <a:off x="901688" y="332656"/>
            <a:ext cx="7200800" cy="369332"/>
          </a:xfrm>
          <a:prstGeom prst="rect">
            <a:avLst/>
          </a:prstGeom>
          <a:noFill/>
        </p:spPr>
        <p:txBody>
          <a:bodyPr wrap="square" rtlCol="0">
            <a:spAutoFit/>
          </a:bodyPr>
          <a:lstStyle/>
          <a:p>
            <a:pPr algn="ctr"/>
            <a:r>
              <a:rPr lang="es-ES" b="1" dirty="0">
                <a:solidFill>
                  <a:srgbClr val="0F0FFF"/>
                </a:solidFill>
              </a:rPr>
              <a:t>Nodo en Drago CPU (Dual Xeon Gold 6248R @ 3GHz 24cores)</a:t>
            </a:r>
            <a:endParaRPr lang="es-ES" dirty="0">
              <a:solidFill>
                <a:srgbClr val="0F0FFF"/>
              </a:solidFill>
            </a:endParaRPr>
          </a:p>
        </p:txBody>
      </p:sp>
    </p:spTree>
    <p:extLst>
      <p:ext uri="{BB962C8B-B14F-4D97-AF65-F5344CB8AC3E}">
        <p14:creationId xmlns:p14="http://schemas.microsoft.com/office/powerpoint/2010/main" val="358684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C217833-0B88-4DE5-A658-F0742B7D5345}"/>
              </a:ext>
            </a:extLst>
          </p:cNvPr>
          <p:cNvSpPr>
            <a:spLocks noGrp="1"/>
          </p:cNvSpPr>
          <p:nvPr>
            <p:ph type="sldNum" sz="quarter" idx="12"/>
          </p:nvPr>
        </p:nvSpPr>
        <p:spPr/>
        <p:txBody>
          <a:bodyPr/>
          <a:lstStyle/>
          <a:p>
            <a:fld id="{2BC99F66-008B-4912-B721-8943319F59B7}" type="slidenum">
              <a:rPr lang="en-US" altLang="en-US" smtClean="0"/>
              <a:pPr/>
              <a:t>9</a:t>
            </a:fld>
            <a:endParaRPr lang="en-US" altLang="en-US"/>
          </a:p>
        </p:txBody>
      </p:sp>
      <p:sp>
        <p:nvSpPr>
          <p:cNvPr id="6" name="CuadroTexto 5">
            <a:extLst>
              <a:ext uri="{FF2B5EF4-FFF2-40B4-BE49-F238E27FC236}">
                <a16:creationId xmlns:a16="http://schemas.microsoft.com/office/drawing/2014/main" id="{2BAA3D98-1BBD-47B9-BCC0-47BDB6FD2F60}"/>
              </a:ext>
            </a:extLst>
          </p:cNvPr>
          <p:cNvSpPr txBox="1"/>
          <p:nvPr/>
        </p:nvSpPr>
        <p:spPr>
          <a:xfrm>
            <a:off x="971600" y="332656"/>
            <a:ext cx="7632848" cy="369332"/>
          </a:xfrm>
          <a:prstGeom prst="rect">
            <a:avLst/>
          </a:prstGeom>
          <a:noFill/>
        </p:spPr>
        <p:txBody>
          <a:bodyPr wrap="square" rtlCol="0">
            <a:spAutoFit/>
          </a:bodyPr>
          <a:lstStyle/>
          <a:p>
            <a:pPr algn="ctr"/>
            <a:r>
              <a:rPr lang="es-ES" b="1" dirty="0">
                <a:solidFill>
                  <a:srgbClr val="0F0FFF"/>
                </a:solidFill>
              </a:rPr>
              <a:t>Nodo en Drago GPU A100 (Dual Xeon Gold 6330R @ 2GHz 28cores)</a:t>
            </a:r>
            <a:endParaRPr lang="es-ES" dirty="0">
              <a:solidFill>
                <a:srgbClr val="0F0FFF"/>
              </a:solidFill>
            </a:endParaRPr>
          </a:p>
        </p:txBody>
      </p:sp>
      <p:pic>
        <p:nvPicPr>
          <p:cNvPr id="8" name="Imagen 7">
            <a:extLst>
              <a:ext uri="{FF2B5EF4-FFF2-40B4-BE49-F238E27FC236}">
                <a16:creationId xmlns:a16="http://schemas.microsoft.com/office/drawing/2014/main" id="{1806B74C-651D-4431-99DF-AF49F1119A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04000" y="722576"/>
            <a:ext cx="4536000" cy="3024000"/>
          </a:xfrm>
          <a:prstGeom prst="rect">
            <a:avLst/>
          </a:prstGeom>
        </p:spPr>
      </p:pic>
      <p:cxnSp>
        <p:nvCxnSpPr>
          <p:cNvPr id="10" name="Conector recto de flecha 9">
            <a:extLst>
              <a:ext uri="{FF2B5EF4-FFF2-40B4-BE49-F238E27FC236}">
                <a16:creationId xmlns:a16="http://schemas.microsoft.com/office/drawing/2014/main" id="{9E568698-CA9A-41C4-83BD-C50355955A37}"/>
              </a:ext>
            </a:extLst>
          </p:cNvPr>
          <p:cNvCxnSpPr>
            <a:cxnSpLocks/>
          </p:cNvCxnSpPr>
          <p:nvPr/>
        </p:nvCxnSpPr>
        <p:spPr>
          <a:xfrm>
            <a:off x="6326843" y="3199050"/>
            <a:ext cx="329453" cy="4773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 name="Imagen 11">
            <a:extLst>
              <a:ext uri="{FF2B5EF4-FFF2-40B4-BE49-F238E27FC236}">
                <a16:creationId xmlns:a16="http://schemas.microsoft.com/office/drawing/2014/main" id="{C0E7D80C-2A5E-4E7B-8DCA-B8DD0FBDC5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6695" y="3856209"/>
            <a:ext cx="2866902" cy="2272859"/>
          </a:xfrm>
          <a:prstGeom prst="rect">
            <a:avLst/>
          </a:prstGeom>
        </p:spPr>
      </p:pic>
      <p:pic>
        <p:nvPicPr>
          <p:cNvPr id="14" name="Imagen 13">
            <a:extLst>
              <a:ext uri="{FF2B5EF4-FFF2-40B4-BE49-F238E27FC236}">
                <a16:creationId xmlns:a16="http://schemas.microsoft.com/office/drawing/2014/main" id="{2DE9CC98-8888-40CD-81A9-9495B3D9E3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9746" y="3588552"/>
            <a:ext cx="3985676" cy="3024000"/>
          </a:xfrm>
          <a:prstGeom prst="rect">
            <a:avLst/>
          </a:prstGeom>
        </p:spPr>
      </p:pic>
      <p:cxnSp>
        <p:nvCxnSpPr>
          <p:cNvPr id="9" name="Conector recto de flecha 8">
            <a:extLst>
              <a:ext uri="{FF2B5EF4-FFF2-40B4-BE49-F238E27FC236}">
                <a16:creationId xmlns:a16="http://schemas.microsoft.com/office/drawing/2014/main" id="{F1C6734D-C1E4-489E-9AA3-1774C4123D9E}"/>
              </a:ext>
            </a:extLst>
          </p:cNvPr>
          <p:cNvCxnSpPr>
            <a:cxnSpLocks/>
          </p:cNvCxnSpPr>
          <p:nvPr/>
        </p:nvCxnSpPr>
        <p:spPr>
          <a:xfrm flipH="1">
            <a:off x="2468370" y="3200401"/>
            <a:ext cx="348789" cy="4052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 name="Imagen 14">
            <a:extLst>
              <a:ext uri="{FF2B5EF4-FFF2-40B4-BE49-F238E27FC236}">
                <a16:creationId xmlns:a16="http://schemas.microsoft.com/office/drawing/2014/main" id="{791010E2-BE7F-45A1-A4F4-DDBF92CE631C}"/>
              </a:ext>
            </a:extLst>
          </p:cNvPr>
          <p:cNvPicPr>
            <a:picLocks noChangeAspect="1"/>
          </p:cNvPicPr>
          <p:nvPr/>
        </p:nvPicPr>
        <p:blipFill>
          <a:blip r:embed="rId5">
            <a:lum/>
            <a:alphaModFix/>
          </a:blip>
          <a:srcRect/>
          <a:stretch>
            <a:fillRect/>
          </a:stretch>
        </p:blipFill>
        <p:spPr>
          <a:xfrm>
            <a:off x="7220049" y="1052736"/>
            <a:ext cx="1147928" cy="645810"/>
          </a:xfrm>
          <a:prstGeom prst="rect">
            <a:avLst/>
          </a:prstGeom>
          <a:noFill/>
          <a:ln>
            <a:noFill/>
          </a:ln>
        </p:spPr>
      </p:pic>
      <p:sp>
        <p:nvSpPr>
          <p:cNvPr id="16" name="CuadroTexto 15">
            <a:extLst>
              <a:ext uri="{FF2B5EF4-FFF2-40B4-BE49-F238E27FC236}">
                <a16:creationId xmlns:a16="http://schemas.microsoft.com/office/drawing/2014/main" id="{5C837C9B-2AC3-4F1B-BAAD-A7E6DE332972}"/>
              </a:ext>
            </a:extLst>
          </p:cNvPr>
          <p:cNvSpPr txBox="1"/>
          <p:nvPr/>
        </p:nvSpPr>
        <p:spPr>
          <a:xfrm>
            <a:off x="7255897" y="1719338"/>
            <a:ext cx="1071736" cy="369332"/>
          </a:xfrm>
          <a:prstGeom prst="rect">
            <a:avLst/>
          </a:prstGeom>
          <a:noFill/>
        </p:spPr>
        <p:txBody>
          <a:bodyPr wrap="square" rtlCol="0">
            <a:spAutoFit/>
          </a:bodyPr>
          <a:lstStyle/>
          <a:p>
            <a:pPr algn="ctr"/>
            <a:r>
              <a:rPr lang="es-ES" b="1" dirty="0">
                <a:solidFill>
                  <a:srgbClr val="0F0FFF"/>
                </a:solidFill>
              </a:rPr>
              <a:t>A100</a:t>
            </a:r>
            <a:endParaRPr lang="es-ES" dirty="0">
              <a:solidFill>
                <a:srgbClr val="0F0FFF"/>
              </a:solidFill>
            </a:endParaRPr>
          </a:p>
        </p:txBody>
      </p:sp>
    </p:spTree>
    <p:extLst>
      <p:ext uri="{BB962C8B-B14F-4D97-AF65-F5344CB8AC3E}">
        <p14:creationId xmlns:p14="http://schemas.microsoft.com/office/powerpoint/2010/main" val="4165022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BE83C53-4096-4F8B-92E2-10599A1C4A2C}"/>
              </a:ext>
            </a:extLst>
          </p:cNvPr>
          <p:cNvSpPr>
            <a:spLocks noGrp="1"/>
          </p:cNvSpPr>
          <p:nvPr>
            <p:ph type="sldNum" sz="quarter" idx="12"/>
          </p:nvPr>
        </p:nvSpPr>
        <p:spPr/>
        <p:txBody>
          <a:bodyPr/>
          <a:lstStyle/>
          <a:p>
            <a:fld id="{2BC99F66-008B-4912-B721-8943319F59B7}" type="slidenum">
              <a:rPr lang="en-US" altLang="en-US" smtClean="0"/>
              <a:pPr/>
              <a:t>10</a:t>
            </a:fld>
            <a:endParaRPr lang="en-US" altLang="en-US"/>
          </a:p>
        </p:txBody>
      </p:sp>
      <p:pic>
        <p:nvPicPr>
          <p:cNvPr id="8" name="Imagen 7">
            <a:extLst>
              <a:ext uri="{FF2B5EF4-FFF2-40B4-BE49-F238E27FC236}">
                <a16:creationId xmlns:a16="http://schemas.microsoft.com/office/drawing/2014/main" id="{7E3DA2C5-64AC-4E54-AF71-6FCB27D7E0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3881320"/>
            <a:ext cx="4113827" cy="2906188"/>
          </a:xfrm>
          <a:prstGeom prst="rect">
            <a:avLst/>
          </a:prstGeom>
        </p:spPr>
      </p:pic>
      <p:pic>
        <p:nvPicPr>
          <p:cNvPr id="10" name="Imagen 9">
            <a:extLst>
              <a:ext uri="{FF2B5EF4-FFF2-40B4-BE49-F238E27FC236}">
                <a16:creationId xmlns:a16="http://schemas.microsoft.com/office/drawing/2014/main" id="{1C7B5FA2-F500-453A-BF57-E8F5FC9FD1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6328" y="4129131"/>
            <a:ext cx="2664296" cy="2098692"/>
          </a:xfrm>
          <a:prstGeom prst="rect">
            <a:avLst/>
          </a:prstGeom>
        </p:spPr>
      </p:pic>
      <p:pic>
        <p:nvPicPr>
          <p:cNvPr id="14" name="Imagen 13">
            <a:extLst>
              <a:ext uri="{FF2B5EF4-FFF2-40B4-BE49-F238E27FC236}">
                <a16:creationId xmlns:a16="http://schemas.microsoft.com/office/drawing/2014/main" id="{B4F2B095-31DF-423F-B5FB-5BCFA9DC24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95736" y="698398"/>
            <a:ext cx="4968552" cy="3312368"/>
          </a:xfrm>
          <a:prstGeom prst="rect">
            <a:avLst/>
          </a:prstGeom>
        </p:spPr>
      </p:pic>
      <p:cxnSp>
        <p:nvCxnSpPr>
          <p:cNvPr id="16" name="Conector recto de flecha 15">
            <a:extLst>
              <a:ext uri="{FF2B5EF4-FFF2-40B4-BE49-F238E27FC236}">
                <a16:creationId xmlns:a16="http://schemas.microsoft.com/office/drawing/2014/main" id="{B6213C5B-F9BC-4054-B595-FF5F85EFF0F7}"/>
              </a:ext>
            </a:extLst>
          </p:cNvPr>
          <p:cNvCxnSpPr>
            <a:cxnSpLocks/>
          </p:cNvCxnSpPr>
          <p:nvPr/>
        </p:nvCxnSpPr>
        <p:spPr>
          <a:xfrm flipH="1">
            <a:off x="2139975" y="3435609"/>
            <a:ext cx="348789" cy="4052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A7AD829E-B6FA-40FC-A628-047715445E48}"/>
              </a:ext>
            </a:extLst>
          </p:cNvPr>
          <p:cNvCxnSpPr>
            <a:cxnSpLocks/>
          </p:cNvCxnSpPr>
          <p:nvPr/>
        </p:nvCxnSpPr>
        <p:spPr>
          <a:xfrm>
            <a:off x="6790765" y="3509682"/>
            <a:ext cx="329453" cy="4773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Imagen 23">
            <a:extLst>
              <a:ext uri="{FF2B5EF4-FFF2-40B4-BE49-F238E27FC236}">
                <a16:creationId xmlns:a16="http://schemas.microsoft.com/office/drawing/2014/main" id="{7F48DCAD-1C58-4B36-A318-E8E85FAC2183}"/>
              </a:ext>
            </a:extLst>
          </p:cNvPr>
          <p:cNvPicPr>
            <a:picLocks noChangeAspect="1"/>
          </p:cNvPicPr>
          <p:nvPr/>
        </p:nvPicPr>
        <p:blipFill>
          <a:blip r:embed="rId5">
            <a:lum/>
            <a:alphaModFix/>
          </a:blip>
          <a:srcRect/>
          <a:stretch>
            <a:fillRect/>
          </a:stretch>
        </p:blipFill>
        <p:spPr>
          <a:xfrm>
            <a:off x="7220049" y="1052736"/>
            <a:ext cx="1147928" cy="645810"/>
          </a:xfrm>
          <a:prstGeom prst="rect">
            <a:avLst/>
          </a:prstGeom>
          <a:noFill/>
          <a:ln>
            <a:noFill/>
          </a:ln>
        </p:spPr>
      </p:pic>
      <p:sp>
        <p:nvSpPr>
          <p:cNvPr id="25" name="CuadroTexto 24">
            <a:extLst>
              <a:ext uri="{FF2B5EF4-FFF2-40B4-BE49-F238E27FC236}">
                <a16:creationId xmlns:a16="http://schemas.microsoft.com/office/drawing/2014/main" id="{BAE3D764-523F-405E-9A23-628FA7402E4F}"/>
              </a:ext>
            </a:extLst>
          </p:cNvPr>
          <p:cNvSpPr txBox="1"/>
          <p:nvPr/>
        </p:nvSpPr>
        <p:spPr>
          <a:xfrm>
            <a:off x="7255897" y="1719338"/>
            <a:ext cx="1071736" cy="369332"/>
          </a:xfrm>
          <a:prstGeom prst="rect">
            <a:avLst/>
          </a:prstGeom>
          <a:noFill/>
        </p:spPr>
        <p:txBody>
          <a:bodyPr wrap="square" rtlCol="0">
            <a:spAutoFit/>
          </a:bodyPr>
          <a:lstStyle/>
          <a:p>
            <a:pPr algn="ctr"/>
            <a:r>
              <a:rPr lang="es-ES" b="1" dirty="0">
                <a:solidFill>
                  <a:srgbClr val="0F0FFF"/>
                </a:solidFill>
              </a:rPr>
              <a:t>H200</a:t>
            </a:r>
            <a:endParaRPr lang="es-ES" dirty="0">
              <a:solidFill>
                <a:srgbClr val="0F0FFF"/>
              </a:solidFill>
            </a:endParaRPr>
          </a:p>
        </p:txBody>
      </p:sp>
      <p:sp>
        <p:nvSpPr>
          <p:cNvPr id="26" name="CuadroTexto 25">
            <a:extLst>
              <a:ext uri="{FF2B5EF4-FFF2-40B4-BE49-F238E27FC236}">
                <a16:creationId xmlns:a16="http://schemas.microsoft.com/office/drawing/2014/main" id="{2B98ACEF-0033-4C4F-BE9F-29C96D9CC90E}"/>
              </a:ext>
            </a:extLst>
          </p:cNvPr>
          <p:cNvSpPr txBox="1"/>
          <p:nvPr/>
        </p:nvSpPr>
        <p:spPr>
          <a:xfrm>
            <a:off x="971600" y="332656"/>
            <a:ext cx="7632848" cy="369332"/>
          </a:xfrm>
          <a:prstGeom prst="rect">
            <a:avLst/>
          </a:prstGeom>
          <a:noFill/>
        </p:spPr>
        <p:txBody>
          <a:bodyPr wrap="square" rtlCol="0">
            <a:spAutoFit/>
          </a:bodyPr>
          <a:lstStyle/>
          <a:p>
            <a:pPr algn="ctr"/>
            <a:r>
              <a:rPr lang="es-ES" b="1" dirty="0">
                <a:solidFill>
                  <a:srgbClr val="0F0FFF"/>
                </a:solidFill>
              </a:rPr>
              <a:t>Nodo en Drago GPU H200 (Dual Xeon </a:t>
            </a:r>
            <a:r>
              <a:rPr lang="es-ES" b="1" dirty="0" err="1">
                <a:solidFill>
                  <a:srgbClr val="0F0FFF"/>
                </a:solidFill>
              </a:rPr>
              <a:t>Platinum</a:t>
            </a:r>
            <a:r>
              <a:rPr lang="es-ES" b="1" dirty="0">
                <a:solidFill>
                  <a:srgbClr val="0F0FFF"/>
                </a:solidFill>
              </a:rPr>
              <a:t> 8558 48cores)</a:t>
            </a:r>
            <a:endParaRPr lang="es-ES" dirty="0">
              <a:solidFill>
                <a:srgbClr val="0F0FFF"/>
              </a:solidFill>
            </a:endParaRPr>
          </a:p>
        </p:txBody>
      </p:sp>
    </p:spTree>
    <p:extLst>
      <p:ext uri="{BB962C8B-B14F-4D97-AF65-F5344CB8AC3E}">
        <p14:creationId xmlns:p14="http://schemas.microsoft.com/office/powerpoint/2010/main" val="1588031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B7C4866-FF2D-44EB-9A79-51F38D3F87CA}"/>
              </a:ext>
            </a:extLst>
          </p:cNvPr>
          <p:cNvSpPr>
            <a:spLocks noGrp="1"/>
          </p:cNvSpPr>
          <p:nvPr>
            <p:ph type="sldNum" sz="quarter" idx="12"/>
          </p:nvPr>
        </p:nvSpPr>
        <p:spPr/>
        <p:txBody>
          <a:bodyPr/>
          <a:lstStyle/>
          <a:p>
            <a:fld id="{2BC99F66-008B-4912-B721-8943319F59B7}" type="slidenum">
              <a:rPr lang="en-US" altLang="en-US" smtClean="0"/>
              <a:pPr/>
              <a:t>11</a:t>
            </a:fld>
            <a:endParaRPr lang="en-US" altLang="en-US"/>
          </a:p>
        </p:txBody>
      </p:sp>
      <p:sp>
        <p:nvSpPr>
          <p:cNvPr id="5" name="CuadroTexto 4">
            <a:extLst>
              <a:ext uri="{FF2B5EF4-FFF2-40B4-BE49-F238E27FC236}">
                <a16:creationId xmlns:a16="http://schemas.microsoft.com/office/drawing/2014/main" id="{1DA182EE-1D78-4A61-B489-ABFDEBDFF42D}"/>
              </a:ext>
            </a:extLst>
          </p:cNvPr>
          <p:cNvSpPr txBox="1"/>
          <p:nvPr/>
        </p:nvSpPr>
        <p:spPr>
          <a:xfrm>
            <a:off x="1115616" y="260845"/>
            <a:ext cx="6799904" cy="369332"/>
          </a:xfrm>
          <a:prstGeom prst="rect">
            <a:avLst/>
          </a:prstGeom>
          <a:noFill/>
        </p:spPr>
        <p:txBody>
          <a:bodyPr wrap="square" rtlCol="0">
            <a:spAutoFit/>
          </a:bodyPr>
          <a:lstStyle/>
          <a:p>
            <a:pPr algn="ctr"/>
            <a:r>
              <a:rPr lang="es-ES" b="1" dirty="0" err="1">
                <a:solidFill>
                  <a:srgbClr val="0F0FFF"/>
                </a:solidFill>
              </a:rPr>
              <a:t>Fat</a:t>
            </a:r>
            <a:r>
              <a:rPr lang="es-ES" b="1" dirty="0">
                <a:solidFill>
                  <a:srgbClr val="0F0FFF"/>
                </a:solidFill>
              </a:rPr>
              <a:t> </a:t>
            </a:r>
            <a:r>
              <a:rPr lang="es-ES" b="1" dirty="0" err="1">
                <a:solidFill>
                  <a:srgbClr val="0F0FFF"/>
                </a:solidFill>
              </a:rPr>
              <a:t>Nodes</a:t>
            </a:r>
            <a:r>
              <a:rPr lang="es-ES" b="1" dirty="0">
                <a:solidFill>
                  <a:srgbClr val="0F0FFF"/>
                </a:solidFill>
              </a:rPr>
              <a:t> (Dual Xeon </a:t>
            </a:r>
            <a:r>
              <a:rPr lang="es-ES" b="1" dirty="0" err="1">
                <a:solidFill>
                  <a:srgbClr val="0F0FFF"/>
                </a:solidFill>
              </a:rPr>
              <a:t>Platinum</a:t>
            </a:r>
            <a:r>
              <a:rPr lang="es-ES" b="1" dirty="0">
                <a:solidFill>
                  <a:srgbClr val="0F0FFF"/>
                </a:solidFill>
              </a:rPr>
              <a:t> 8558 48cores)</a:t>
            </a:r>
          </a:p>
        </p:txBody>
      </p:sp>
      <p:pic>
        <p:nvPicPr>
          <p:cNvPr id="7" name="Imagen 6">
            <a:extLst>
              <a:ext uri="{FF2B5EF4-FFF2-40B4-BE49-F238E27FC236}">
                <a16:creationId xmlns:a16="http://schemas.microsoft.com/office/drawing/2014/main" id="{013C68BF-6F5F-403B-BD88-B42C76CA48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630177"/>
            <a:ext cx="6091215" cy="3672408"/>
          </a:xfrm>
          <a:prstGeom prst="rect">
            <a:avLst/>
          </a:prstGeom>
        </p:spPr>
      </p:pic>
      <p:pic>
        <p:nvPicPr>
          <p:cNvPr id="9" name="Imagen 8">
            <a:extLst>
              <a:ext uri="{FF2B5EF4-FFF2-40B4-BE49-F238E27FC236}">
                <a16:creationId xmlns:a16="http://schemas.microsoft.com/office/drawing/2014/main" id="{CD00591E-76C7-48B3-8B02-A3D44A6FE5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4302585"/>
            <a:ext cx="4320480" cy="2168423"/>
          </a:xfrm>
          <a:prstGeom prst="rect">
            <a:avLst/>
          </a:prstGeom>
        </p:spPr>
      </p:pic>
    </p:spTree>
    <p:extLst>
      <p:ext uri="{BB962C8B-B14F-4D97-AF65-F5344CB8AC3E}">
        <p14:creationId xmlns:p14="http://schemas.microsoft.com/office/powerpoint/2010/main" val="3568644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111BC6B-41C5-4D93-972C-1279668CE9EB}"/>
              </a:ext>
            </a:extLst>
          </p:cNvPr>
          <p:cNvSpPr>
            <a:spLocks noGrp="1"/>
          </p:cNvSpPr>
          <p:nvPr>
            <p:ph type="sldNum" sz="quarter" idx="12"/>
          </p:nvPr>
        </p:nvSpPr>
        <p:spPr/>
        <p:txBody>
          <a:bodyPr/>
          <a:lstStyle/>
          <a:p>
            <a:fld id="{2BC99F66-008B-4912-B721-8943319F59B7}" type="slidenum">
              <a:rPr lang="en-US" altLang="en-US" smtClean="0"/>
              <a:pPr/>
              <a:t>12</a:t>
            </a:fld>
            <a:endParaRPr lang="en-US" altLang="en-US"/>
          </a:p>
        </p:txBody>
      </p:sp>
      <p:sp>
        <p:nvSpPr>
          <p:cNvPr id="5" name="CuadroTexto 4">
            <a:extLst>
              <a:ext uri="{FF2B5EF4-FFF2-40B4-BE49-F238E27FC236}">
                <a16:creationId xmlns:a16="http://schemas.microsoft.com/office/drawing/2014/main" id="{A65CB033-29EA-46EA-821F-D6402A2DDF28}"/>
              </a:ext>
            </a:extLst>
          </p:cNvPr>
          <p:cNvSpPr txBox="1"/>
          <p:nvPr/>
        </p:nvSpPr>
        <p:spPr>
          <a:xfrm>
            <a:off x="395536" y="323364"/>
            <a:ext cx="6984776" cy="369332"/>
          </a:xfrm>
          <a:prstGeom prst="rect">
            <a:avLst/>
          </a:prstGeom>
          <a:noFill/>
        </p:spPr>
        <p:txBody>
          <a:bodyPr wrap="square" rtlCol="0">
            <a:spAutoFit/>
          </a:bodyPr>
          <a:lstStyle/>
          <a:p>
            <a:r>
              <a:rPr lang="es-ES" b="1" dirty="0"/>
              <a:t>Algunos términos importantes respecto a las medidas en HPC</a:t>
            </a:r>
          </a:p>
        </p:txBody>
      </p:sp>
      <p:sp>
        <p:nvSpPr>
          <p:cNvPr id="6" name="CuadroTexto 5">
            <a:extLst>
              <a:ext uri="{FF2B5EF4-FFF2-40B4-BE49-F238E27FC236}">
                <a16:creationId xmlns:a16="http://schemas.microsoft.com/office/drawing/2014/main" id="{57517174-F32B-472B-A18B-6F84B86E50DF}"/>
              </a:ext>
            </a:extLst>
          </p:cNvPr>
          <p:cNvSpPr txBox="1"/>
          <p:nvPr/>
        </p:nvSpPr>
        <p:spPr>
          <a:xfrm>
            <a:off x="467544" y="920988"/>
            <a:ext cx="8136904" cy="584775"/>
          </a:xfrm>
          <a:prstGeom prst="rect">
            <a:avLst/>
          </a:prstGeom>
          <a:noFill/>
        </p:spPr>
        <p:txBody>
          <a:bodyPr wrap="square" rtlCol="0">
            <a:spAutoFit/>
          </a:bodyPr>
          <a:lstStyle/>
          <a:p>
            <a:pPr marL="285750" indent="-285750">
              <a:buFont typeface="Arial" panose="020B0604020202020204" pitchFamily="34" charset="0"/>
              <a:buChar char="•"/>
            </a:pPr>
            <a:r>
              <a:rPr lang="es-ES" sz="1600" b="1" dirty="0" err="1"/>
              <a:t>Flop</a:t>
            </a:r>
            <a:r>
              <a:rPr lang="es-ES" sz="1600" dirty="0"/>
              <a:t>:</a:t>
            </a:r>
          </a:p>
          <a:p>
            <a:pPr marL="893763" indent="-893763"/>
            <a:r>
              <a:rPr lang="es-ES" sz="1600" dirty="0"/>
              <a:t>	Operación en punto flotante (</a:t>
            </a:r>
            <a:r>
              <a:rPr lang="es-ES" sz="1600" dirty="0" err="1"/>
              <a:t>Float</a:t>
            </a:r>
            <a:r>
              <a:rPr lang="es-ES" sz="1600" dirty="0"/>
              <a:t> Point </a:t>
            </a:r>
            <a:r>
              <a:rPr lang="es-ES" sz="1600" dirty="0" err="1"/>
              <a:t>Operation</a:t>
            </a:r>
            <a:r>
              <a:rPr lang="es-ES" sz="1600" dirty="0"/>
              <a:t>).</a:t>
            </a:r>
          </a:p>
        </p:txBody>
      </p:sp>
      <p:sp>
        <p:nvSpPr>
          <p:cNvPr id="8" name="CuadroTexto 7">
            <a:extLst>
              <a:ext uri="{FF2B5EF4-FFF2-40B4-BE49-F238E27FC236}">
                <a16:creationId xmlns:a16="http://schemas.microsoft.com/office/drawing/2014/main" id="{53761B8F-6F0E-4C39-923E-6C1BF6DA0959}"/>
              </a:ext>
            </a:extLst>
          </p:cNvPr>
          <p:cNvSpPr txBox="1"/>
          <p:nvPr/>
        </p:nvSpPr>
        <p:spPr>
          <a:xfrm>
            <a:off x="467544" y="1514982"/>
            <a:ext cx="8136904" cy="584775"/>
          </a:xfrm>
          <a:prstGeom prst="rect">
            <a:avLst/>
          </a:prstGeom>
          <a:noFill/>
        </p:spPr>
        <p:txBody>
          <a:bodyPr wrap="square" rtlCol="0">
            <a:spAutoFit/>
          </a:bodyPr>
          <a:lstStyle/>
          <a:p>
            <a:pPr marL="285750" indent="-285750">
              <a:buFont typeface="Arial" panose="020B0604020202020204" pitchFamily="34" charset="0"/>
              <a:buChar char="•"/>
            </a:pPr>
            <a:r>
              <a:rPr lang="es-ES" sz="1600" b="1" dirty="0" err="1"/>
              <a:t>Flop</a:t>
            </a:r>
            <a:r>
              <a:rPr lang="es-ES" sz="1600" b="1" dirty="0"/>
              <a:t>/s</a:t>
            </a:r>
            <a:r>
              <a:rPr lang="es-ES" sz="1600" dirty="0"/>
              <a:t>:</a:t>
            </a:r>
          </a:p>
          <a:p>
            <a:pPr marL="893763" indent="-893763"/>
            <a:r>
              <a:rPr lang="es-ES" sz="1600" dirty="0"/>
              <a:t>	Operaciones en punto flotante por segundo, escrito también como FLOPS.</a:t>
            </a:r>
          </a:p>
        </p:txBody>
      </p:sp>
      <p:sp>
        <p:nvSpPr>
          <p:cNvPr id="9" name="CuadroTexto 8">
            <a:extLst>
              <a:ext uri="{FF2B5EF4-FFF2-40B4-BE49-F238E27FC236}">
                <a16:creationId xmlns:a16="http://schemas.microsoft.com/office/drawing/2014/main" id="{7F061CA5-BD9B-443D-85A0-F948664A1D50}"/>
              </a:ext>
            </a:extLst>
          </p:cNvPr>
          <p:cNvSpPr txBox="1"/>
          <p:nvPr/>
        </p:nvSpPr>
        <p:spPr>
          <a:xfrm>
            <a:off x="467544" y="2165955"/>
            <a:ext cx="8136904" cy="830997"/>
          </a:xfrm>
          <a:prstGeom prst="rect">
            <a:avLst/>
          </a:prstGeom>
          <a:noFill/>
        </p:spPr>
        <p:txBody>
          <a:bodyPr wrap="square" rtlCol="0">
            <a:spAutoFit/>
          </a:bodyPr>
          <a:lstStyle/>
          <a:p>
            <a:pPr marL="285750" indent="-285750">
              <a:buFont typeface="Arial" panose="020B0604020202020204" pitchFamily="34" charset="0"/>
              <a:buChar char="•"/>
            </a:pPr>
            <a:r>
              <a:rPr lang="es-ES" sz="1600" b="1" dirty="0"/>
              <a:t>Bytes</a:t>
            </a:r>
            <a:r>
              <a:rPr lang="es-ES" sz="1600" dirty="0"/>
              <a:t>:</a:t>
            </a:r>
          </a:p>
          <a:p>
            <a:pPr marL="893763" indent="-893763"/>
            <a:r>
              <a:rPr lang="es-ES" sz="1600" dirty="0"/>
              <a:t>	Tamaño de los datos. Un numero representado en punto flotante de doble precisión necesita 8 bytes. </a:t>
            </a:r>
          </a:p>
        </p:txBody>
      </p:sp>
      <p:sp>
        <p:nvSpPr>
          <p:cNvPr id="13" name="CuadroTexto 12">
            <a:extLst>
              <a:ext uri="{FF2B5EF4-FFF2-40B4-BE49-F238E27FC236}">
                <a16:creationId xmlns:a16="http://schemas.microsoft.com/office/drawing/2014/main" id="{8AE5D8CA-68EE-45D8-91C8-4B917805F96E}"/>
              </a:ext>
            </a:extLst>
          </p:cNvPr>
          <p:cNvSpPr txBox="1"/>
          <p:nvPr/>
        </p:nvSpPr>
        <p:spPr>
          <a:xfrm>
            <a:off x="2735796" y="3717032"/>
            <a:ext cx="3672408" cy="1477328"/>
          </a:xfrm>
          <a:prstGeom prst="rect">
            <a:avLst/>
          </a:prstGeom>
          <a:noFill/>
        </p:spPr>
        <p:txBody>
          <a:bodyPr wrap="square" rtlCol="0">
            <a:spAutoFit/>
          </a:bodyPr>
          <a:lstStyle/>
          <a:p>
            <a:pPr algn="ctr"/>
            <a:r>
              <a:rPr lang="en-US" b="1" dirty="0"/>
              <a:t>Drago </a:t>
            </a:r>
          </a:p>
          <a:p>
            <a:pPr algn="just"/>
            <a:r>
              <a:rPr lang="en-US" dirty="0"/>
              <a:t>12000 cores (</a:t>
            </a:r>
            <a:r>
              <a:rPr lang="pt-BR" dirty="0"/>
              <a:t>Intel(R) Xeon(R) Gold 6248R CPU @ 3.00GHz), Lenovo. </a:t>
            </a:r>
          </a:p>
          <a:p>
            <a:pPr algn="ctr"/>
            <a:r>
              <a:rPr lang="pt-BR" dirty="0" err="1"/>
              <a:t>R</a:t>
            </a:r>
            <a:r>
              <a:rPr lang="pt-BR" baseline="-25000" dirty="0" err="1"/>
              <a:t>peak</a:t>
            </a:r>
            <a:r>
              <a:rPr lang="pt-BR" dirty="0"/>
              <a:t> = 5 </a:t>
            </a:r>
            <a:r>
              <a:rPr lang="pt-BR" dirty="0" err="1"/>
              <a:t>PFlops</a:t>
            </a:r>
            <a:r>
              <a:rPr lang="pt-BR" dirty="0"/>
              <a:t>/s</a:t>
            </a:r>
            <a:r>
              <a:rPr lang="en-US" dirty="0"/>
              <a:t> = 5 *10</a:t>
            </a:r>
            <a:r>
              <a:rPr lang="en-US" baseline="30000" dirty="0"/>
              <a:t>15</a:t>
            </a:r>
            <a:r>
              <a:rPr lang="en-US" dirty="0"/>
              <a:t> flop/s</a:t>
            </a:r>
          </a:p>
        </p:txBody>
      </p:sp>
    </p:spTree>
    <p:extLst>
      <p:ext uri="{BB962C8B-B14F-4D97-AF65-F5344CB8AC3E}">
        <p14:creationId xmlns:p14="http://schemas.microsoft.com/office/powerpoint/2010/main" val="266756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111BC6B-41C5-4D93-972C-1279668CE9EB}"/>
              </a:ext>
            </a:extLst>
          </p:cNvPr>
          <p:cNvSpPr>
            <a:spLocks noGrp="1"/>
          </p:cNvSpPr>
          <p:nvPr>
            <p:ph type="sldNum" sz="quarter" idx="12"/>
          </p:nvPr>
        </p:nvSpPr>
        <p:spPr/>
        <p:txBody>
          <a:bodyPr/>
          <a:lstStyle/>
          <a:p>
            <a:fld id="{2BC99F66-008B-4912-B721-8943319F59B7}" type="slidenum">
              <a:rPr lang="en-US" altLang="en-US" smtClean="0"/>
              <a:pPr/>
              <a:t>13</a:t>
            </a:fld>
            <a:endParaRPr lang="en-US" altLang="en-US"/>
          </a:p>
        </p:txBody>
      </p:sp>
      <p:sp>
        <p:nvSpPr>
          <p:cNvPr id="3" name="CuadroTexto 2">
            <a:extLst>
              <a:ext uri="{FF2B5EF4-FFF2-40B4-BE49-F238E27FC236}">
                <a16:creationId xmlns:a16="http://schemas.microsoft.com/office/drawing/2014/main" id="{929F6EA8-9AA2-48C3-92AE-CFB5D2BAD00E}"/>
              </a:ext>
            </a:extLst>
          </p:cNvPr>
          <p:cNvSpPr txBox="1"/>
          <p:nvPr/>
        </p:nvSpPr>
        <p:spPr>
          <a:xfrm>
            <a:off x="395536" y="323364"/>
            <a:ext cx="6984776" cy="369332"/>
          </a:xfrm>
          <a:prstGeom prst="rect">
            <a:avLst/>
          </a:prstGeom>
          <a:noFill/>
        </p:spPr>
        <p:txBody>
          <a:bodyPr wrap="square" rtlCol="0">
            <a:spAutoFit/>
          </a:bodyPr>
          <a:lstStyle/>
          <a:p>
            <a:r>
              <a:rPr lang="es-ES" b="1" dirty="0"/>
              <a:t>Taxonomías de Flynn</a:t>
            </a:r>
          </a:p>
        </p:txBody>
      </p:sp>
      <p:sp>
        <p:nvSpPr>
          <p:cNvPr id="7" name="CuadroTexto 6">
            <a:extLst>
              <a:ext uri="{FF2B5EF4-FFF2-40B4-BE49-F238E27FC236}">
                <a16:creationId xmlns:a16="http://schemas.microsoft.com/office/drawing/2014/main" id="{8A8A6377-7B65-4038-8E06-77ACAC13AB0E}"/>
              </a:ext>
            </a:extLst>
          </p:cNvPr>
          <p:cNvSpPr txBox="1"/>
          <p:nvPr/>
        </p:nvSpPr>
        <p:spPr>
          <a:xfrm>
            <a:off x="395536" y="5301208"/>
            <a:ext cx="8147248" cy="646331"/>
          </a:xfrm>
          <a:prstGeom prst="rect">
            <a:avLst/>
          </a:prstGeom>
          <a:noFill/>
        </p:spPr>
        <p:txBody>
          <a:bodyPr wrap="square" rtlCol="0">
            <a:spAutoFit/>
          </a:bodyPr>
          <a:lstStyle/>
          <a:p>
            <a:pPr marL="285750" indent="-285750">
              <a:buFont typeface="Arial" panose="020B0604020202020204" pitchFamily="34" charset="0"/>
              <a:buChar char="•"/>
            </a:pPr>
            <a:r>
              <a:rPr lang="en-US" b="1" dirty="0"/>
              <a:t>MIMD (Multiple Instruction Multiple Data)</a:t>
            </a:r>
          </a:p>
          <a:p>
            <a:pPr lvl="1"/>
            <a:r>
              <a:rPr lang="es-ES" dirty="0"/>
              <a:t>Casi no se utilizan. </a:t>
            </a:r>
          </a:p>
        </p:txBody>
      </p:sp>
      <p:grpSp>
        <p:nvGrpSpPr>
          <p:cNvPr id="19" name="Grupo 18">
            <a:extLst>
              <a:ext uri="{FF2B5EF4-FFF2-40B4-BE49-F238E27FC236}">
                <a16:creationId xmlns:a16="http://schemas.microsoft.com/office/drawing/2014/main" id="{EB91542E-1C75-4363-9624-DDF2E62651A4}"/>
              </a:ext>
            </a:extLst>
          </p:cNvPr>
          <p:cNvGrpSpPr/>
          <p:nvPr/>
        </p:nvGrpSpPr>
        <p:grpSpPr>
          <a:xfrm>
            <a:off x="395536" y="508030"/>
            <a:ext cx="8147248" cy="1408802"/>
            <a:chOff x="539552" y="652046"/>
            <a:chExt cx="8147248" cy="1408802"/>
          </a:xfrm>
        </p:grpSpPr>
        <p:sp>
          <p:nvSpPr>
            <p:cNvPr id="2" name="CuadroTexto 1">
              <a:extLst>
                <a:ext uri="{FF2B5EF4-FFF2-40B4-BE49-F238E27FC236}">
                  <a16:creationId xmlns:a16="http://schemas.microsoft.com/office/drawing/2014/main" id="{7476C7E0-5251-45A4-8C60-1A0C81945B5B}"/>
                </a:ext>
              </a:extLst>
            </p:cNvPr>
            <p:cNvSpPr txBox="1"/>
            <p:nvPr/>
          </p:nvSpPr>
          <p:spPr>
            <a:xfrm>
              <a:off x="539552" y="1052736"/>
              <a:ext cx="8147248" cy="646331"/>
            </a:xfrm>
            <a:prstGeom prst="rect">
              <a:avLst/>
            </a:prstGeom>
            <a:noFill/>
          </p:spPr>
          <p:txBody>
            <a:bodyPr wrap="square" rtlCol="0">
              <a:spAutoFit/>
            </a:bodyPr>
            <a:lstStyle/>
            <a:p>
              <a:pPr marL="285750" indent="-285750">
                <a:buFont typeface="Arial" panose="020B0604020202020204" pitchFamily="34" charset="0"/>
                <a:buChar char="•"/>
              </a:pPr>
              <a:r>
                <a:rPr lang="en-US" b="1" dirty="0"/>
                <a:t>SISD (Single Instruction Single Data)</a:t>
              </a:r>
            </a:p>
            <a:p>
              <a:pPr lvl="1"/>
              <a:r>
                <a:rPr lang="es-ES" dirty="0"/>
                <a:t>Ordenador en serie. Arquitectura clásica </a:t>
              </a:r>
              <a:r>
                <a:rPr lang="es-ES" dirty="0" err="1"/>
                <a:t>von</a:t>
              </a:r>
              <a:r>
                <a:rPr lang="es-ES" dirty="0"/>
                <a:t> Neumann.</a:t>
              </a:r>
            </a:p>
          </p:txBody>
        </p:sp>
        <p:pic>
          <p:nvPicPr>
            <p:cNvPr id="10" name="Imagen 9">
              <a:extLst>
                <a:ext uri="{FF2B5EF4-FFF2-40B4-BE49-F238E27FC236}">
                  <a16:creationId xmlns:a16="http://schemas.microsoft.com/office/drawing/2014/main" id="{1D7801F0-AB22-4A30-ACE1-6CB4B418E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3006" y="652046"/>
              <a:ext cx="1490177" cy="1408802"/>
            </a:xfrm>
            <a:prstGeom prst="rect">
              <a:avLst/>
            </a:prstGeom>
          </p:spPr>
        </p:pic>
      </p:grpSp>
      <p:grpSp>
        <p:nvGrpSpPr>
          <p:cNvPr id="21" name="Grupo 20">
            <a:extLst>
              <a:ext uri="{FF2B5EF4-FFF2-40B4-BE49-F238E27FC236}">
                <a16:creationId xmlns:a16="http://schemas.microsoft.com/office/drawing/2014/main" id="{475B5504-9CA5-4DAB-BAAB-D2047964708A}"/>
              </a:ext>
            </a:extLst>
          </p:cNvPr>
          <p:cNvGrpSpPr/>
          <p:nvPr/>
        </p:nvGrpSpPr>
        <p:grpSpPr>
          <a:xfrm>
            <a:off x="395536" y="3714101"/>
            <a:ext cx="8507714" cy="1587107"/>
            <a:chOff x="395536" y="3597987"/>
            <a:chExt cx="8507714" cy="1587107"/>
          </a:xfrm>
        </p:grpSpPr>
        <p:sp>
          <p:nvSpPr>
            <p:cNvPr id="6" name="CuadroTexto 5">
              <a:extLst>
                <a:ext uri="{FF2B5EF4-FFF2-40B4-BE49-F238E27FC236}">
                  <a16:creationId xmlns:a16="http://schemas.microsoft.com/office/drawing/2014/main" id="{55CEE8D2-5C9E-4DE9-B4D7-A70535360BEF}"/>
                </a:ext>
              </a:extLst>
            </p:cNvPr>
            <p:cNvSpPr txBox="1"/>
            <p:nvPr/>
          </p:nvSpPr>
          <p:spPr>
            <a:xfrm>
              <a:off x="395536" y="3597987"/>
              <a:ext cx="8147248"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SIMD (Single Instruction Multiple Data)</a:t>
              </a:r>
            </a:p>
            <a:p>
              <a:pPr lvl="1"/>
              <a:r>
                <a:rPr lang="es-ES" dirty="0"/>
                <a:t>Un cauce de datos se divide entre los procesadores y cada trozo de datos están sujetos a la misma secuencia de instrucciones. </a:t>
              </a:r>
              <a:r>
                <a:rPr lang="es-ES" dirty="0" err="1"/>
                <a:t>GPUs</a:t>
              </a:r>
              <a:endParaRPr lang="es-ES" dirty="0"/>
            </a:p>
          </p:txBody>
        </p:sp>
        <p:pic>
          <p:nvPicPr>
            <p:cNvPr id="12" name="Imagen 11">
              <a:extLst>
                <a:ext uri="{FF2B5EF4-FFF2-40B4-BE49-F238E27FC236}">
                  <a16:creationId xmlns:a16="http://schemas.microsoft.com/office/drawing/2014/main" id="{97E76757-6BBD-419D-B43D-5E0C716E8E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2280" y="4329750"/>
              <a:ext cx="1810970" cy="855344"/>
            </a:xfrm>
            <a:prstGeom prst="rect">
              <a:avLst/>
            </a:prstGeom>
          </p:spPr>
        </p:pic>
      </p:grpSp>
      <p:grpSp>
        <p:nvGrpSpPr>
          <p:cNvPr id="20" name="Grupo 19">
            <a:extLst>
              <a:ext uri="{FF2B5EF4-FFF2-40B4-BE49-F238E27FC236}">
                <a16:creationId xmlns:a16="http://schemas.microsoft.com/office/drawing/2014/main" id="{6BBECBB0-69D6-44AA-B3DC-942A805BE94F}"/>
              </a:ext>
            </a:extLst>
          </p:cNvPr>
          <p:cNvGrpSpPr/>
          <p:nvPr/>
        </p:nvGrpSpPr>
        <p:grpSpPr>
          <a:xfrm>
            <a:off x="395536" y="1959234"/>
            <a:ext cx="8507714" cy="1835165"/>
            <a:chOff x="395536" y="2204864"/>
            <a:chExt cx="8507714" cy="1835165"/>
          </a:xfrm>
        </p:grpSpPr>
        <p:sp>
          <p:nvSpPr>
            <p:cNvPr id="5" name="CuadroTexto 4">
              <a:extLst>
                <a:ext uri="{FF2B5EF4-FFF2-40B4-BE49-F238E27FC236}">
                  <a16:creationId xmlns:a16="http://schemas.microsoft.com/office/drawing/2014/main" id="{7AEF60A0-C4A5-4B85-9C13-632F4B803D33}"/>
                </a:ext>
              </a:extLst>
            </p:cNvPr>
            <p:cNvSpPr txBox="1"/>
            <p:nvPr/>
          </p:nvSpPr>
          <p:spPr>
            <a:xfrm>
              <a:off x="395536" y="2204864"/>
              <a:ext cx="8147248"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MISD (Multiple Instruction Single Data)</a:t>
              </a:r>
            </a:p>
            <a:p>
              <a:pPr lvl="1"/>
              <a:r>
                <a:rPr lang="es-ES" dirty="0"/>
                <a:t>Colección de procesadores autónomos que pueden ejecutar programas independientes con su propio cauce de datos. </a:t>
              </a:r>
              <a:r>
                <a:rPr lang="es-ES" dirty="0" err="1"/>
                <a:t>Clústers</a:t>
              </a:r>
              <a:r>
                <a:rPr lang="es-ES" dirty="0"/>
                <a:t> </a:t>
              </a:r>
            </a:p>
          </p:txBody>
        </p:sp>
        <p:pic>
          <p:nvPicPr>
            <p:cNvPr id="18" name="Imagen 17">
              <a:extLst>
                <a:ext uri="{FF2B5EF4-FFF2-40B4-BE49-F238E27FC236}">
                  <a16:creationId xmlns:a16="http://schemas.microsoft.com/office/drawing/2014/main" id="{E5C463D1-6F5C-4666-9A6B-0FA8049FA3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3210" y="2810534"/>
              <a:ext cx="2150040" cy="1229495"/>
            </a:xfrm>
            <a:prstGeom prst="rect">
              <a:avLst/>
            </a:prstGeom>
          </p:spPr>
        </p:pic>
      </p:grpSp>
    </p:spTree>
    <p:extLst>
      <p:ext uri="{BB962C8B-B14F-4D97-AF65-F5344CB8AC3E}">
        <p14:creationId xmlns:p14="http://schemas.microsoft.com/office/powerpoint/2010/main" val="240436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A0AB8DF-3590-4275-8935-FAA41340FFA9}"/>
              </a:ext>
            </a:extLst>
          </p:cNvPr>
          <p:cNvSpPr>
            <a:spLocks noGrp="1"/>
          </p:cNvSpPr>
          <p:nvPr>
            <p:ph type="sldNum" sz="quarter" idx="12"/>
          </p:nvPr>
        </p:nvSpPr>
        <p:spPr/>
        <p:txBody>
          <a:bodyPr/>
          <a:lstStyle/>
          <a:p>
            <a:fld id="{2BC99F66-008B-4912-B721-8943319F59B7}" type="slidenum">
              <a:rPr lang="en-US" altLang="en-US" smtClean="0"/>
              <a:pPr/>
              <a:t>14</a:t>
            </a:fld>
            <a:endParaRPr lang="en-US" altLang="en-US"/>
          </a:p>
        </p:txBody>
      </p:sp>
      <p:sp>
        <p:nvSpPr>
          <p:cNvPr id="5" name="CuadroTexto 4">
            <a:extLst>
              <a:ext uri="{FF2B5EF4-FFF2-40B4-BE49-F238E27FC236}">
                <a16:creationId xmlns:a16="http://schemas.microsoft.com/office/drawing/2014/main" id="{B1153054-A303-49EF-8768-2C91503FB070}"/>
              </a:ext>
            </a:extLst>
          </p:cNvPr>
          <p:cNvSpPr txBox="1"/>
          <p:nvPr/>
        </p:nvSpPr>
        <p:spPr>
          <a:xfrm>
            <a:off x="467544" y="404664"/>
            <a:ext cx="6984776" cy="369332"/>
          </a:xfrm>
          <a:prstGeom prst="rect">
            <a:avLst/>
          </a:prstGeom>
          <a:noFill/>
        </p:spPr>
        <p:txBody>
          <a:bodyPr wrap="square" rtlCol="0">
            <a:spAutoFit/>
          </a:bodyPr>
          <a:lstStyle/>
          <a:p>
            <a:r>
              <a:rPr lang="es-ES" b="1" dirty="0"/>
              <a:t>La ley de Amdahl (Visión pesimista de la paralelización)</a:t>
            </a:r>
          </a:p>
        </p:txBody>
      </p:sp>
      <p:pic>
        <p:nvPicPr>
          <p:cNvPr id="12" name="Imagen 11">
            <a:extLst>
              <a:ext uri="{FF2B5EF4-FFF2-40B4-BE49-F238E27FC236}">
                <a16:creationId xmlns:a16="http://schemas.microsoft.com/office/drawing/2014/main" id="{8CF740D3-D443-4A46-9F53-C6E844B9A7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12360" y="404664"/>
            <a:ext cx="1028903" cy="1536976"/>
          </a:xfrm>
          <a:prstGeom prst="rect">
            <a:avLst/>
          </a:prstGeom>
        </p:spPr>
      </p:pic>
      <p:sp>
        <p:nvSpPr>
          <p:cNvPr id="13" name="CuadroTexto 12">
            <a:extLst>
              <a:ext uri="{FF2B5EF4-FFF2-40B4-BE49-F238E27FC236}">
                <a16:creationId xmlns:a16="http://schemas.microsoft.com/office/drawing/2014/main" id="{7A0BCFDA-8B73-4EEF-8FC2-3DD607ED0A5D}"/>
              </a:ext>
            </a:extLst>
          </p:cNvPr>
          <p:cNvSpPr txBox="1"/>
          <p:nvPr/>
        </p:nvSpPr>
        <p:spPr>
          <a:xfrm>
            <a:off x="7773878" y="1951406"/>
            <a:ext cx="1105866" cy="461665"/>
          </a:xfrm>
          <a:prstGeom prst="rect">
            <a:avLst/>
          </a:prstGeom>
          <a:noFill/>
        </p:spPr>
        <p:txBody>
          <a:bodyPr wrap="square" rtlCol="0">
            <a:spAutoFit/>
          </a:bodyPr>
          <a:lstStyle/>
          <a:p>
            <a:r>
              <a:rPr lang="es-ES" sz="1200" dirty="0"/>
              <a:t>Gene Amdahl</a:t>
            </a:r>
          </a:p>
          <a:p>
            <a:pPr algn="ctr"/>
            <a:r>
              <a:rPr lang="es-ES" sz="1200" dirty="0"/>
              <a:t>1967</a:t>
            </a:r>
          </a:p>
        </p:txBody>
      </p:sp>
      <p:sp>
        <p:nvSpPr>
          <p:cNvPr id="14" name="CuadroTexto 13">
            <a:extLst>
              <a:ext uri="{FF2B5EF4-FFF2-40B4-BE49-F238E27FC236}">
                <a16:creationId xmlns:a16="http://schemas.microsoft.com/office/drawing/2014/main" id="{65EAF70E-78EA-4039-90B5-472B03120259}"/>
              </a:ext>
            </a:extLst>
          </p:cNvPr>
          <p:cNvSpPr txBox="1"/>
          <p:nvPr/>
        </p:nvSpPr>
        <p:spPr>
          <a:xfrm>
            <a:off x="170532" y="980727"/>
            <a:ext cx="5194536" cy="584775"/>
          </a:xfrm>
          <a:prstGeom prst="rect">
            <a:avLst/>
          </a:prstGeom>
          <a:noFill/>
        </p:spPr>
        <p:txBody>
          <a:bodyPr wrap="square" rtlCol="0">
            <a:spAutoFit/>
          </a:bodyPr>
          <a:lstStyle/>
          <a:p>
            <a:pPr algn="ctr"/>
            <a:r>
              <a:rPr lang="es-ES" sz="1600" dirty="0"/>
              <a:t>¿Si usáramos </a:t>
            </a:r>
            <a:r>
              <a:rPr lang="es-ES" sz="1600" b="1" dirty="0"/>
              <a:t>n procesadores</a:t>
            </a:r>
            <a:r>
              <a:rPr lang="es-ES" sz="1600" dirty="0"/>
              <a:t> para una tarea concreta, obtendríamos </a:t>
            </a:r>
            <a:r>
              <a:rPr lang="es-ES" sz="1600" b="1" dirty="0"/>
              <a:t>una aceleración de n veces</a:t>
            </a:r>
            <a:r>
              <a:rPr lang="es-ES" sz="1600" dirty="0"/>
              <a:t>?</a:t>
            </a:r>
          </a:p>
        </p:txBody>
      </p:sp>
      <p:sp>
        <p:nvSpPr>
          <p:cNvPr id="15" name="Flecha: a la derecha 14">
            <a:extLst>
              <a:ext uri="{FF2B5EF4-FFF2-40B4-BE49-F238E27FC236}">
                <a16:creationId xmlns:a16="http://schemas.microsoft.com/office/drawing/2014/main" id="{D27EA6A4-0E1C-4500-9331-EAD59244F505}"/>
              </a:ext>
            </a:extLst>
          </p:cNvPr>
          <p:cNvSpPr/>
          <p:nvPr/>
        </p:nvSpPr>
        <p:spPr>
          <a:xfrm>
            <a:off x="5365068" y="1156907"/>
            <a:ext cx="360040"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713007A9-9EB1-4A59-ACD8-527E3633F926}"/>
              </a:ext>
            </a:extLst>
          </p:cNvPr>
          <p:cNvSpPr txBox="1"/>
          <p:nvPr/>
        </p:nvSpPr>
        <p:spPr>
          <a:xfrm>
            <a:off x="5905128" y="1088449"/>
            <a:ext cx="1296144" cy="369332"/>
          </a:xfrm>
          <a:prstGeom prst="rect">
            <a:avLst/>
          </a:prstGeom>
          <a:noFill/>
        </p:spPr>
        <p:txBody>
          <a:bodyPr wrap="square" rtlCol="0">
            <a:spAutoFit/>
          </a:bodyPr>
          <a:lstStyle/>
          <a:p>
            <a:pPr algn="ctr"/>
            <a:r>
              <a:rPr lang="en-US" dirty="0"/>
              <a:t>ERROR!!!</a:t>
            </a:r>
          </a:p>
        </p:txBody>
      </p:sp>
      <p:sp>
        <p:nvSpPr>
          <p:cNvPr id="17" name="CuadroTexto 16">
            <a:extLst>
              <a:ext uri="{FF2B5EF4-FFF2-40B4-BE49-F238E27FC236}">
                <a16:creationId xmlns:a16="http://schemas.microsoft.com/office/drawing/2014/main" id="{6A772571-AF4E-417A-BBAC-7D03CD6F1A69}"/>
              </a:ext>
            </a:extLst>
          </p:cNvPr>
          <p:cNvSpPr txBox="1"/>
          <p:nvPr/>
        </p:nvSpPr>
        <p:spPr>
          <a:xfrm>
            <a:off x="264256" y="1772233"/>
            <a:ext cx="6984776" cy="1323439"/>
          </a:xfrm>
          <a:prstGeom prst="rect">
            <a:avLst/>
          </a:prstGeom>
          <a:noFill/>
        </p:spPr>
        <p:txBody>
          <a:bodyPr wrap="square" rtlCol="0">
            <a:spAutoFit/>
          </a:bodyPr>
          <a:lstStyle/>
          <a:p>
            <a:pPr algn="just"/>
            <a:r>
              <a:rPr lang="es-ES" sz="1600" dirty="0"/>
              <a:t>Siempre hay una fracción de la tarea que es inherentemente secuencial y no puede ser paralelizada sin importar los que hagamos. </a:t>
            </a:r>
          </a:p>
          <a:p>
            <a:pPr algn="just"/>
            <a:endParaRPr lang="es-ES" sz="1600" dirty="0"/>
          </a:p>
          <a:p>
            <a:pPr algn="just"/>
            <a:r>
              <a:rPr lang="es-ES" sz="1600" dirty="0"/>
              <a:t>La ley de Amdahl establece que la aceleración de un programa esta limitada por la porción que no se puede paralelizar.</a:t>
            </a:r>
          </a:p>
        </p:txBody>
      </p:sp>
      <p:grpSp>
        <p:nvGrpSpPr>
          <p:cNvPr id="52" name="Grupo 51">
            <a:extLst>
              <a:ext uri="{FF2B5EF4-FFF2-40B4-BE49-F238E27FC236}">
                <a16:creationId xmlns:a16="http://schemas.microsoft.com/office/drawing/2014/main" id="{58ABF030-8FC5-4E8C-885D-6295C638E70A}"/>
              </a:ext>
            </a:extLst>
          </p:cNvPr>
          <p:cNvGrpSpPr/>
          <p:nvPr/>
        </p:nvGrpSpPr>
        <p:grpSpPr>
          <a:xfrm>
            <a:off x="1355303" y="3280859"/>
            <a:ext cx="6264697" cy="2777592"/>
            <a:chOff x="467544" y="3292177"/>
            <a:chExt cx="6264697" cy="2777592"/>
          </a:xfrm>
        </p:grpSpPr>
        <p:grpSp>
          <p:nvGrpSpPr>
            <p:cNvPr id="48" name="Grupo 47">
              <a:extLst>
                <a:ext uri="{FF2B5EF4-FFF2-40B4-BE49-F238E27FC236}">
                  <a16:creationId xmlns:a16="http://schemas.microsoft.com/office/drawing/2014/main" id="{52D49FEF-E12C-464A-8A83-B2D97C8BB18F}"/>
                </a:ext>
              </a:extLst>
            </p:cNvPr>
            <p:cNvGrpSpPr/>
            <p:nvPr/>
          </p:nvGrpSpPr>
          <p:grpSpPr>
            <a:xfrm>
              <a:off x="467544" y="3292177"/>
              <a:ext cx="5670032" cy="2777592"/>
              <a:chOff x="1579000" y="3158687"/>
              <a:chExt cx="5670032" cy="2777592"/>
            </a:xfrm>
          </p:grpSpPr>
          <p:grpSp>
            <p:nvGrpSpPr>
              <p:cNvPr id="47" name="Grupo 46">
                <a:extLst>
                  <a:ext uri="{FF2B5EF4-FFF2-40B4-BE49-F238E27FC236}">
                    <a16:creationId xmlns:a16="http://schemas.microsoft.com/office/drawing/2014/main" id="{899DE322-31B0-4A8B-8816-720CA09176CA}"/>
                  </a:ext>
                </a:extLst>
              </p:cNvPr>
              <p:cNvGrpSpPr/>
              <p:nvPr/>
            </p:nvGrpSpPr>
            <p:grpSpPr>
              <a:xfrm>
                <a:off x="1963441" y="3284984"/>
                <a:ext cx="5285591" cy="2651295"/>
                <a:chOff x="1963441" y="3284984"/>
                <a:chExt cx="5285591" cy="2651295"/>
              </a:xfrm>
            </p:grpSpPr>
            <p:grpSp>
              <p:nvGrpSpPr>
                <p:cNvPr id="22" name="Grupo 21">
                  <a:extLst>
                    <a:ext uri="{FF2B5EF4-FFF2-40B4-BE49-F238E27FC236}">
                      <a16:creationId xmlns:a16="http://schemas.microsoft.com/office/drawing/2014/main" id="{0BCE4013-1A8E-4AB4-9998-463EE5CCC5D5}"/>
                    </a:ext>
                  </a:extLst>
                </p:cNvPr>
                <p:cNvGrpSpPr/>
                <p:nvPr/>
              </p:nvGrpSpPr>
              <p:grpSpPr>
                <a:xfrm>
                  <a:off x="1963441" y="3284984"/>
                  <a:ext cx="5285591" cy="2043229"/>
                  <a:chOff x="1963441" y="3284984"/>
                  <a:chExt cx="5285591" cy="2043229"/>
                </a:xfrm>
              </p:grpSpPr>
              <p:cxnSp>
                <p:nvCxnSpPr>
                  <p:cNvPr id="19" name="Conector recto de flecha 18">
                    <a:extLst>
                      <a:ext uri="{FF2B5EF4-FFF2-40B4-BE49-F238E27FC236}">
                        <a16:creationId xmlns:a16="http://schemas.microsoft.com/office/drawing/2014/main" id="{EB01A826-B8DC-4CB1-8E7D-0005F649B205}"/>
                      </a:ext>
                    </a:extLst>
                  </p:cNvPr>
                  <p:cNvCxnSpPr/>
                  <p:nvPr/>
                </p:nvCxnSpPr>
                <p:spPr>
                  <a:xfrm flipV="1">
                    <a:off x="1979712" y="3284984"/>
                    <a:ext cx="0" cy="2043227"/>
                  </a:xfrm>
                  <a:prstGeom prst="straightConnector1">
                    <a:avLst/>
                  </a:prstGeom>
                  <a:ln w="28575">
                    <a:solidFill>
                      <a:srgbClr val="1E1E1E"/>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05A96DFB-2440-427C-A37F-D1F5321C858E}"/>
                      </a:ext>
                    </a:extLst>
                  </p:cNvPr>
                  <p:cNvCxnSpPr>
                    <a:cxnSpLocks/>
                  </p:cNvCxnSpPr>
                  <p:nvPr/>
                </p:nvCxnSpPr>
                <p:spPr>
                  <a:xfrm flipV="1">
                    <a:off x="1963441" y="5328212"/>
                    <a:ext cx="5285591" cy="1"/>
                  </a:xfrm>
                  <a:prstGeom prst="straightConnector1">
                    <a:avLst/>
                  </a:prstGeom>
                  <a:ln w="28575">
                    <a:solidFill>
                      <a:srgbClr val="1E1E1E"/>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Rectángulo 24">
                  <a:extLst>
                    <a:ext uri="{FF2B5EF4-FFF2-40B4-BE49-F238E27FC236}">
                      <a16:creationId xmlns:a16="http://schemas.microsoft.com/office/drawing/2014/main" id="{3FA81DA9-D6D9-4A0B-869D-DE247BCF2402}"/>
                    </a:ext>
                  </a:extLst>
                </p:cNvPr>
                <p:cNvSpPr/>
                <p:nvPr/>
              </p:nvSpPr>
              <p:spPr>
                <a:xfrm>
                  <a:off x="2195736" y="3528939"/>
                  <a:ext cx="899118" cy="564970"/>
                </a:xfrm>
                <a:prstGeom prst="rect">
                  <a:avLst/>
                </a:prstGeom>
                <a:solidFill>
                  <a:schemeClr val="tx2">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Fracción secuencial</a:t>
                  </a:r>
                </a:p>
              </p:txBody>
            </p:sp>
            <p:sp>
              <p:nvSpPr>
                <p:cNvPr id="26" name="Rectángulo 25">
                  <a:extLst>
                    <a:ext uri="{FF2B5EF4-FFF2-40B4-BE49-F238E27FC236}">
                      <a16:creationId xmlns:a16="http://schemas.microsoft.com/office/drawing/2014/main" id="{678A6E33-93FD-4BDF-BE17-C8220EBF8DD6}"/>
                    </a:ext>
                  </a:extLst>
                </p:cNvPr>
                <p:cNvSpPr/>
                <p:nvPr/>
              </p:nvSpPr>
              <p:spPr>
                <a:xfrm>
                  <a:off x="2195736" y="4093910"/>
                  <a:ext cx="899118" cy="1221040"/>
                </a:xfrm>
                <a:prstGeom prst="rect">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Fracción</a:t>
                  </a:r>
                </a:p>
                <a:p>
                  <a:pPr algn="ctr"/>
                  <a:r>
                    <a:rPr lang="es-ES" sz="1100" dirty="0">
                      <a:solidFill>
                        <a:schemeClr val="tx1"/>
                      </a:solidFill>
                    </a:rPr>
                    <a:t>paralela</a:t>
                  </a:r>
                </a:p>
              </p:txBody>
            </p:sp>
            <p:sp>
              <p:nvSpPr>
                <p:cNvPr id="27" name="Rectángulo 26">
                  <a:extLst>
                    <a:ext uri="{FF2B5EF4-FFF2-40B4-BE49-F238E27FC236}">
                      <a16:creationId xmlns:a16="http://schemas.microsoft.com/office/drawing/2014/main" id="{C690EE15-4091-4595-8FD2-F66F5FE90715}"/>
                    </a:ext>
                  </a:extLst>
                </p:cNvPr>
                <p:cNvSpPr>
                  <a:spLocks/>
                </p:cNvSpPr>
                <p:nvPr/>
              </p:nvSpPr>
              <p:spPr>
                <a:xfrm>
                  <a:off x="3203848" y="4698734"/>
                  <a:ext cx="899118" cy="612000"/>
                </a:xfrm>
                <a:prstGeom prst="rect">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Fracción</a:t>
                  </a:r>
                </a:p>
                <a:p>
                  <a:pPr algn="ctr"/>
                  <a:r>
                    <a:rPr lang="es-ES" sz="1100" dirty="0">
                      <a:solidFill>
                        <a:schemeClr val="tx1"/>
                      </a:solidFill>
                    </a:rPr>
                    <a:t>paralela</a:t>
                  </a:r>
                </a:p>
              </p:txBody>
            </p:sp>
            <p:sp>
              <p:nvSpPr>
                <p:cNvPr id="28" name="Rectángulo 27">
                  <a:extLst>
                    <a:ext uri="{FF2B5EF4-FFF2-40B4-BE49-F238E27FC236}">
                      <a16:creationId xmlns:a16="http://schemas.microsoft.com/office/drawing/2014/main" id="{F4B588D9-73DB-48BE-827F-C06A1156D041}"/>
                    </a:ext>
                  </a:extLst>
                </p:cNvPr>
                <p:cNvSpPr/>
                <p:nvPr/>
              </p:nvSpPr>
              <p:spPr>
                <a:xfrm>
                  <a:off x="3205582" y="4133764"/>
                  <a:ext cx="899118" cy="564970"/>
                </a:xfrm>
                <a:prstGeom prst="rect">
                  <a:avLst/>
                </a:prstGeom>
                <a:solidFill>
                  <a:schemeClr val="tx2">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Fracción secuencial</a:t>
                  </a:r>
                </a:p>
              </p:txBody>
            </p:sp>
            <p:sp>
              <p:nvSpPr>
                <p:cNvPr id="29" name="Rectángulo 28">
                  <a:extLst>
                    <a:ext uri="{FF2B5EF4-FFF2-40B4-BE49-F238E27FC236}">
                      <a16:creationId xmlns:a16="http://schemas.microsoft.com/office/drawing/2014/main" id="{60ED0230-55A1-4A10-A8B5-C36EC2CA048D}"/>
                    </a:ext>
                  </a:extLst>
                </p:cNvPr>
                <p:cNvSpPr>
                  <a:spLocks/>
                </p:cNvSpPr>
                <p:nvPr/>
              </p:nvSpPr>
              <p:spPr>
                <a:xfrm>
                  <a:off x="4207396" y="5004160"/>
                  <a:ext cx="899118" cy="306000"/>
                </a:xfrm>
                <a:prstGeom prst="rect">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Fracción</a:t>
                  </a:r>
                </a:p>
                <a:p>
                  <a:pPr algn="ctr"/>
                  <a:r>
                    <a:rPr lang="es-ES" sz="1100" dirty="0">
                      <a:solidFill>
                        <a:schemeClr val="tx1"/>
                      </a:solidFill>
                    </a:rPr>
                    <a:t>paralela</a:t>
                  </a:r>
                </a:p>
              </p:txBody>
            </p:sp>
            <p:sp>
              <p:nvSpPr>
                <p:cNvPr id="31" name="Rectángulo 30">
                  <a:extLst>
                    <a:ext uri="{FF2B5EF4-FFF2-40B4-BE49-F238E27FC236}">
                      <a16:creationId xmlns:a16="http://schemas.microsoft.com/office/drawing/2014/main" id="{86ADFF28-8277-4A74-969D-E935E53CB6DB}"/>
                    </a:ext>
                  </a:extLst>
                </p:cNvPr>
                <p:cNvSpPr/>
                <p:nvPr/>
              </p:nvSpPr>
              <p:spPr>
                <a:xfrm>
                  <a:off x="4205904" y="4437678"/>
                  <a:ext cx="899118" cy="564970"/>
                </a:xfrm>
                <a:prstGeom prst="rect">
                  <a:avLst/>
                </a:prstGeom>
                <a:solidFill>
                  <a:schemeClr val="tx2">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Fracción secuencial</a:t>
                  </a:r>
                </a:p>
              </p:txBody>
            </p:sp>
            <p:sp>
              <p:nvSpPr>
                <p:cNvPr id="33" name="CuadroTexto 32">
                  <a:extLst>
                    <a:ext uri="{FF2B5EF4-FFF2-40B4-BE49-F238E27FC236}">
                      <a16:creationId xmlns:a16="http://schemas.microsoft.com/office/drawing/2014/main" id="{72216BEC-36C8-434F-9428-AEF0B25D791C}"/>
                    </a:ext>
                  </a:extLst>
                </p:cNvPr>
                <p:cNvSpPr txBox="1"/>
                <p:nvPr/>
              </p:nvSpPr>
              <p:spPr>
                <a:xfrm>
                  <a:off x="2483768" y="5328211"/>
                  <a:ext cx="450859" cy="369332"/>
                </a:xfrm>
                <a:prstGeom prst="rect">
                  <a:avLst/>
                </a:prstGeom>
                <a:noFill/>
              </p:spPr>
              <p:txBody>
                <a:bodyPr wrap="square" rtlCol="0">
                  <a:spAutoFit/>
                </a:bodyPr>
                <a:lstStyle/>
                <a:p>
                  <a:pPr algn="ctr"/>
                  <a:r>
                    <a:rPr lang="en-US" b="1" dirty="0"/>
                    <a:t>1</a:t>
                  </a:r>
                </a:p>
              </p:txBody>
            </p:sp>
            <p:sp>
              <p:nvSpPr>
                <p:cNvPr id="34" name="CuadroTexto 33">
                  <a:extLst>
                    <a:ext uri="{FF2B5EF4-FFF2-40B4-BE49-F238E27FC236}">
                      <a16:creationId xmlns:a16="http://schemas.microsoft.com/office/drawing/2014/main" id="{B98DD148-773B-473A-B1A5-4AE695F9BB64}"/>
                    </a:ext>
                  </a:extLst>
                </p:cNvPr>
                <p:cNvSpPr txBox="1"/>
                <p:nvPr/>
              </p:nvSpPr>
              <p:spPr>
                <a:xfrm>
                  <a:off x="3457829" y="5316448"/>
                  <a:ext cx="450859" cy="369332"/>
                </a:xfrm>
                <a:prstGeom prst="rect">
                  <a:avLst/>
                </a:prstGeom>
                <a:noFill/>
              </p:spPr>
              <p:txBody>
                <a:bodyPr wrap="square" rtlCol="0">
                  <a:spAutoFit/>
                </a:bodyPr>
                <a:lstStyle/>
                <a:p>
                  <a:pPr algn="ctr"/>
                  <a:r>
                    <a:rPr lang="en-US" b="1" dirty="0"/>
                    <a:t>2</a:t>
                  </a:r>
                </a:p>
              </p:txBody>
            </p:sp>
            <p:sp>
              <p:nvSpPr>
                <p:cNvPr id="35" name="CuadroTexto 34">
                  <a:extLst>
                    <a:ext uri="{FF2B5EF4-FFF2-40B4-BE49-F238E27FC236}">
                      <a16:creationId xmlns:a16="http://schemas.microsoft.com/office/drawing/2014/main" id="{69CB4AB1-F90B-441C-86E4-E4F28C1CD215}"/>
                    </a:ext>
                  </a:extLst>
                </p:cNvPr>
                <p:cNvSpPr txBox="1"/>
                <p:nvPr/>
              </p:nvSpPr>
              <p:spPr>
                <a:xfrm>
                  <a:off x="4463473" y="5310160"/>
                  <a:ext cx="450859" cy="369332"/>
                </a:xfrm>
                <a:prstGeom prst="rect">
                  <a:avLst/>
                </a:prstGeom>
                <a:noFill/>
              </p:spPr>
              <p:txBody>
                <a:bodyPr wrap="square" rtlCol="0">
                  <a:spAutoFit/>
                </a:bodyPr>
                <a:lstStyle/>
                <a:p>
                  <a:pPr algn="ctr"/>
                  <a:r>
                    <a:rPr lang="en-US" b="1" dirty="0"/>
                    <a:t>4</a:t>
                  </a:r>
                </a:p>
              </p:txBody>
            </p:sp>
            <p:grpSp>
              <p:nvGrpSpPr>
                <p:cNvPr id="41" name="Grupo 40">
                  <a:extLst>
                    <a:ext uri="{FF2B5EF4-FFF2-40B4-BE49-F238E27FC236}">
                      <a16:creationId xmlns:a16="http://schemas.microsoft.com/office/drawing/2014/main" id="{3C58BB93-03F3-4A15-A8EB-E35A841F598F}"/>
                    </a:ext>
                  </a:extLst>
                </p:cNvPr>
                <p:cNvGrpSpPr/>
                <p:nvPr/>
              </p:nvGrpSpPr>
              <p:grpSpPr>
                <a:xfrm>
                  <a:off x="5220072" y="5002647"/>
                  <a:ext cx="473592" cy="715369"/>
                  <a:chOff x="5105022" y="5002647"/>
                  <a:chExt cx="473592" cy="715369"/>
                </a:xfrm>
              </p:grpSpPr>
              <p:sp>
                <p:nvSpPr>
                  <p:cNvPr id="40" name="Rectángulo 39">
                    <a:extLst>
                      <a:ext uri="{FF2B5EF4-FFF2-40B4-BE49-F238E27FC236}">
                        <a16:creationId xmlns:a16="http://schemas.microsoft.com/office/drawing/2014/main" id="{9A37982E-8C67-452B-90A3-C94D209A35FD}"/>
                      </a:ext>
                    </a:extLst>
                  </p:cNvPr>
                  <p:cNvSpPr/>
                  <p:nvPr/>
                </p:nvSpPr>
                <p:spPr>
                  <a:xfrm>
                    <a:off x="5105022" y="5002647"/>
                    <a:ext cx="473592" cy="715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upo 38">
                    <a:extLst>
                      <a:ext uri="{FF2B5EF4-FFF2-40B4-BE49-F238E27FC236}">
                        <a16:creationId xmlns:a16="http://schemas.microsoft.com/office/drawing/2014/main" id="{94C95F62-6112-4426-8959-4466F4122B7B}"/>
                      </a:ext>
                    </a:extLst>
                  </p:cNvPr>
                  <p:cNvGrpSpPr/>
                  <p:nvPr/>
                </p:nvGrpSpPr>
                <p:grpSpPr>
                  <a:xfrm>
                    <a:off x="5194258" y="5157160"/>
                    <a:ext cx="295120" cy="407856"/>
                    <a:chOff x="5178760" y="4941168"/>
                    <a:chExt cx="329344" cy="776848"/>
                  </a:xfrm>
                </p:grpSpPr>
                <p:cxnSp>
                  <p:nvCxnSpPr>
                    <p:cNvPr id="37" name="Conector recto 36">
                      <a:extLst>
                        <a:ext uri="{FF2B5EF4-FFF2-40B4-BE49-F238E27FC236}">
                          <a16:creationId xmlns:a16="http://schemas.microsoft.com/office/drawing/2014/main" id="{3092579E-E483-4190-9FD9-BD99000AB61B}"/>
                        </a:ext>
                      </a:extLst>
                    </p:cNvPr>
                    <p:cNvCxnSpPr/>
                    <p:nvPr/>
                  </p:nvCxnSpPr>
                  <p:spPr>
                    <a:xfrm flipH="1">
                      <a:off x="5178760" y="4941168"/>
                      <a:ext cx="215044" cy="73832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411DB80B-B9A3-4DA5-BDBD-8E344689D784}"/>
                        </a:ext>
                      </a:extLst>
                    </p:cNvPr>
                    <p:cNvCxnSpPr/>
                    <p:nvPr/>
                  </p:nvCxnSpPr>
                  <p:spPr>
                    <a:xfrm flipH="1">
                      <a:off x="5293060" y="4979692"/>
                      <a:ext cx="215044" cy="73832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2" name="Rectángulo 41">
                  <a:extLst>
                    <a:ext uri="{FF2B5EF4-FFF2-40B4-BE49-F238E27FC236}">
                      <a16:creationId xmlns:a16="http://schemas.microsoft.com/office/drawing/2014/main" id="{C1E3DCF5-C3E0-4D97-B8BD-8DF5192B33DA}"/>
                    </a:ext>
                  </a:extLst>
                </p:cNvPr>
                <p:cNvSpPr>
                  <a:spLocks/>
                </p:cNvSpPr>
                <p:nvPr/>
              </p:nvSpPr>
              <p:spPr>
                <a:xfrm>
                  <a:off x="5940344" y="5265822"/>
                  <a:ext cx="899118" cy="45719"/>
                </a:xfrm>
                <a:prstGeom prst="rect">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00" dirty="0">
                    <a:solidFill>
                      <a:schemeClr val="tx1"/>
                    </a:solidFill>
                  </a:endParaRPr>
                </a:p>
              </p:txBody>
            </p:sp>
            <p:sp>
              <p:nvSpPr>
                <p:cNvPr id="43" name="Rectángulo 42">
                  <a:extLst>
                    <a:ext uri="{FF2B5EF4-FFF2-40B4-BE49-F238E27FC236}">
                      <a16:creationId xmlns:a16="http://schemas.microsoft.com/office/drawing/2014/main" id="{2A5E59E2-63E9-4266-82C9-5D69E77220FF}"/>
                    </a:ext>
                  </a:extLst>
                </p:cNvPr>
                <p:cNvSpPr/>
                <p:nvPr/>
              </p:nvSpPr>
              <p:spPr>
                <a:xfrm>
                  <a:off x="5938852" y="4699155"/>
                  <a:ext cx="899118" cy="564970"/>
                </a:xfrm>
                <a:prstGeom prst="rect">
                  <a:avLst/>
                </a:prstGeom>
                <a:solidFill>
                  <a:schemeClr val="tx2">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Fracción secuencial</a:t>
                  </a:r>
                </a:p>
              </p:txBody>
            </p:sp>
            <p:sp>
              <p:nvSpPr>
                <p:cNvPr id="44" name="CuadroTexto 43">
                  <a:extLst>
                    <a:ext uri="{FF2B5EF4-FFF2-40B4-BE49-F238E27FC236}">
                      <a16:creationId xmlns:a16="http://schemas.microsoft.com/office/drawing/2014/main" id="{20586792-53F8-468C-8033-066092DB0845}"/>
                    </a:ext>
                  </a:extLst>
                </p:cNvPr>
                <p:cNvSpPr txBox="1"/>
                <p:nvPr/>
              </p:nvSpPr>
              <p:spPr>
                <a:xfrm>
                  <a:off x="6085674" y="5311720"/>
                  <a:ext cx="778917" cy="369332"/>
                </a:xfrm>
                <a:prstGeom prst="rect">
                  <a:avLst/>
                </a:prstGeom>
                <a:noFill/>
              </p:spPr>
              <p:txBody>
                <a:bodyPr wrap="square" rtlCol="0">
                  <a:spAutoFit/>
                </a:bodyPr>
                <a:lstStyle/>
                <a:p>
                  <a:pPr algn="ctr"/>
                  <a:r>
                    <a:rPr lang="en-US" b="1" dirty="0">
                      <a:sym typeface="Symbol" panose="05050102010706020507" pitchFamily="18" charset="2"/>
                    </a:rPr>
                    <a:t></a:t>
                  </a:r>
                  <a:r>
                    <a:rPr lang="en-US" b="1" dirty="0">
                      <a:latin typeface="Sylfaen" panose="010A0502050306030303" pitchFamily="18" charset="0"/>
                      <a:sym typeface="Symbol" panose="05050102010706020507" pitchFamily="18" charset="2"/>
                    </a:rPr>
                    <a:t>∞</a:t>
                  </a:r>
                  <a:endParaRPr lang="en-US" b="1" dirty="0"/>
                </a:p>
              </p:txBody>
            </p:sp>
            <p:sp>
              <p:nvSpPr>
                <p:cNvPr id="45" name="CuadroTexto 44">
                  <a:extLst>
                    <a:ext uri="{FF2B5EF4-FFF2-40B4-BE49-F238E27FC236}">
                      <a16:creationId xmlns:a16="http://schemas.microsoft.com/office/drawing/2014/main" id="{050EE145-4175-4B1B-B03C-60AE4CE681AB}"/>
                    </a:ext>
                  </a:extLst>
                </p:cNvPr>
                <p:cNvSpPr txBox="1"/>
                <p:nvPr/>
              </p:nvSpPr>
              <p:spPr>
                <a:xfrm>
                  <a:off x="3203848" y="5628502"/>
                  <a:ext cx="3268495" cy="307777"/>
                </a:xfrm>
                <a:prstGeom prst="rect">
                  <a:avLst/>
                </a:prstGeom>
                <a:noFill/>
              </p:spPr>
              <p:txBody>
                <a:bodyPr wrap="square" rtlCol="0">
                  <a:spAutoFit/>
                </a:bodyPr>
                <a:lstStyle/>
                <a:p>
                  <a:pPr algn="ctr"/>
                  <a:r>
                    <a:rPr lang="en-US" sz="1400" b="1" dirty="0"/>
                    <a:t># de </a:t>
                  </a:r>
                  <a:r>
                    <a:rPr lang="es-ES" sz="1400" b="1" dirty="0"/>
                    <a:t>núcleos</a:t>
                  </a:r>
                  <a:r>
                    <a:rPr lang="en-US" sz="1400" b="1" dirty="0"/>
                    <a:t> (cores)</a:t>
                  </a:r>
                </a:p>
              </p:txBody>
            </p:sp>
          </p:grpSp>
          <p:sp>
            <p:nvSpPr>
              <p:cNvPr id="46" name="CuadroTexto 45">
                <a:extLst>
                  <a:ext uri="{FF2B5EF4-FFF2-40B4-BE49-F238E27FC236}">
                    <a16:creationId xmlns:a16="http://schemas.microsoft.com/office/drawing/2014/main" id="{D39577EA-ED6D-4F9B-8FA6-5F91B408CB09}"/>
                  </a:ext>
                </a:extLst>
              </p:cNvPr>
              <p:cNvSpPr txBox="1"/>
              <p:nvPr/>
            </p:nvSpPr>
            <p:spPr>
              <a:xfrm rot="16200000">
                <a:off x="584979" y="4152708"/>
                <a:ext cx="2295819" cy="307777"/>
              </a:xfrm>
              <a:prstGeom prst="rect">
                <a:avLst/>
              </a:prstGeom>
              <a:noFill/>
            </p:spPr>
            <p:txBody>
              <a:bodyPr wrap="square" rtlCol="0">
                <a:spAutoFit/>
              </a:bodyPr>
              <a:lstStyle/>
              <a:p>
                <a:pPr algn="ctr"/>
                <a:r>
                  <a:rPr lang="es-ES" sz="1400" b="1" dirty="0"/>
                  <a:t>Tiempo de ejecución</a:t>
                </a:r>
                <a:endParaRPr lang="en-US" sz="1400" b="1" dirty="0"/>
              </a:p>
            </p:txBody>
          </p:sp>
        </p:grpSp>
        <p:sp>
          <p:nvSpPr>
            <p:cNvPr id="49" name="CuadroTexto 48">
              <a:extLst>
                <a:ext uri="{FF2B5EF4-FFF2-40B4-BE49-F238E27FC236}">
                  <a16:creationId xmlns:a16="http://schemas.microsoft.com/office/drawing/2014/main" id="{B9EBB248-6257-4794-8949-DECCC258113C}"/>
                </a:ext>
              </a:extLst>
            </p:cNvPr>
            <p:cNvSpPr txBox="1"/>
            <p:nvPr/>
          </p:nvSpPr>
          <p:spPr>
            <a:xfrm>
              <a:off x="3993567" y="3581563"/>
              <a:ext cx="2738674" cy="830997"/>
            </a:xfrm>
            <a:prstGeom prst="rect">
              <a:avLst/>
            </a:prstGeom>
            <a:noFill/>
          </p:spPr>
          <p:txBody>
            <a:bodyPr wrap="square" rtlCol="0">
              <a:spAutoFit/>
            </a:bodyPr>
            <a:lstStyle/>
            <a:p>
              <a:pPr algn="just"/>
              <a:r>
                <a:rPr lang="es-ES" sz="1200" dirty="0"/>
                <a:t>La fracción secuencial no se puede hacer mas rápido y al aumentar el número de procesadores se hace cada vez mas dominante.</a:t>
              </a:r>
            </a:p>
          </p:txBody>
        </p:sp>
        <p:cxnSp>
          <p:nvCxnSpPr>
            <p:cNvPr id="51" name="Conector recto de flecha 50">
              <a:extLst>
                <a:ext uri="{FF2B5EF4-FFF2-40B4-BE49-F238E27FC236}">
                  <a16:creationId xmlns:a16="http://schemas.microsoft.com/office/drawing/2014/main" id="{AD5928F3-CEE2-42F5-B70A-2CA16C017D17}"/>
                </a:ext>
              </a:extLst>
            </p:cNvPr>
            <p:cNvCxnSpPr>
              <a:stCxn id="49" idx="2"/>
            </p:cNvCxnSpPr>
            <p:nvPr/>
          </p:nvCxnSpPr>
          <p:spPr>
            <a:xfrm flipH="1">
              <a:off x="5360887" y="4412560"/>
              <a:ext cx="2017" cy="3900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7771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09E3290-0517-4903-B4F3-80784C60D28D}"/>
              </a:ext>
            </a:extLst>
          </p:cNvPr>
          <p:cNvSpPr>
            <a:spLocks noGrp="1"/>
          </p:cNvSpPr>
          <p:nvPr>
            <p:ph type="sldNum" sz="quarter" idx="12"/>
          </p:nvPr>
        </p:nvSpPr>
        <p:spPr/>
        <p:txBody>
          <a:bodyPr/>
          <a:lstStyle/>
          <a:p>
            <a:fld id="{2BC99F66-008B-4912-B721-8943319F59B7}" type="slidenum">
              <a:rPr lang="en-US" altLang="en-US" smtClean="0"/>
              <a:pPr/>
              <a:t>15</a:t>
            </a:fld>
            <a:endParaRPr lang="en-US" altLang="en-US"/>
          </a:p>
        </p:txBody>
      </p:sp>
      <p:pic>
        <p:nvPicPr>
          <p:cNvPr id="6" name="Gráfico 5">
            <a:extLst>
              <a:ext uri="{FF2B5EF4-FFF2-40B4-BE49-F238E27FC236}">
                <a16:creationId xmlns:a16="http://schemas.microsoft.com/office/drawing/2014/main" id="{FC11CE36-DE8E-4AA9-8993-2B72AE22DE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48000" y="1268760"/>
            <a:ext cx="6096000" cy="4762500"/>
          </a:xfrm>
          <a:prstGeom prst="rect">
            <a:avLst/>
          </a:prstGeom>
        </p:spPr>
      </p:pic>
      <p:pic>
        <p:nvPicPr>
          <p:cNvPr id="7" name="Imagen 6">
            <a:extLst>
              <a:ext uri="{FF2B5EF4-FFF2-40B4-BE49-F238E27FC236}">
                <a16:creationId xmlns:a16="http://schemas.microsoft.com/office/drawing/2014/main" id="{BCED4B99-7F62-4A97-AA48-0AEB9C036E4C}"/>
              </a:ext>
            </a:extLst>
          </p:cNvPr>
          <p:cNvPicPr>
            <a:picLocks noChangeAspect="1"/>
          </p:cNvPicPr>
          <p:nvPr/>
        </p:nvPicPr>
        <p:blipFill>
          <a:blip r:embed="rId4"/>
          <a:stretch>
            <a:fillRect/>
          </a:stretch>
        </p:blipFill>
        <p:spPr>
          <a:xfrm>
            <a:off x="107504" y="2870770"/>
            <a:ext cx="2986063" cy="1355121"/>
          </a:xfrm>
          <a:prstGeom prst="rect">
            <a:avLst/>
          </a:prstGeom>
        </p:spPr>
      </p:pic>
      <p:sp>
        <p:nvSpPr>
          <p:cNvPr id="8" name="CuadroTexto 7">
            <a:extLst>
              <a:ext uri="{FF2B5EF4-FFF2-40B4-BE49-F238E27FC236}">
                <a16:creationId xmlns:a16="http://schemas.microsoft.com/office/drawing/2014/main" id="{2F3A16E8-0013-428A-B2FC-99A5009EECDE}"/>
              </a:ext>
            </a:extLst>
          </p:cNvPr>
          <p:cNvSpPr txBox="1"/>
          <p:nvPr/>
        </p:nvSpPr>
        <p:spPr>
          <a:xfrm>
            <a:off x="467544" y="404664"/>
            <a:ext cx="6984776" cy="369332"/>
          </a:xfrm>
          <a:prstGeom prst="rect">
            <a:avLst/>
          </a:prstGeom>
          <a:noFill/>
        </p:spPr>
        <p:txBody>
          <a:bodyPr wrap="square" rtlCol="0">
            <a:spAutoFit/>
          </a:bodyPr>
          <a:lstStyle/>
          <a:p>
            <a:r>
              <a:rPr lang="es-ES" b="1" dirty="0"/>
              <a:t>La ley de Amdahl (Visión pesimista de la paralelización)</a:t>
            </a:r>
          </a:p>
        </p:txBody>
      </p:sp>
      <p:sp>
        <p:nvSpPr>
          <p:cNvPr id="9" name="CuadroTexto 8">
            <a:extLst>
              <a:ext uri="{FF2B5EF4-FFF2-40B4-BE49-F238E27FC236}">
                <a16:creationId xmlns:a16="http://schemas.microsoft.com/office/drawing/2014/main" id="{ABDC7730-7D44-48BC-B71F-478E9CF0BED0}"/>
              </a:ext>
            </a:extLst>
          </p:cNvPr>
          <p:cNvSpPr txBox="1"/>
          <p:nvPr/>
        </p:nvSpPr>
        <p:spPr>
          <a:xfrm>
            <a:off x="0" y="4335487"/>
            <a:ext cx="3528392" cy="461665"/>
          </a:xfrm>
          <a:prstGeom prst="rect">
            <a:avLst/>
          </a:prstGeom>
          <a:noFill/>
        </p:spPr>
        <p:txBody>
          <a:bodyPr wrap="square" rtlCol="0">
            <a:spAutoFit/>
          </a:bodyPr>
          <a:lstStyle/>
          <a:p>
            <a:pPr algn="just"/>
            <a:r>
              <a:rPr lang="es-ES" sz="1200" b="1" dirty="0"/>
              <a:t>f </a:t>
            </a:r>
            <a:r>
              <a:rPr lang="es-ES" sz="1200" dirty="0">
                <a:sym typeface="Wingdings" panose="05000000000000000000" pitchFamily="2" charset="2"/>
              </a:rPr>
              <a:t> Fracción paralela del tiempo de ejecución</a:t>
            </a:r>
          </a:p>
          <a:p>
            <a:pPr algn="just"/>
            <a:r>
              <a:rPr lang="es-ES" sz="1200" b="1" dirty="0">
                <a:sym typeface="Wingdings" panose="05000000000000000000" pitchFamily="2" charset="2"/>
              </a:rPr>
              <a:t>n</a:t>
            </a:r>
            <a:r>
              <a:rPr lang="es-ES" sz="1200" dirty="0">
                <a:sym typeface="Wingdings" panose="05000000000000000000" pitchFamily="2" charset="2"/>
              </a:rPr>
              <a:t>  Numero de procesadores</a:t>
            </a:r>
            <a:endParaRPr lang="es-ES" sz="1200" dirty="0"/>
          </a:p>
        </p:txBody>
      </p:sp>
      <p:grpSp>
        <p:nvGrpSpPr>
          <p:cNvPr id="18" name="Grupo 17">
            <a:extLst>
              <a:ext uri="{FF2B5EF4-FFF2-40B4-BE49-F238E27FC236}">
                <a16:creationId xmlns:a16="http://schemas.microsoft.com/office/drawing/2014/main" id="{EECA26D1-341F-4CBC-A318-F81A7FF96B6F}"/>
              </a:ext>
            </a:extLst>
          </p:cNvPr>
          <p:cNvGrpSpPr/>
          <p:nvPr/>
        </p:nvGrpSpPr>
        <p:grpSpPr>
          <a:xfrm>
            <a:off x="3731920" y="1713002"/>
            <a:ext cx="1956380" cy="923910"/>
            <a:chOff x="3731920" y="1713002"/>
            <a:chExt cx="1956380" cy="923910"/>
          </a:xfrm>
        </p:grpSpPr>
        <p:sp>
          <p:nvSpPr>
            <p:cNvPr id="10" name="Elipse 9">
              <a:extLst>
                <a:ext uri="{FF2B5EF4-FFF2-40B4-BE49-F238E27FC236}">
                  <a16:creationId xmlns:a16="http://schemas.microsoft.com/office/drawing/2014/main" id="{9717BD17-80E0-4B99-8DD4-B36513C7528F}"/>
                </a:ext>
              </a:extLst>
            </p:cNvPr>
            <p:cNvSpPr/>
            <p:nvPr/>
          </p:nvSpPr>
          <p:spPr>
            <a:xfrm>
              <a:off x="5472276" y="2420888"/>
              <a:ext cx="216024" cy="21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onector recto de flecha 11">
              <a:extLst>
                <a:ext uri="{FF2B5EF4-FFF2-40B4-BE49-F238E27FC236}">
                  <a16:creationId xmlns:a16="http://schemas.microsoft.com/office/drawing/2014/main" id="{B7BBBFD1-7F64-42A3-9A2F-C7610C248A64}"/>
                </a:ext>
              </a:extLst>
            </p:cNvPr>
            <p:cNvCxnSpPr>
              <a:cxnSpLocks/>
              <a:stCxn id="10" idx="1"/>
            </p:cNvCxnSpPr>
            <p:nvPr/>
          </p:nvCxnSpPr>
          <p:spPr>
            <a:xfrm flipH="1" flipV="1">
              <a:off x="5304068" y="2242094"/>
              <a:ext cx="199844" cy="21043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218DC430-B9FE-4039-BFAC-69AB45D63DAC}"/>
                </a:ext>
              </a:extLst>
            </p:cNvPr>
            <p:cNvSpPr txBox="1"/>
            <p:nvPr/>
          </p:nvSpPr>
          <p:spPr>
            <a:xfrm>
              <a:off x="3731920" y="1713002"/>
              <a:ext cx="1572148" cy="861774"/>
            </a:xfrm>
            <a:prstGeom prst="rect">
              <a:avLst/>
            </a:prstGeom>
            <a:noFill/>
          </p:spPr>
          <p:txBody>
            <a:bodyPr wrap="square" rtlCol="0">
              <a:spAutoFit/>
            </a:bodyPr>
            <a:lstStyle/>
            <a:p>
              <a:pPr algn="just"/>
              <a:r>
                <a:rPr lang="es-ES" sz="1000" dirty="0"/>
                <a:t>La aceleración usando </a:t>
              </a:r>
              <a:r>
                <a:rPr lang="es-ES" sz="1000" b="1" dirty="0"/>
                <a:t>64 procesadores </a:t>
              </a:r>
              <a:r>
                <a:rPr lang="es-ES" sz="1000" dirty="0"/>
                <a:t>es </a:t>
              </a:r>
              <a:r>
                <a:rPr lang="es-ES" sz="1000" b="1" dirty="0"/>
                <a:t>15.42</a:t>
              </a:r>
              <a:r>
                <a:rPr lang="es-ES" sz="1000" dirty="0"/>
                <a:t> veces respecto al tiempo usado con </a:t>
              </a:r>
              <a:r>
                <a:rPr lang="es-ES" sz="1000" b="1" dirty="0"/>
                <a:t>1 procesador</a:t>
              </a:r>
            </a:p>
          </p:txBody>
        </p:sp>
      </p:grpSp>
    </p:spTree>
    <p:extLst>
      <p:ext uri="{BB962C8B-B14F-4D97-AF65-F5344CB8AC3E}">
        <p14:creationId xmlns:p14="http://schemas.microsoft.com/office/powerpoint/2010/main" val="2263754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46E6EB8-47DD-48F4-B8A3-CBC78F61A8FF}"/>
              </a:ext>
            </a:extLst>
          </p:cNvPr>
          <p:cNvSpPr>
            <a:spLocks noGrp="1"/>
          </p:cNvSpPr>
          <p:nvPr>
            <p:ph type="sldNum" sz="quarter" idx="12"/>
          </p:nvPr>
        </p:nvSpPr>
        <p:spPr/>
        <p:txBody>
          <a:bodyPr/>
          <a:lstStyle/>
          <a:p>
            <a:fld id="{2BC99F66-008B-4912-B721-8943319F59B7}" type="slidenum">
              <a:rPr lang="en-US" altLang="en-US" smtClean="0"/>
              <a:pPr/>
              <a:t>16</a:t>
            </a:fld>
            <a:endParaRPr lang="en-US" altLang="en-US"/>
          </a:p>
        </p:txBody>
      </p:sp>
      <p:sp>
        <p:nvSpPr>
          <p:cNvPr id="5" name="CuadroTexto 4">
            <a:extLst>
              <a:ext uri="{FF2B5EF4-FFF2-40B4-BE49-F238E27FC236}">
                <a16:creationId xmlns:a16="http://schemas.microsoft.com/office/drawing/2014/main" id="{ABF1B982-1B1E-4886-A79D-97B073554E83}"/>
              </a:ext>
            </a:extLst>
          </p:cNvPr>
          <p:cNvSpPr txBox="1"/>
          <p:nvPr/>
        </p:nvSpPr>
        <p:spPr>
          <a:xfrm>
            <a:off x="467544" y="404664"/>
            <a:ext cx="7416824" cy="369332"/>
          </a:xfrm>
          <a:prstGeom prst="rect">
            <a:avLst/>
          </a:prstGeom>
          <a:noFill/>
        </p:spPr>
        <p:txBody>
          <a:bodyPr wrap="square" rtlCol="0">
            <a:spAutoFit/>
          </a:bodyPr>
          <a:lstStyle/>
          <a:p>
            <a:r>
              <a:rPr lang="es-ES" b="1" dirty="0"/>
              <a:t>La ley de Gustafson (Visión optimista de la paralelización)</a:t>
            </a:r>
          </a:p>
        </p:txBody>
      </p:sp>
      <p:sp>
        <p:nvSpPr>
          <p:cNvPr id="6" name="CuadroTexto 5">
            <a:extLst>
              <a:ext uri="{FF2B5EF4-FFF2-40B4-BE49-F238E27FC236}">
                <a16:creationId xmlns:a16="http://schemas.microsoft.com/office/drawing/2014/main" id="{D11A76F8-FE07-4FF2-B060-6DA6B374B137}"/>
              </a:ext>
            </a:extLst>
          </p:cNvPr>
          <p:cNvSpPr txBox="1"/>
          <p:nvPr/>
        </p:nvSpPr>
        <p:spPr>
          <a:xfrm>
            <a:off x="467544" y="1052736"/>
            <a:ext cx="6984776" cy="1323439"/>
          </a:xfrm>
          <a:prstGeom prst="rect">
            <a:avLst/>
          </a:prstGeom>
          <a:noFill/>
        </p:spPr>
        <p:txBody>
          <a:bodyPr wrap="square" rtlCol="0">
            <a:spAutoFit/>
          </a:bodyPr>
          <a:lstStyle/>
          <a:p>
            <a:pPr algn="just"/>
            <a:r>
              <a:rPr lang="es-ES" sz="1600" dirty="0"/>
              <a:t>La ley de Amdahl pone limite a la mejora que se puede obtener gracias a la paralelización, dado un conjunto de datos de tamaño fijo.</a:t>
            </a:r>
          </a:p>
          <a:p>
            <a:pPr algn="just"/>
            <a:endParaRPr lang="es-ES" sz="1600" dirty="0"/>
          </a:p>
          <a:p>
            <a:pPr algn="just"/>
            <a:r>
              <a:rPr lang="es-ES" sz="1600" dirty="0"/>
              <a:t>La ley de Gustafson establece que cualquier problema suficientemente grande se puede paralelizar de forma eficiente </a:t>
            </a:r>
          </a:p>
        </p:txBody>
      </p:sp>
      <p:pic>
        <p:nvPicPr>
          <p:cNvPr id="7" name="Imagen 6">
            <a:extLst>
              <a:ext uri="{FF2B5EF4-FFF2-40B4-BE49-F238E27FC236}">
                <a16:creationId xmlns:a16="http://schemas.microsoft.com/office/drawing/2014/main" id="{C5101E20-09CA-4153-A63D-E9639631C461}"/>
              </a:ext>
            </a:extLst>
          </p:cNvPr>
          <p:cNvPicPr>
            <a:picLocks noChangeAspect="1"/>
          </p:cNvPicPr>
          <p:nvPr/>
        </p:nvPicPr>
        <p:blipFill>
          <a:blip r:embed="rId2"/>
          <a:stretch>
            <a:fillRect/>
          </a:stretch>
        </p:blipFill>
        <p:spPr>
          <a:xfrm>
            <a:off x="2585240" y="2495513"/>
            <a:ext cx="5739348" cy="3563179"/>
          </a:xfrm>
          <a:prstGeom prst="rect">
            <a:avLst/>
          </a:prstGeom>
        </p:spPr>
      </p:pic>
      <p:pic>
        <p:nvPicPr>
          <p:cNvPr id="8" name="Imagen 7">
            <a:extLst>
              <a:ext uri="{FF2B5EF4-FFF2-40B4-BE49-F238E27FC236}">
                <a16:creationId xmlns:a16="http://schemas.microsoft.com/office/drawing/2014/main" id="{44A3E151-63BB-4FBD-9DA1-216AE7012AF4}"/>
              </a:ext>
            </a:extLst>
          </p:cNvPr>
          <p:cNvPicPr>
            <a:picLocks noChangeAspect="1"/>
          </p:cNvPicPr>
          <p:nvPr/>
        </p:nvPicPr>
        <p:blipFill>
          <a:blip r:embed="rId3"/>
          <a:stretch>
            <a:fillRect/>
          </a:stretch>
        </p:blipFill>
        <p:spPr>
          <a:xfrm>
            <a:off x="611560" y="3717032"/>
            <a:ext cx="1866900" cy="361950"/>
          </a:xfrm>
          <a:prstGeom prst="rect">
            <a:avLst/>
          </a:prstGeom>
        </p:spPr>
      </p:pic>
      <p:cxnSp>
        <p:nvCxnSpPr>
          <p:cNvPr id="10" name="Conector recto de flecha 9">
            <a:extLst>
              <a:ext uri="{FF2B5EF4-FFF2-40B4-BE49-F238E27FC236}">
                <a16:creationId xmlns:a16="http://schemas.microsoft.com/office/drawing/2014/main" id="{B929A417-F370-46A5-AA17-99C122CE0E9A}"/>
              </a:ext>
            </a:extLst>
          </p:cNvPr>
          <p:cNvCxnSpPr>
            <a:cxnSpLocks/>
          </p:cNvCxnSpPr>
          <p:nvPr/>
        </p:nvCxnSpPr>
        <p:spPr>
          <a:xfrm flipH="1">
            <a:off x="1525819" y="4078982"/>
            <a:ext cx="141362" cy="4301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F5705417-5AFD-4AB1-BCD8-B0383C46B496}"/>
              </a:ext>
            </a:extLst>
          </p:cNvPr>
          <p:cNvSpPr txBox="1"/>
          <p:nvPr/>
        </p:nvSpPr>
        <p:spPr>
          <a:xfrm>
            <a:off x="898265" y="4539196"/>
            <a:ext cx="1152128" cy="577081"/>
          </a:xfrm>
          <a:prstGeom prst="rect">
            <a:avLst/>
          </a:prstGeom>
          <a:noFill/>
        </p:spPr>
        <p:txBody>
          <a:bodyPr wrap="square" rtlCol="0">
            <a:spAutoFit/>
          </a:bodyPr>
          <a:lstStyle/>
          <a:p>
            <a:pPr algn="ctr"/>
            <a:r>
              <a:rPr lang="es-ES" sz="1050" dirty="0"/>
              <a:t>Parte secuencial del proceso</a:t>
            </a:r>
          </a:p>
        </p:txBody>
      </p:sp>
      <p:sp>
        <p:nvSpPr>
          <p:cNvPr id="12" name="CuadroTexto 11">
            <a:extLst>
              <a:ext uri="{FF2B5EF4-FFF2-40B4-BE49-F238E27FC236}">
                <a16:creationId xmlns:a16="http://schemas.microsoft.com/office/drawing/2014/main" id="{4DF16EB8-3FD9-4287-9CE0-5479E0B27700}"/>
              </a:ext>
            </a:extLst>
          </p:cNvPr>
          <p:cNvSpPr txBox="1"/>
          <p:nvPr/>
        </p:nvSpPr>
        <p:spPr>
          <a:xfrm>
            <a:off x="851339" y="3013502"/>
            <a:ext cx="1152128" cy="415498"/>
          </a:xfrm>
          <a:prstGeom prst="rect">
            <a:avLst/>
          </a:prstGeom>
          <a:noFill/>
        </p:spPr>
        <p:txBody>
          <a:bodyPr wrap="square" rtlCol="0">
            <a:spAutoFit/>
          </a:bodyPr>
          <a:lstStyle/>
          <a:p>
            <a:pPr algn="ctr"/>
            <a:r>
              <a:rPr lang="es-ES" sz="1050" dirty="0"/>
              <a:t>Numero de procesadores</a:t>
            </a:r>
          </a:p>
        </p:txBody>
      </p:sp>
      <p:cxnSp>
        <p:nvCxnSpPr>
          <p:cNvPr id="13" name="Conector recto de flecha 12">
            <a:extLst>
              <a:ext uri="{FF2B5EF4-FFF2-40B4-BE49-F238E27FC236}">
                <a16:creationId xmlns:a16="http://schemas.microsoft.com/office/drawing/2014/main" id="{450BB680-E159-4D84-8DEA-069A637C931C}"/>
              </a:ext>
            </a:extLst>
          </p:cNvPr>
          <p:cNvCxnSpPr>
            <a:cxnSpLocks/>
            <a:endCxn id="12" idx="2"/>
          </p:cNvCxnSpPr>
          <p:nvPr/>
        </p:nvCxnSpPr>
        <p:spPr>
          <a:xfrm flipV="1">
            <a:off x="1331640" y="3429000"/>
            <a:ext cx="95763" cy="360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Imagen 21">
            <a:extLst>
              <a:ext uri="{FF2B5EF4-FFF2-40B4-BE49-F238E27FC236}">
                <a16:creationId xmlns:a16="http://schemas.microsoft.com/office/drawing/2014/main" id="{7BEFDE46-29A8-4BCB-B4BC-EE27DF36E5A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84368" y="476672"/>
            <a:ext cx="877231" cy="1224136"/>
          </a:xfrm>
          <a:prstGeom prst="rect">
            <a:avLst/>
          </a:prstGeom>
        </p:spPr>
      </p:pic>
      <p:sp>
        <p:nvSpPr>
          <p:cNvPr id="23" name="CuadroTexto 22">
            <a:extLst>
              <a:ext uri="{FF2B5EF4-FFF2-40B4-BE49-F238E27FC236}">
                <a16:creationId xmlns:a16="http://schemas.microsoft.com/office/drawing/2014/main" id="{8BE4B072-9A65-4304-8644-F87E778420F0}"/>
              </a:ext>
            </a:extLst>
          </p:cNvPr>
          <p:cNvSpPr txBox="1"/>
          <p:nvPr/>
        </p:nvSpPr>
        <p:spPr>
          <a:xfrm>
            <a:off x="7609271" y="1727226"/>
            <a:ext cx="1427424" cy="461665"/>
          </a:xfrm>
          <a:prstGeom prst="rect">
            <a:avLst/>
          </a:prstGeom>
          <a:noFill/>
        </p:spPr>
        <p:txBody>
          <a:bodyPr wrap="square" rtlCol="0">
            <a:spAutoFit/>
          </a:bodyPr>
          <a:lstStyle/>
          <a:p>
            <a:r>
              <a:rPr lang="es-ES" sz="1200" dirty="0"/>
              <a:t>John L. Gustafson</a:t>
            </a:r>
          </a:p>
          <a:p>
            <a:pPr algn="ctr"/>
            <a:r>
              <a:rPr lang="es-ES" sz="1200" dirty="0"/>
              <a:t>1988</a:t>
            </a:r>
          </a:p>
        </p:txBody>
      </p:sp>
    </p:spTree>
    <p:extLst>
      <p:ext uri="{BB962C8B-B14F-4D97-AF65-F5344CB8AC3E}">
        <p14:creationId xmlns:p14="http://schemas.microsoft.com/office/powerpoint/2010/main" val="114195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4337E9B-CACC-4FC7-B1BE-8E6871EE6C87}"/>
              </a:ext>
            </a:extLst>
          </p:cNvPr>
          <p:cNvSpPr>
            <a:spLocks noGrp="1"/>
          </p:cNvSpPr>
          <p:nvPr>
            <p:ph type="sldNum" sz="quarter" idx="12"/>
          </p:nvPr>
        </p:nvSpPr>
        <p:spPr/>
        <p:txBody>
          <a:bodyPr/>
          <a:lstStyle/>
          <a:p>
            <a:fld id="{2BC99F66-008B-4912-B721-8943319F59B7}" type="slidenum">
              <a:rPr lang="en-US" altLang="en-US" smtClean="0"/>
              <a:pPr/>
              <a:t>17</a:t>
            </a:fld>
            <a:endParaRPr lang="en-US" altLang="en-US"/>
          </a:p>
        </p:txBody>
      </p:sp>
      <p:sp>
        <p:nvSpPr>
          <p:cNvPr id="3" name="CuadroTexto 2">
            <a:extLst>
              <a:ext uri="{FF2B5EF4-FFF2-40B4-BE49-F238E27FC236}">
                <a16:creationId xmlns:a16="http://schemas.microsoft.com/office/drawing/2014/main" id="{0888B99C-B4FD-40CE-AD22-4E20D202CC47}"/>
              </a:ext>
            </a:extLst>
          </p:cNvPr>
          <p:cNvSpPr txBox="1"/>
          <p:nvPr/>
        </p:nvSpPr>
        <p:spPr>
          <a:xfrm>
            <a:off x="395536" y="323364"/>
            <a:ext cx="6984776" cy="369332"/>
          </a:xfrm>
          <a:prstGeom prst="rect">
            <a:avLst/>
          </a:prstGeom>
          <a:noFill/>
        </p:spPr>
        <p:txBody>
          <a:bodyPr wrap="square" rtlCol="0">
            <a:spAutoFit/>
          </a:bodyPr>
          <a:lstStyle/>
          <a:p>
            <a:r>
              <a:rPr lang="es-ES" b="1" dirty="0"/>
              <a:t>Escalabilidad</a:t>
            </a:r>
          </a:p>
        </p:txBody>
      </p:sp>
      <p:sp>
        <p:nvSpPr>
          <p:cNvPr id="5" name="CuadroTexto 4">
            <a:extLst>
              <a:ext uri="{FF2B5EF4-FFF2-40B4-BE49-F238E27FC236}">
                <a16:creationId xmlns:a16="http://schemas.microsoft.com/office/drawing/2014/main" id="{23904D4C-0EBF-48D2-991D-430351196DF7}"/>
              </a:ext>
            </a:extLst>
          </p:cNvPr>
          <p:cNvSpPr txBox="1"/>
          <p:nvPr/>
        </p:nvSpPr>
        <p:spPr>
          <a:xfrm>
            <a:off x="378732" y="620688"/>
            <a:ext cx="6984776" cy="369332"/>
          </a:xfrm>
          <a:prstGeom prst="rect">
            <a:avLst/>
          </a:prstGeom>
          <a:noFill/>
        </p:spPr>
        <p:txBody>
          <a:bodyPr wrap="square" rtlCol="0">
            <a:spAutoFit/>
          </a:bodyPr>
          <a:lstStyle/>
          <a:p>
            <a:r>
              <a:rPr lang="es-ES" b="1" dirty="0"/>
              <a:t>Escalabilidad fuerte (</a:t>
            </a:r>
            <a:r>
              <a:rPr lang="es-ES" b="1" dirty="0" err="1"/>
              <a:t>Strong</a:t>
            </a:r>
            <a:r>
              <a:rPr lang="es-ES" b="1" dirty="0"/>
              <a:t> </a:t>
            </a:r>
            <a:r>
              <a:rPr lang="es-ES" b="1" dirty="0" err="1"/>
              <a:t>scalability</a:t>
            </a:r>
            <a:r>
              <a:rPr lang="es-ES" b="1" dirty="0"/>
              <a:t>, Amdahl)</a:t>
            </a:r>
          </a:p>
        </p:txBody>
      </p:sp>
      <p:sp>
        <p:nvSpPr>
          <p:cNvPr id="6" name="CuadroTexto 5">
            <a:extLst>
              <a:ext uri="{FF2B5EF4-FFF2-40B4-BE49-F238E27FC236}">
                <a16:creationId xmlns:a16="http://schemas.microsoft.com/office/drawing/2014/main" id="{90F78875-E3D5-4D01-8B14-0FE54313E8A2}"/>
              </a:ext>
            </a:extLst>
          </p:cNvPr>
          <p:cNvSpPr txBox="1"/>
          <p:nvPr/>
        </p:nvSpPr>
        <p:spPr>
          <a:xfrm>
            <a:off x="395536" y="2627620"/>
            <a:ext cx="6984776" cy="369332"/>
          </a:xfrm>
          <a:prstGeom prst="rect">
            <a:avLst/>
          </a:prstGeom>
          <a:noFill/>
        </p:spPr>
        <p:txBody>
          <a:bodyPr wrap="square" rtlCol="0">
            <a:spAutoFit/>
          </a:bodyPr>
          <a:lstStyle/>
          <a:p>
            <a:r>
              <a:rPr lang="es-ES" b="1" dirty="0"/>
              <a:t>Escalabilidad débil (</a:t>
            </a:r>
            <a:r>
              <a:rPr lang="es-ES" b="1" dirty="0" err="1"/>
              <a:t>Weak</a:t>
            </a:r>
            <a:r>
              <a:rPr lang="es-ES" b="1" dirty="0"/>
              <a:t> </a:t>
            </a:r>
            <a:r>
              <a:rPr lang="es-ES" b="1" dirty="0" err="1"/>
              <a:t>scalability</a:t>
            </a:r>
            <a:r>
              <a:rPr lang="es-ES" b="1" dirty="0"/>
              <a:t>, Gustafson)</a:t>
            </a:r>
          </a:p>
        </p:txBody>
      </p:sp>
      <p:sp>
        <p:nvSpPr>
          <p:cNvPr id="7" name="CuadroTexto 6">
            <a:extLst>
              <a:ext uri="{FF2B5EF4-FFF2-40B4-BE49-F238E27FC236}">
                <a16:creationId xmlns:a16="http://schemas.microsoft.com/office/drawing/2014/main" id="{C789C3F4-391E-43C8-A62A-0EDB8F556D16}"/>
              </a:ext>
            </a:extLst>
          </p:cNvPr>
          <p:cNvSpPr txBox="1"/>
          <p:nvPr/>
        </p:nvSpPr>
        <p:spPr>
          <a:xfrm>
            <a:off x="378732" y="1086657"/>
            <a:ext cx="8136904" cy="1323439"/>
          </a:xfrm>
          <a:prstGeom prst="rect">
            <a:avLst/>
          </a:prstGeom>
          <a:noFill/>
        </p:spPr>
        <p:txBody>
          <a:bodyPr wrap="square" rtlCol="0">
            <a:spAutoFit/>
          </a:bodyPr>
          <a:lstStyle/>
          <a:p>
            <a:pPr marL="285750" indent="-285750">
              <a:buFont typeface="Arial" panose="020B0604020202020204" pitchFamily="34" charset="0"/>
              <a:buChar char="•"/>
            </a:pPr>
            <a:r>
              <a:rPr lang="es-ES" sz="1600" dirty="0"/>
              <a:t>El tamaño del problema N permanece fijo a medida que se aumenta el numero de procesadores.</a:t>
            </a:r>
          </a:p>
          <a:p>
            <a:pPr marL="285750" indent="-285750">
              <a:buFont typeface="Arial" panose="020B0604020202020204" pitchFamily="34" charset="0"/>
              <a:buChar char="•"/>
            </a:pPr>
            <a:r>
              <a:rPr lang="es-ES" sz="1600" dirty="0"/>
              <a:t>Objetivo resolver el mismo problema en menos tiempo. </a:t>
            </a:r>
          </a:p>
          <a:p>
            <a:pPr marL="285750" indent="-285750">
              <a:buFont typeface="Arial" panose="020B0604020202020204" pitchFamily="34" charset="0"/>
              <a:buChar char="•"/>
            </a:pPr>
            <a:r>
              <a:rPr lang="es-ES" sz="1600" dirty="0"/>
              <a:t>El escalado perfecto significa que el problema se resuelve en un tiempo 1/p (donde N es el numero de procesadores) comparado con el problema en serie</a:t>
            </a:r>
          </a:p>
        </p:txBody>
      </p:sp>
      <p:sp>
        <p:nvSpPr>
          <p:cNvPr id="8" name="CuadroTexto 7">
            <a:extLst>
              <a:ext uri="{FF2B5EF4-FFF2-40B4-BE49-F238E27FC236}">
                <a16:creationId xmlns:a16="http://schemas.microsoft.com/office/drawing/2014/main" id="{B6017C0C-58DE-449D-A7C5-92EF3832E7D3}"/>
              </a:ext>
            </a:extLst>
          </p:cNvPr>
          <p:cNvSpPr txBox="1"/>
          <p:nvPr/>
        </p:nvSpPr>
        <p:spPr>
          <a:xfrm>
            <a:off x="377607" y="2969657"/>
            <a:ext cx="8136904" cy="1323439"/>
          </a:xfrm>
          <a:prstGeom prst="rect">
            <a:avLst/>
          </a:prstGeom>
          <a:noFill/>
        </p:spPr>
        <p:txBody>
          <a:bodyPr wrap="square" rtlCol="0">
            <a:spAutoFit/>
          </a:bodyPr>
          <a:lstStyle/>
          <a:p>
            <a:pPr marL="285750" indent="-285750">
              <a:buFont typeface="Arial" panose="020B0604020202020204" pitchFamily="34" charset="0"/>
              <a:buChar char="•"/>
            </a:pPr>
            <a:r>
              <a:rPr lang="es-ES" sz="1600" dirty="0"/>
              <a:t>El tamaño del problema por procesador permanece fijo a medida que se aumenta el numero de procesadores.</a:t>
            </a:r>
          </a:p>
          <a:p>
            <a:pPr marL="285750" indent="-285750">
              <a:buFont typeface="Arial" panose="020B0604020202020204" pitchFamily="34" charset="0"/>
              <a:buChar char="•"/>
            </a:pPr>
            <a:r>
              <a:rPr lang="es-ES" sz="1600" dirty="0"/>
              <a:t>Objetivo resolver problemas cada vez mas grandes en el mismo tiempo. </a:t>
            </a:r>
          </a:p>
          <a:p>
            <a:pPr marL="285750" indent="-285750">
              <a:buFont typeface="Arial" panose="020B0604020202020204" pitchFamily="34" charset="0"/>
              <a:buChar char="•"/>
            </a:pPr>
            <a:r>
              <a:rPr lang="es-ES" sz="1600" dirty="0"/>
              <a:t>El escalado perfecto significa que el problema </a:t>
            </a:r>
            <a:r>
              <a:rPr lang="es-ES" sz="1600" dirty="0" err="1"/>
              <a:t>Px</a:t>
            </a:r>
            <a:r>
              <a:rPr lang="es-ES" sz="1600" dirty="0"/>
              <a:t> se ejecuta en el mismo tiempo que el proceso en un solo procesador.</a:t>
            </a:r>
          </a:p>
        </p:txBody>
      </p:sp>
      <p:grpSp>
        <p:nvGrpSpPr>
          <p:cNvPr id="49" name="Grupo 48">
            <a:extLst>
              <a:ext uri="{FF2B5EF4-FFF2-40B4-BE49-F238E27FC236}">
                <a16:creationId xmlns:a16="http://schemas.microsoft.com/office/drawing/2014/main" id="{35F91595-E4DD-44F8-88C7-A708A931FF1B}"/>
              </a:ext>
            </a:extLst>
          </p:cNvPr>
          <p:cNvGrpSpPr/>
          <p:nvPr/>
        </p:nvGrpSpPr>
        <p:grpSpPr>
          <a:xfrm>
            <a:off x="956553" y="4262804"/>
            <a:ext cx="3268495" cy="2572530"/>
            <a:chOff x="956553" y="4262804"/>
            <a:chExt cx="3268495" cy="2572530"/>
          </a:xfrm>
        </p:grpSpPr>
        <p:grpSp>
          <p:nvGrpSpPr>
            <p:cNvPr id="36" name="Grupo 35">
              <a:extLst>
                <a:ext uri="{FF2B5EF4-FFF2-40B4-BE49-F238E27FC236}">
                  <a16:creationId xmlns:a16="http://schemas.microsoft.com/office/drawing/2014/main" id="{B7AF5B52-8A6A-443F-A970-D6143AAE34D7}"/>
                </a:ext>
              </a:extLst>
            </p:cNvPr>
            <p:cNvGrpSpPr/>
            <p:nvPr/>
          </p:nvGrpSpPr>
          <p:grpSpPr>
            <a:xfrm>
              <a:off x="956553" y="4262804"/>
              <a:ext cx="3268495" cy="2572530"/>
              <a:chOff x="1391763" y="4353319"/>
              <a:chExt cx="3268495" cy="2572530"/>
            </a:xfrm>
          </p:grpSpPr>
          <p:grpSp>
            <p:nvGrpSpPr>
              <p:cNvPr id="13" name="Grupo 12">
                <a:extLst>
                  <a:ext uri="{FF2B5EF4-FFF2-40B4-BE49-F238E27FC236}">
                    <a16:creationId xmlns:a16="http://schemas.microsoft.com/office/drawing/2014/main" id="{50FF7AD7-D71D-4D6F-BD71-8A59564FAD95}"/>
                  </a:ext>
                </a:extLst>
              </p:cNvPr>
              <p:cNvGrpSpPr/>
              <p:nvPr/>
            </p:nvGrpSpPr>
            <p:grpSpPr>
              <a:xfrm>
                <a:off x="1391763" y="4405259"/>
                <a:ext cx="3268495" cy="2520590"/>
                <a:chOff x="1591516" y="3210627"/>
                <a:chExt cx="3268495" cy="2520590"/>
              </a:xfrm>
            </p:grpSpPr>
            <p:sp>
              <p:nvSpPr>
                <p:cNvPr id="30" name="Rectángulo 29">
                  <a:extLst>
                    <a:ext uri="{FF2B5EF4-FFF2-40B4-BE49-F238E27FC236}">
                      <a16:creationId xmlns:a16="http://schemas.microsoft.com/office/drawing/2014/main" id="{084FC30A-EAEA-496B-B271-05782168AC1A}"/>
                    </a:ext>
                  </a:extLst>
                </p:cNvPr>
                <p:cNvSpPr/>
                <p:nvPr/>
              </p:nvSpPr>
              <p:spPr>
                <a:xfrm>
                  <a:off x="1591516" y="3210627"/>
                  <a:ext cx="2820197" cy="25205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upo 14">
                  <a:extLst>
                    <a:ext uri="{FF2B5EF4-FFF2-40B4-BE49-F238E27FC236}">
                      <a16:creationId xmlns:a16="http://schemas.microsoft.com/office/drawing/2014/main" id="{1EA5BD4B-3624-4096-909C-CD8E09EF79D6}"/>
                    </a:ext>
                  </a:extLst>
                </p:cNvPr>
                <p:cNvGrpSpPr/>
                <p:nvPr/>
              </p:nvGrpSpPr>
              <p:grpSpPr>
                <a:xfrm>
                  <a:off x="1963441" y="3284984"/>
                  <a:ext cx="2376264" cy="2043230"/>
                  <a:chOff x="1963441" y="3284984"/>
                  <a:chExt cx="2376264" cy="2043230"/>
                </a:xfrm>
              </p:grpSpPr>
              <p:cxnSp>
                <p:nvCxnSpPr>
                  <p:cNvPr id="34" name="Conector recto de flecha 33">
                    <a:extLst>
                      <a:ext uri="{FF2B5EF4-FFF2-40B4-BE49-F238E27FC236}">
                        <a16:creationId xmlns:a16="http://schemas.microsoft.com/office/drawing/2014/main" id="{512DFCD0-8B72-4195-8B2C-88F543DABED3}"/>
                      </a:ext>
                    </a:extLst>
                  </p:cNvPr>
                  <p:cNvCxnSpPr/>
                  <p:nvPr/>
                </p:nvCxnSpPr>
                <p:spPr>
                  <a:xfrm flipV="1">
                    <a:off x="1979712" y="3284984"/>
                    <a:ext cx="0" cy="2043227"/>
                  </a:xfrm>
                  <a:prstGeom prst="straightConnector1">
                    <a:avLst/>
                  </a:prstGeom>
                  <a:ln w="28575">
                    <a:solidFill>
                      <a:srgbClr val="1E1E1E"/>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B2D6D642-3179-4AE3-A9EE-B93B11B296A0}"/>
                      </a:ext>
                    </a:extLst>
                  </p:cNvPr>
                  <p:cNvCxnSpPr>
                    <a:cxnSpLocks/>
                  </p:cNvCxnSpPr>
                  <p:nvPr/>
                </p:nvCxnSpPr>
                <p:spPr>
                  <a:xfrm flipV="1">
                    <a:off x="1963441" y="5328211"/>
                    <a:ext cx="2376264" cy="3"/>
                  </a:xfrm>
                  <a:prstGeom prst="straightConnector1">
                    <a:avLst/>
                  </a:prstGeom>
                  <a:ln w="28575">
                    <a:solidFill>
                      <a:srgbClr val="1E1E1E"/>
                    </a:solidFill>
                    <a:tailEnd type="triangle"/>
                  </a:ln>
                </p:spPr>
                <p:style>
                  <a:lnRef idx="1">
                    <a:schemeClr val="accent1"/>
                  </a:lnRef>
                  <a:fillRef idx="0">
                    <a:schemeClr val="accent1"/>
                  </a:fillRef>
                  <a:effectRef idx="0">
                    <a:schemeClr val="accent1"/>
                  </a:effectRef>
                  <a:fontRef idx="minor">
                    <a:schemeClr val="tx1"/>
                  </a:fontRef>
                </p:style>
              </p:cxnSp>
            </p:grpSp>
            <p:sp>
              <p:nvSpPr>
                <p:cNvPr id="29" name="CuadroTexto 28">
                  <a:extLst>
                    <a:ext uri="{FF2B5EF4-FFF2-40B4-BE49-F238E27FC236}">
                      <a16:creationId xmlns:a16="http://schemas.microsoft.com/office/drawing/2014/main" id="{80A35224-5CE0-47CE-8A71-D5F0944B7F12}"/>
                    </a:ext>
                  </a:extLst>
                </p:cNvPr>
                <p:cNvSpPr txBox="1"/>
                <p:nvPr/>
              </p:nvSpPr>
              <p:spPr>
                <a:xfrm>
                  <a:off x="1591516" y="5423440"/>
                  <a:ext cx="3268495" cy="307777"/>
                </a:xfrm>
                <a:prstGeom prst="rect">
                  <a:avLst/>
                </a:prstGeom>
                <a:noFill/>
              </p:spPr>
              <p:txBody>
                <a:bodyPr wrap="square" rtlCol="0">
                  <a:spAutoFit/>
                </a:bodyPr>
                <a:lstStyle/>
                <a:p>
                  <a:pPr algn="ctr"/>
                  <a:r>
                    <a:rPr lang="en-US" sz="1400" b="1" dirty="0"/>
                    <a:t># de </a:t>
                  </a:r>
                  <a:r>
                    <a:rPr lang="es-ES" sz="1400" b="1" dirty="0"/>
                    <a:t>núcleos</a:t>
                  </a:r>
                  <a:r>
                    <a:rPr lang="en-US" sz="1400" b="1" dirty="0"/>
                    <a:t> (cores)</a:t>
                  </a:r>
                </a:p>
              </p:txBody>
            </p:sp>
          </p:grpSp>
          <p:sp>
            <p:nvSpPr>
              <p:cNvPr id="14" name="CuadroTexto 13">
                <a:extLst>
                  <a:ext uri="{FF2B5EF4-FFF2-40B4-BE49-F238E27FC236}">
                    <a16:creationId xmlns:a16="http://schemas.microsoft.com/office/drawing/2014/main" id="{F227524A-4C98-4BAA-B802-1A1FBC298DF8}"/>
                  </a:ext>
                </a:extLst>
              </p:cNvPr>
              <p:cNvSpPr txBox="1"/>
              <p:nvPr/>
            </p:nvSpPr>
            <p:spPr>
              <a:xfrm rot="16200000">
                <a:off x="397743" y="5347340"/>
                <a:ext cx="2295819" cy="307777"/>
              </a:xfrm>
              <a:prstGeom prst="rect">
                <a:avLst/>
              </a:prstGeom>
              <a:noFill/>
            </p:spPr>
            <p:txBody>
              <a:bodyPr wrap="square" rtlCol="0">
                <a:spAutoFit/>
              </a:bodyPr>
              <a:lstStyle/>
              <a:p>
                <a:pPr algn="ctr"/>
                <a:r>
                  <a:rPr lang="es-ES" sz="1400" b="1" dirty="0"/>
                  <a:t>Tiempo de ejecución</a:t>
                </a:r>
                <a:endParaRPr lang="en-US" sz="1400" b="1" dirty="0"/>
              </a:p>
            </p:txBody>
          </p:sp>
        </p:grpSp>
        <p:cxnSp>
          <p:nvCxnSpPr>
            <p:cNvPr id="38" name="Conector recto 37">
              <a:extLst>
                <a:ext uri="{FF2B5EF4-FFF2-40B4-BE49-F238E27FC236}">
                  <a16:creationId xmlns:a16="http://schemas.microsoft.com/office/drawing/2014/main" id="{242B708C-2689-48AC-8C39-02F007F0CBB2}"/>
                </a:ext>
              </a:extLst>
            </p:cNvPr>
            <p:cNvCxnSpPr/>
            <p:nvPr/>
          </p:nvCxnSpPr>
          <p:spPr>
            <a:xfrm>
              <a:off x="1353714" y="4797152"/>
              <a:ext cx="1859099" cy="1446486"/>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40" name="Forma libre: forma 39">
              <a:extLst>
                <a:ext uri="{FF2B5EF4-FFF2-40B4-BE49-F238E27FC236}">
                  <a16:creationId xmlns:a16="http://schemas.microsoft.com/office/drawing/2014/main" id="{3CE199A7-723E-4561-8AF1-F4CA69A53A5B}"/>
                </a:ext>
              </a:extLst>
            </p:cNvPr>
            <p:cNvSpPr/>
            <p:nvPr/>
          </p:nvSpPr>
          <p:spPr>
            <a:xfrm>
              <a:off x="1361021" y="4753805"/>
              <a:ext cx="2177536" cy="721462"/>
            </a:xfrm>
            <a:custGeom>
              <a:avLst/>
              <a:gdLst>
                <a:gd name="connsiteX0" fmla="*/ 0 w 2177536"/>
                <a:gd name="connsiteY0" fmla="*/ 0 h 721462"/>
                <a:gd name="connsiteX1" fmla="*/ 421341 w 2177536"/>
                <a:gd name="connsiteY1" fmla="*/ 295836 h 721462"/>
                <a:gd name="connsiteX2" fmla="*/ 2026024 w 2177536"/>
                <a:gd name="connsiteY2" fmla="*/ 681318 h 721462"/>
                <a:gd name="connsiteX3" fmla="*/ 2017059 w 2177536"/>
                <a:gd name="connsiteY3" fmla="*/ 690283 h 721462"/>
              </a:gdLst>
              <a:ahLst/>
              <a:cxnLst>
                <a:cxn ang="0">
                  <a:pos x="connsiteX0" y="connsiteY0"/>
                </a:cxn>
                <a:cxn ang="0">
                  <a:pos x="connsiteX1" y="connsiteY1"/>
                </a:cxn>
                <a:cxn ang="0">
                  <a:pos x="connsiteX2" y="connsiteY2"/>
                </a:cxn>
                <a:cxn ang="0">
                  <a:pos x="connsiteX3" y="connsiteY3"/>
                </a:cxn>
              </a:cxnLst>
              <a:rect l="l" t="t" r="r" b="b"/>
              <a:pathLst>
                <a:path w="2177536" h="721462">
                  <a:moveTo>
                    <a:pt x="0" y="0"/>
                  </a:moveTo>
                  <a:cubicBezTo>
                    <a:pt x="41835" y="91141"/>
                    <a:pt x="83670" y="182283"/>
                    <a:pt x="421341" y="295836"/>
                  </a:cubicBezTo>
                  <a:cubicBezTo>
                    <a:pt x="759012" y="409389"/>
                    <a:pt x="2026024" y="681318"/>
                    <a:pt x="2026024" y="681318"/>
                  </a:cubicBezTo>
                  <a:cubicBezTo>
                    <a:pt x="2291977" y="747059"/>
                    <a:pt x="2154518" y="718671"/>
                    <a:pt x="2017059" y="690283"/>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Imagen 44">
              <a:extLst>
                <a:ext uri="{FF2B5EF4-FFF2-40B4-BE49-F238E27FC236}">
                  <a16:creationId xmlns:a16="http://schemas.microsoft.com/office/drawing/2014/main" id="{2F489EEB-3EF6-4B39-8015-93A1CEBC542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50146"/>
            <a:stretch/>
          </p:blipFill>
          <p:spPr>
            <a:xfrm>
              <a:off x="2188794" y="5737253"/>
              <a:ext cx="345771" cy="369332"/>
            </a:xfrm>
            <a:prstGeom prst="rect">
              <a:avLst/>
            </a:prstGeom>
          </p:spPr>
        </p:pic>
        <p:pic>
          <p:nvPicPr>
            <p:cNvPr id="46" name="Imagen 45">
              <a:extLst>
                <a:ext uri="{FF2B5EF4-FFF2-40B4-BE49-F238E27FC236}">
                  <a16:creationId xmlns:a16="http://schemas.microsoft.com/office/drawing/2014/main" id="{5790295F-2107-4D20-87B8-F639626E98F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0146"/>
            <a:stretch/>
          </p:blipFill>
          <p:spPr>
            <a:xfrm>
              <a:off x="2699792" y="4880825"/>
              <a:ext cx="345771" cy="369332"/>
            </a:xfrm>
            <a:prstGeom prst="rect">
              <a:avLst/>
            </a:prstGeom>
          </p:spPr>
        </p:pic>
        <p:sp>
          <p:nvSpPr>
            <p:cNvPr id="47" name="CuadroTexto 46">
              <a:extLst>
                <a:ext uri="{FF2B5EF4-FFF2-40B4-BE49-F238E27FC236}">
                  <a16:creationId xmlns:a16="http://schemas.microsoft.com/office/drawing/2014/main" id="{4881BE47-71F5-49FE-9A21-456314AA0717}"/>
                </a:ext>
              </a:extLst>
            </p:cNvPr>
            <p:cNvSpPr txBox="1"/>
            <p:nvPr/>
          </p:nvSpPr>
          <p:spPr>
            <a:xfrm>
              <a:off x="1853626" y="4340644"/>
              <a:ext cx="1452500" cy="369332"/>
            </a:xfrm>
            <a:prstGeom prst="rect">
              <a:avLst/>
            </a:prstGeom>
            <a:noFill/>
          </p:spPr>
          <p:txBody>
            <a:bodyPr wrap="square" rtlCol="0">
              <a:spAutoFit/>
            </a:bodyPr>
            <a:lstStyle/>
            <a:p>
              <a:r>
                <a:rPr lang="es-ES" sz="1050" b="1" dirty="0"/>
                <a:t>Escalabilidad fuerte</a:t>
              </a:r>
              <a:r>
                <a:rPr lang="es-ES" b="1" dirty="0"/>
                <a:t> </a:t>
              </a:r>
            </a:p>
          </p:txBody>
        </p:sp>
        <p:sp>
          <p:nvSpPr>
            <p:cNvPr id="48" name="CuadroTexto 47">
              <a:extLst>
                <a:ext uri="{FF2B5EF4-FFF2-40B4-BE49-F238E27FC236}">
                  <a16:creationId xmlns:a16="http://schemas.microsoft.com/office/drawing/2014/main" id="{B0AC4591-49AD-421E-9AB9-B3E5DE6BD00F}"/>
                </a:ext>
              </a:extLst>
            </p:cNvPr>
            <p:cNvSpPr txBox="1"/>
            <p:nvPr/>
          </p:nvSpPr>
          <p:spPr>
            <a:xfrm>
              <a:off x="1646657" y="6178412"/>
              <a:ext cx="1559532" cy="253916"/>
            </a:xfrm>
            <a:prstGeom prst="rect">
              <a:avLst/>
            </a:prstGeom>
            <a:noFill/>
          </p:spPr>
          <p:txBody>
            <a:bodyPr wrap="square" rtlCol="0">
              <a:spAutoFit/>
            </a:bodyPr>
            <a:lstStyle/>
            <a:p>
              <a:r>
                <a:rPr lang="es-ES" sz="1050" b="1" dirty="0"/>
                <a:t>N tamaño constante</a:t>
              </a:r>
              <a:endParaRPr lang="es-ES" b="1" dirty="0"/>
            </a:p>
          </p:txBody>
        </p:sp>
      </p:grpSp>
      <p:grpSp>
        <p:nvGrpSpPr>
          <p:cNvPr id="50" name="Grupo 49">
            <a:extLst>
              <a:ext uri="{FF2B5EF4-FFF2-40B4-BE49-F238E27FC236}">
                <a16:creationId xmlns:a16="http://schemas.microsoft.com/office/drawing/2014/main" id="{51985A3D-171A-4F17-AF9B-A690F30738E8}"/>
              </a:ext>
            </a:extLst>
          </p:cNvPr>
          <p:cNvGrpSpPr/>
          <p:nvPr/>
        </p:nvGrpSpPr>
        <p:grpSpPr>
          <a:xfrm>
            <a:off x="4680759" y="4240846"/>
            <a:ext cx="3506676" cy="2572530"/>
            <a:chOff x="956553" y="4262804"/>
            <a:chExt cx="3506676" cy="2572530"/>
          </a:xfrm>
        </p:grpSpPr>
        <p:grpSp>
          <p:nvGrpSpPr>
            <p:cNvPr id="51" name="Grupo 50">
              <a:extLst>
                <a:ext uri="{FF2B5EF4-FFF2-40B4-BE49-F238E27FC236}">
                  <a16:creationId xmlns:a16="http://schemas.microsoft.com/office/drawing/2014/main" id="{561D4BFF-6CE0-4881-83C3-441D2EC5EE3C}"/>
                </a:ext>
              </a:extLst>
            </p:cNvPr>
            <p:cNvGrpSpPr/>
            <p:nvPr/>
          </p:nvGrpSpPr>
          <p:grpSpPr>
            <a:xfrm>
              <a:off x="956553" y="4262804"/>
              <a:ext cx="3327136" cy="2572530"/>
              <a:chOff x="1391763" y="4353319"/>
              <a:chExt cx="3327136" cy="2572530"/>
            </a:xfrm>
          </p:grpSpPr>
          <p:grpSp>
            <p:nvGrpSpPr>
              <p:cNvPr id="58" name="Grupo 57">
                <a:extLst>
                  <a:ext uri="{FF2B5EF4-FFF2-40B4-BE49-F238E27FC236}">
                    <a16:creationId xmlns:a16="http://schemas.microsoft.com/office/drawing/2014/main" id="{A30B085F-F4B1-4357-99F3-54E728E020D3}"/>
                  </a:ext>
                </a:extLst>
              </p:cNvPr>
              <p:cNvGrpSpPr/>
              <p:nvPr/>
            </p:nvGrpSpPr>
            <p:grpSpPr>
              <a:xfrm>
                <a:off x="1391763" y="4405259"/>
                <a:ext cx="3327136" cy="2520590"/>
                <a:chOff x="1591516" y="3210627"/>
                <a:chExt cx="3327136" cy="2520590"/>
              </a:xfrm>
            </p:grpSpPr>
            <p:sp>
              <p:nvSpPr>
                <p:cNvPr id="60" name="Rectángulo 59">
                  <a:extLst>
                    <a:ext uri="{FF2B5EF4-FFF2-40B4-BE49-F238E27FC236}">
                      <a16:creationId xmlns:a16="http://schemas.microsoft.com/office/drawing/2014/main" id="{479AC7E5-2516-4926-86E8-7B14D60E3151}"/>
                    </a:ext>
                  </a:extLst>
                </p:cNvPr>
                <p:cNvSpPr/>
                <p:nvPr/>
              </p:nvSpPr>
              <p:spPr>
                <a:xfrm>
                  <a:off x="1591516" y="3210627"/>
                  <a:ext cx="3327136" cy="25205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upo 60">
                  <a:extLst>
                    <a:ext uri="{FF2B5EF4-FFF2-40B4-BE49-F238E27FC236}">
                      <a16:creationId xmlns:a16="http://schemas.microsoft.com/office/drawing/2014/main" id="{F3BB828D-6542-4B9C-8DDD-F54C84B015C0}"/>
                    </a:ext>
                  </a:extLst>
                </p:cNvPr>
                <p:cNvGrpSpPr/>
                <p:nvPr/>
              </p:nvGrpSpPr>
              <p:grpSpPr>
                <a:xfrm>
                  <a:off x="1963441" y="3284984"/>
                  <a:ext cx="2376264" cy="2043230"/>
                  <a:chOff x="1963441" y="3284984"/>
                  <a:chExt cx="2376264" cy="2043230"/>
                </a:xfrm>
              </p:grpSpPr>
              <p:cxnSp>
                <p:nvCxnSpPr>
                  <p:cNvPr id="63" name="Conector recto de flecha 62">
                    <a:extLst>
                      <a:ext uri="{FF2B5EF4-FFF2-40B4-BE49-F238E27FC236}">
                        <a16:creationId xmlns:a16="http://schemas.microsoft.com/office/drawing/2014/main" id="{98DA9C60-BA61-4B12-9339-EFFBBB02A133}"/>
                      </a:ext>
                    </a:extLst>
                  </p:cNvPr>
                  <p:cNvCxnSpPr/>
                  <p:nvPr/>
                </p:nvCxnSpPr>
                <p:spPr>
                  <a:xfrm flipV="1">
                    <a:off x="1979712" y="3284984"/>
                    <a:ext cx="0" cy="2043227"/>
                  </a:xfrm>
                  <a:prstGeom prst="straightConnector1">
                    <a:avLst/>
                  </a:prstGeom>
                  <a:ln w="28575">
                    <a:solidFill>
                      <a:srgbClr val="1E1E1E"/>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ector recto de flecha 63">
                    <a:extLst>
                      <a:ext uri="{FF2B5EF4-FFF2-40B4-BE49-F238E27FC236}">
                        <a16:creationId xmlns:a16="http://schemas.microsoft.com/office/drawing/2014/main" id="{CE43E3B8-9F5B-418C-B293-0C052DF2D45C}"/>
                      </a:ext>
                    </a:extLst>
                  </p:cNvPr>
                  <p:cNvCxnSpPr>
                    <a:cxnSpLocks/>
                  </p:cNvCxnSpPr>
                  <p:nvPr/>
                </p:nvCxnSpPr>
                <p:spPr>
                  <a:xfrm flipV="1">
                    <a:off x="1963441" y="5328211"/>
                    <a:ext cx="2376264" cy="3"/>
                  </a:xfrm>
                  <a:prstGeom prst="straightConnector1">
                    <a:avLst/>
                  </a:prstGeom>
                  <a:ln w="28575">
                    <a:solidFill>
                      <a:srgbClr val="1E1E1E"/>
                    </a:solidFill>
                    <a:tailEnd type="triangle"/>
                  </a:ln>
                </p:spPr>
                <p:style>
                  <a:lnRef idx="1">
                    <a:schemeClr val="accent1"/>
                  </a:lnRef>
                  <a:fillRef idx="0">
                    <a:schemeClr val="accent1"/>
                  </a:fillRef>
                  <a:effectRef idx="0">
                    <a:schemeClr val="accent1"/>
                  </a:effectRef>
                  <a:fontRef idx="minor">
                    <a:schemeClr val="tx1"/>
                  </a:fontRef>
                </p:style>
              </p:cxnSp>
            </p:grpSp>
            <p:sp>
              <p:nvSpPr>
                <p:cNvPr id="62" name="CuadroTexto 61">
                  <a:extLst>
                    <a:ext uri="{FF2B5EF4-FFF2-40B4-BE49-F238E27FC236}">
                      <a16:creationId xmlns:a16="http://schemas.microsoft.com/office/drawing/2014/main" id="{B5691865-F079-46B8-A101-30F965F41DEC}"/>
                    </a:ext>
                  </a:extLst>
                </p:cNvPr>
                <p:cNvSpPr txBox="1"/>
                <p:nvPr/>
              </p:nvSpPr>
              <p:spPr>
                <a:xfrm>
                  <a:off x="1591516" y="5423440"/>
                  <a:ext cx="3268495" cy="307777"/>
                </a:xfrm>
                <a:prstGeom prst="rect">
                  <a:avLst/>
                </a:prstGeom>
                <a:noFill/>
              </p:spPr>
              <p:txBody>
                <a:bodyPr wrap="square" rtlCol="0">
                  <a:spAutoFit/>
                </a:bodyPr>
                <a:lstStyle/>
                <a:p>
                  <a:pPr algn="ctr"/>
                  <a:r>
                    <a:rPr lang="en-US" sz="1400" b="1" dirty="0"/>
                    <a:t># de </a:t>
                  </a:r>
                  <a:r>
                    <a:rPr lang="es-ES" sz="1400" b="1" dirty="0"/>
                    <a:t>núcleos</a:t>
                  </a:r>
                  <a:r>
                    <a:rPr lang="en-US" sz="1400" b="1" dirty="0"/>
                    <a:t> (cores)</a:t>
                  </a:r>
                </a:p>
              </p:txBody>
            </p:sp>
          </p:grpSp>
          <p:sp>
            <p:nvSpPr>
              <p:cNvPr id="59" name="CuadroTexto 58">
                <a:extLst>
                  <a:ext uri="{FF2B5EF4-FFF2-40B4-BE49-F238E27FC236}">
                    <a16:creationId xmlns:a16="http://schemas.microsoft.com/office/drawing/2014/main" id="{8CF1538A-BD2F-4A87-9EB2-F06AD4082BA6}"/>
                  </a:ext>
                </a:extLst>
              </p:cNvPr>
              <p:cNvSpPr txBox="1"/>
              <p:nvPr/>
            </p:nvSpPr>
            <p:spPr>
              <a:xfrm rot="16200000">
                <a:off x="397743" y="5347340"/>
                <a:ext cx="2295819" cy="307777"/>
              </a:xfrm>
              <a:prstGeom prst="rect">
                <a:avLst/>
              </a:prstGeom>
              <a:noFill/>
            </p:spPr>
            <p:txBody>
              <a:bodyPr wrap="square" rtlCol="0">
                <a:spAutoFit/>
              </a:bodyPr>
              <a:lstStyle/>
              <a:p>
                <a:pPr algn="ctr"/>
                <a:r>
                  <a:rPr lang="es-ES" sz="1400" b="1" dirty="0"/>
                  <a:t>Tiempo de ejecución</a:t>
                </a:r>
                <a:endParaRPr lang="en-US" sz="1400" b="1" dirty="0"/>
              </a:p>
            </p:txBody>
          </p:sp>
        </p:grpSp>
        <p:cxnSp>
          <p:nvCxnSpPr>
            <p:cNvPr id="52" name="Conector recto 51">
              <a:extLst>
                <a:ext uri="{FF2B5EF4-FFF2-40B4-BE49-F238E27FC236}">
                  <a16:creationId xmlns:a16="http://schemas.microsoft.com/office/drawing/2014/main" id="{EF22B31A-8807-4ECC-A289-EBDB5DBD4C6A}"/>
                </a:ext>
              </a:extLst>
            </p:cNvPr>
            <p:cNvCxnSpPr>
              <a:cxnSpLocks/>
            </p:cNvCxnSpPr>
            <p:nvPr/>
          </p:nvCxnSpPr>
          <p:spPr>
            <a:xfrm>
              <a:off x="1361020" y="5638183"/>
              <a:ext cx="2231956" cy="28854"/>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53" name="Forma libre: forma 52">
              <a:extLst>
                <a:ext uri="{FF2B5EF4-FFF2-40B4-BE49-F238E27FC236}">
                  <a16:creationId xmlns:a16="http://schemas.microsoft.com/office/drawing/2014/main" id="{C55203C4-3A32-4024-A7C6-811A40D76245}"/>
                </a:ext>
              </a:extLst>
            </p:cNvPr>
            <p:cNvSpPr/>
            <p:nvPr/>
          </p:nvSpPr>
          <p:spPr>
            <a:xfrm rot="18915290">
              <a:off x="1361021" y="4753805"/>
              <a:ext cx="2177536" cy="721462"/>
            </a:xfrm>
            <a:custGeom>
              <a:avLst/>
              <a:gdLst>
                <a:gd name="connsiteX0" fmla="*/ 0 w 2177536"/>
                <a:gd name="connsiteY0" fmla="*/ 0 h 721462"/>
                <a:gd name="connsiteX1" fmla="*/ 421341 w 2177536"/>
                <a:gd name="connsiteY1" fmla="*/ 295836 h 721462"/>
                <a:gd name="connsiteX2" fmla="*/ 2026024 w 2177536"/>
                <a:gd name="connsiteY2" fmla="*/ 681318 h 721462"/>
                <a:gd name="connsiteX3" fmla="*/ 2017059 w 2177536"/>
                <a:gd name="connsiteY3" fmla="*/ 690283 h 721462"/>
              </a:gdLst>
              <a:ahLst/>
              <a:cxnLst>
                <a:cxn ang="0">
                  <a:pos x="connsiteX0" y="connsiteY0"/>
                </a:cxn>
                <a:cxn ang="0">
                  <a:pos x="connsiteX1" y="connsiteY1"/>
                </a:cxn>
                <a:cxn ang="0">
                  <a:pos x="connsiteX2" y="connsiteY2"/>
                </a:cxn>
                <a:cxn ang="0">
                  <a:pos x="connsiteX3" y="connsiteY3"/>
                </a:cxn>
              </a:cxnLst>
              <a:rect l="l" t="t" r="r" b="b"/>
              <a:pathLst>
                <a:path w="2177536" h="721462">
                  <a:moveTo>
                    <a:pt x="0" y="0"/>
                  </a:moveTo>
                  <a:cubicBezTo>
                    <a:pt x="41835" y="91141"/>
                    <a:pt x="83670" y="182283"/>
                    <a:pt x="421341" y="295836"/>
                  </a:cubicBezTo>
                  <a:cubicBezTo>
                    <a:pt x="759012" y="409389"/>
                    <a:pt x="2026024" y="681318"/>
                    <a:pt x="2026024" y="681318"/>
                  </a:cubicBezTo>
                  <a:cubicBezTo>
                    <a:pt x="2291977" y="747059"/>
                    <a:pt x="2154518" y="718671"/>
                    <a:pt x="2017059" y="690283"/>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Imagen 53">
              <a:extLst>
                <a:ext uri="{FF2B5EF4-FFF2-40B4-BE49-F238E27FC236}">
                  <a16:creationId xmlns:a16="http://schemas.microsoft.com/office/drawing/2014/main" id="{A4319937-5AF7-40F5-855B-BB607D8425B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50146"/>
            <a:stretch/>
          </p:blipFill>
          <p:spPr>
            <a:xfrm>
              <a:off x="2188794" y="5737253"/>
              <a:ext cx="345771" cy="369332"/>
            </a:xfrm>
            <a:prstGeom prst="rect">
              <a:avLst/>
            </a:prstGeom>
          </p:spPr>
        </p:pic>
        <p:pic>
          <p:nvPicPr>
            <p:cNvPr id="55" name="Imagen 54">
              <a:extLst>
                <a:ext uri="{FF2B5EF4-FFF2-40B4-BE49-F238E27FC236}">
                  <a16:creationId xmlns:a16="http://schemas.microsoft.com/office/drawing/2014/main" id="{CEE9A6D5-3ABC-4D94-8C40-CC9178EADE2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0146"/>
            <a:stretch/>
          </p:blipFill>
          <p:spPr>
            <a:xfrm>
              <a:off x="2075873" y="4852868"/>
              <a:ext cx="345771" cy="369332"/>
            </a:xfrm>
            <a:prstGeom prst="rect">
              <a:avLst/>
            </a:prstGeom>
          </p:spPr>
        </p:pic>
        <p:sp>
          <p:nvSpPr>
            <p:cNvPr id="56" name="CuadroTexto 55">
              <a:extLst>
                <a:ext uri="{FF2B5EF4-FFF2-40B4-BE49-F238E27FC236}">
                  <a16:creationId xmlns:a16="http://schemas.microsoft.com/office/drawing/2014/main" id="{68CF6B55-9EBF-4608-AEFE-DE43017C0186}"/>
                </a:ext>
              </a:extLst>
            </p:cNvPr>
            <p:cNvSpPr txBox="1"/>
            <p:nvPr/>
          </p:nvSpPr>
          <p:spPr>
            <a:xfrm>
              <a:off x="1853626" y="4340644"/>
              <a:ext cx="1452500" cy="369332"/>
            </a:xfrm>
            <a:prstGeom prst="rect">
              <a:avLst/>
            </a:prstGeom>
            <a:noFill/>
          </p:spPr>
          <p:txBody>
            <a:bodyPr wrap="square" rtlCol="0">
              <a:spAutoFit/>
            </a:bodyPr>
            <a:lstStyle/>
            <a:p>
              <a:r>
                <a:rPr lang="es-ES" sz="1050" b="1" dirty="0"/>
                <a:t>Escalabilidad débil</a:t>
              </a:r>
              <a:r>
                <a:rPr lang="es-ES" b="1" dirty="0"/>
                <a:t> </a:t>
              </a:r>
            </a:p>
          </p:txBody>
        </p:sp>
        <p:sp>
          <p:nvSpPr>
            <p:cNvPr id="57" name="CuadroTexto 56">
              <a:extLst>
                <a:ext uri="{FF2B5EF4-FFF2-40B4-BE49-F238E27FC236}">
                  <a16:creationId xmlns:a16="http://schemas.microsoft.com/office/drawing/2014/main" id="{632E37E3-64C9-4202-9930-9D0D042AFC92}"/>
                </a:ext>
              </a:extLst>
            </p:cNvPr>
            <p:cNvSpPr txBox="1"/>
            <p:nvPr/>
          </p:nvSpPr>
          <p:spPr>
            <a:xfrm>
              <a:off x="1394704" y="6176801"/>
              <a:ext cx="3068525" cy="253916"/>
            </a:xfrm>
            <a:prstGeom prst="rect">
              <a:avLst/>
            </a:prstGeom>
            <a:noFill/>
          </p:spPr>
          <p:txBody>
            <a:bodyPr wrap="square" rtlCol="0">
              <a:spAutoFit/>
            </a:bodyPr>
            <a:lstStyle/>
            <a:p>
              <a:r>
                <a:rPr lang="es-ES" sz="1050" b="1" dirty="0"/>
                <a:t>N tamaño </a:t>
              </a:r>
              <a:r>
                <a:rPr lang="es-ES" sz="1050" b="1" dirty="0">
                  <a:sym typeface="Symbol" panose="05050102010706020507" pitchFamily="18" charset="2"/>
                </a:rPr>
                <a:t>proporcional # de procesadores</a:t>
              </a:r>
              <a:endParaRPr lang="es-ES" b="1" dirty="0"/>
            </a:p>
          </p:txBody>
        </p:sp>
      </p:grpSp>
    </p:spTree>
    <p:extLst>
      <p:ext uri="{BB962C8B-B14F-4D97-AF65-F5344CB8AC3E}">
        <p14:creationId xmlns:p14="http://schemas.microsoft.com/office/powerpoint/2010/main" val="3814174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D24BC2F-6D4E-4D9A-8E60-D22EC6E652F4}"/>
              </a:ext>
            </a:extLst>
          </p:cNvPr>
          <p:cNvSpPr>
            <a:spLocks noGrp="1"/>
          </p:cNvSpPr>
          <p:nvPr>
            <p:ph type="sldNum" sz="quarter" idx="12"/>
          </p:nvPr>
        </p:nvSpPr>
        <p:spPr/>
        <p:txBody>
          <a:bodyPr/>
          <a:lstStyle/>
          <a:p>
            <a:fld id="{2BC99F66-008B-4912-B721-8943319F59B7}" type="slidenum">
              <a:rPr lang="en-US" altLang="en-US" smtClean="0"/>
              <a:pPr/>
              <a:t>18</a:t>
            </a:fld>
            <a:endParaRPr lang="en-US" altLang="en-US"/>
          </a:p>
        </p:txBody>
      </p:sp>
      <p:sp>
        <p:nvSpPr>
          <p:cNvPr id="5" name="CuadroTexto 4">
            <a:extLst>
              <a:ext uri="{FF2B5EF4-FFF2-40B4-BE49-F238E27FC236}">
                <a16:creationId xmlns:a16="http://schemas.microsoft.com/office/drawing/2014/main" id="{0F4FD475-0109-4C2E-A953-53E4EDB1AAD2}"/>
              </a:ext>
            </a:extLst>
          </p:cNvPr>
          <p:cNvSpPr txBox="1"/>
          <p:nvPr/>
        </p:nvSpPr>
        <p:spPr>
          <a:xfrm>
            <a:off x="467544" y="404664"/>
            <a:ext cx="6984776" cy="369332"/>
          </a:xfrm>
          <a:prstGeom prst="rect">
            <a:avLst/>
          </a:prstGeom>
          <a:noFill/>
        </p:spPr>
        <p:txBody>
          <a:bodyPr wrap="square" rtlCol="0">
            <a:spAutoFit/>
          </a:bodyPr>
          <a:lstStyle/>
          <a:p>
            <a:r>
              <a:rPr lang="es-ES" b="1" dirty="0"/>
              <a:t>Arquitectura del “</a:t>
            </a:r>
            <a:r>
              <a:rPr lang="es-ES" b="1" dirty="0" err="1"/>
              <a:t>Cluster</a:t>
            </a:r>
            <a:r>
              <a:rPr lang="es-ES" b="1" dirty="0"/>
              <a:t>” y algoritmo sobre el rendimiento</a:t>
            </a:r>
          </a:p>
        </p:txBody>
      </p:sp>
      <p:sp>
        <p:nvSpPr>
          <p:cNvPr id="7" name="CuadroTexto 6">
            <a:extLst>
              <a:ext uri="{FF2B5EF4-FFF2-40B4-BE49-F238E27FC236}">
                <a16:creationId xmlns:a16="http://schemas.microsoft.com/office/drawing/2014/main" id="{D7A16056-FAA4-4B06-82AF-E41E327111E2}"/>
              </a:ext>
            </a:extLst>
          </p:cNvPr>
          <p:cNvSpPr txBox="1"/>
          <p:nvPr/>
        </p:nvSpPr>
        <p:spPr>
          <a:xfrm>
            <a:off x="323528" y="1124744"/>
            <a:ext cx="8207592" cy="2800767"/>
          </a:xfrm>
          <a:prstGeom prst="rect">
            <a:avLst/>
          </a:prstGeom>
          <a:noFill/>
        </p:spPr>
        <p:txBody>
          <a:bodyPr wrap="square" rtlCol="0">
            <a:spAutoFit/>
          </a:bodyPr>
          <a:lstStyle/>
          <a:p>
            <a:pPr marL="285750" indent="-285750">
              <a:buFont typeface="Arial" panose="020B0604020202020204" pitchFamily="34" charset="0"/>
              <a:buChar char="•"/>
            </a:pPr>
            <a:r>
              <a:rPr lang="es-ES" sz="1600" dirty="0"/>
              <a:t>La arquitectura subyacente del (super)ordenador es muy importante a la hora de considerar la paralelización. El rendimiento de la paralelización esta afectado por la configuración del hardware:</a:t>
            </a:r>
          </a:p>
          <a:p>
            <a:endParaRPr lang="es-ES" sz="1600" dirty="0"/>
          </a:p>
          <a:p>
            <a:pPr marL="742950" lvl="1" indent="-285750">
              <a:buFont typeface="Arial" panose="020B0604020202020204" pitchFamily="34" charset="0"/>
              <a:buChar char="•"/>
            </a:pPr>
            <a:r>
              <a:rPr lang="es-ES" sz="1600" dirty="0"/>
              <a:t>Tipo y cantidad de memoria: NUMA, UMA, …</a:t>
            </a:r>
          </a:p>
          <a:p>
            <a:pPr marL="742950" lvl="1" indent="-285750">
              <a:buFont typeface="Arial" panose="020B0604020202020204" pitchFamily="34" charset="0"/>
              <a:buChar char="•"/>
            </a:pPr>
            <a:r>
              <a:rPr lang="es-ES" sz="1600" dirty="0"/>
              <a:t>Arquitectura y velocidad de la CPU: x86, x86_64, AMD, …</a:t>
            </a:r>
          </a:p>
          <a:p>
            <a:pPr marL="742950" lvl="1" indent="-285750">
              <a:buFont typeface="Arial" panose="020B0604020202020204" pitchFamily="34" charset="0"/>
              <a:buChar char="•"/>
            </a:pPr>
            <a:r>
              <a:rPr lang="es-ES" sz="1600" dirty="0"/>
              <a:t>Números de cores/procesador.</a:t>
            </a:r>
          </a:p>
          <a:p>
            <a:pPr marL="742950" lvl="1" indent="-285750">
              <a:buFont typeface="Arial" panose="020B0604020202020204" pitchFamily="34" charset="0"/>
              <a:buChar char="•"/>
            </a:pPr>
            <a:r>
              <a:rPr lang="es-ES" sz="1600" dirty="0"/>
              <a:t>Multihilos (multithreading)</a:t>
            </a:r>
          </a:p>
          <a:p>
            <a:pPr marL="742950" lvl="1" indent="-285750">
              <a:buFont typeface="Arial" panose="020B0604020202020204" pitchFamily="34" charset="0"/>
              <a:buChar char="•"/>
            </a:pPr>
            <a:r>
              <a:rPr lang="es-ES" sz="1600" dirty="0"/>
              <a:t>Arquitectura y velocidad de la red de comunicaciones: Ethernet, </a:t>
            </a:r>
            <a:r>
              <a:rPr lang="es-ES" sz="1600" dirty="0" err="1"/>
              <a:t>Infiniband</a:t>
            </a:r>
            <a:r>
              <a:rPr lang="es-ES" sz="1600" dirty="0"/>
              <a:t>, …</a:t>
            </a:r>
          </a:p>
          <a:p>
            <a:pPr marL="742950" lvl="1" indent="-285750">
              <a:buFont typeface="Arial" panose="020B0604020202020204" pitchFamily="34" charset="0"/>
              <a:buChar char="•"/>
            </a:pPr>
            <a:r>
              <a:rPr lang="es-ES" sz="1600" dirty="0"/>
              <a:t>Velocidad de los sistemas de entrada/salida (I/O): HDF5, MPI I/O, …</a:t>
            </a:r>
          </a:p>
          <a:p>
            <a:pPr marL="742950" lvl="1" indent="-285750">
              <a:buFont typeface="Arial" panose="020B0604020202020204" pitchFamily="34" charset="0"/>
              <a:buChar char="•"/>
            </a:pPr>
            <a:r>
              <a:rPr lang="es-ES" sz="1600" dirty="0"/>
              <a:t>(…)</a:t>
            </a:r>
          </a:p>
        </p:txBody>
      </p:sp>
      <p:sp>
        <p:nvSpPr>
          <p:cNvPr id="8" name="CuadroTexto 7">
            <a:extLst>
              <a:ext uri="{FF2B5EF4-FFF2-40B4-BE49-F238E27FC236}">
                <a16:creationId xmlns:a16="http://schemas.microsoft.com/office/drawing/2014/main" id="{27325D98-12FB-403B-B630-10DFE36A72AD}"/>
              </a:ext>
            </a:extLst>
          </p:cNvPr>
          <p:cNvSpPr txBox="1"/>
          <p:nvPr/>
        </p:nvSpPr>
        <p:spPr>
          <a:xfrm>
            <a:off x="323528" y="4012609"/>
            <a:ext cx="8207592" cy="1569660"/>
          </a:xfrm>
          <a:prstGeom prst="rect">
            <a:avLst/>
          </a:prstGeom>
          <a:noFill/>
        </p:spPr>
        <p:txBody>
          <a:bodyPr wrap="square" rtlCol="0">
            <a:spAutoFit/>
          </a:bodyPr>
          <a:lstStyle/>
          <a:p>
            <a:pPr marL="285750" indent="-285750">
              <a:buFont typeface="Arial" panose="020B0604020202020204" pitchFamily="34" charset="0"/>
              <a:buChar char="•"/>
            </a:pPr>
            <a:r>
              <a:rPr lang="es-ES" sz="1600" dirty="0"/>
              <a:t>Los algoritmos tiene inherentes limites en la escalabilidad, de tal forma que añadir mas procesadores puede degradar el rendimiento. Esto es común en muchas aplicaciones paralelas. </a:t>
            </a:r>
          </a:p>
          <a:p>
            <a:endParaRPr lang="es-ES" sz="1600" dirty="0"/>
          </a:p>
          <a:p>
            <a:pPr marL="285750" indent="-285750">
              <a:buFont typeface="Arial" panose="020B0604020202020204" pitchFamily="34" charset="0"/>
              <a:buChar char="•"/>
            </a:pPr>
            <a:r>
              <a:rPr lang="es-ES" sz="1600" dirty="0"/>
              <a:t>Con frecuencia las librerías utilizadas y el software del sistema pueden limitar la escalabilidad de la aplicación.  </a:t>
            </a:r>
          </a:p>
        </p:txBody>
      </p:sp>
    </p:spTree>
    <p:extLst>
      <p:ext uri="{BB962C8B-B14F-4D97-AF65-F5344CB8AC3E}">
        <p14:creationId xmlns:p14="http://schemas.microsoft.com/office/powerpoint/2010/main" val="3983160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4337E9B-CACC-4FC7-B1BE-8E6871EE6C87}"/>
              </a:ext>
            </a:extLst>
          </p:cNvPr>
          <p:cNvSpPr>
            <a:spLocks noGrp="1"/>
          </p:cNvSpPr>
          <p:nvPr>
            <p:ph type="sldNum" sz="quarter" idx="12"/>
          </p:nvPr>
        </p:nvSpPr>
        <p:spPr/>
        <p:txBody>
          <a:bodyPr/>
          <a:lstStyle/>
          <a:p>
            <a:fld id="{2BC99F66-008B-4912-B721-8943319F59B7}" type="slidenum">
              <a:rPr lang="en-US" altLang="en-US" smtClean="0"/>
              <a:pPr/>
              <a:t>19</a:t>
            </a:fld>
            <a:endParaRPr lang="en-US" altLang="en-US"/>
          </a:p>
        </p:txBody>
      </p:sp>
      <p:sp>
        <p:nvSpPr>
          <p:cNvPr id="5" name="CuadroTexto 4">
            <a:extLst>
              <a:ext uri="{FF2B5EF4-FFF2-40B4-BE49-F238E27FC236}">
                <a16:creationId xmlns:a16="http://schemas.microsoft.com/office/drawing/2014/main" id="{C27B6624-2D81-4350-B492-8569CDFDC697}"/>
              </a:ext>
            </a:extLst>
          </p:cNvPr>
          <p:cNvSpPr txBox="1"/>
          <p:nvPr/>
        </p:nvSpPr>
        <p:spPr>
          <a:xfrm>
            <a:off x="395536" y="323364"/>
            <a:ext cx="6984776" cy="369332"/>
          </a:xfrm>
          <a:prstGeom prst="rect">
            <a:avLst/>
          </a:prstGeom>
          <a:noFill/>
        </p:spPr>
        <p:txBody>
          <a:bodyPr wrap="square" rtlCol="0">
            <a:spAutoFit/>
          </a:bodyPr>
          <a:lstStyle/>
          <a:p>
            <a:r>
              <a:rPr lang="es-ES" b="1" dirty="0"/>
              <a:t>Modelos de programación en paralelo</a:t>
            </a:r>
          </a:p>
        </p:txBody>
      </p:sp>
      <p:sp>
        <p:nvSpPr>
          <p:cNvPr id="6" name="CuadroTexto 5">
            <a:extLst>
              <a:ext uri="{FF2B5EF4-FFF2-40B4-BE49-F238E27FC236}">
                <a16:creationId xmlns:a16="http://schemas.microsoft.com/office/drawing/2014/main" id="{AB4F85A7-B591-4A5F-AE43-B3FC4DD6D75B}"/>
              </a:ext>
            </a:extLst>
          </p:cNvPr>
          <p:cNvSpPr txBox="1"/>
          <p:nvPr/>
        </p:nvSpPr>
        <p:spPr>
          <a:xfrm>
            <a:off x="179512" y="1628800"/>
            <a:ext cx="8784976" cy="1815882"/>
          </a:xfrm>
          <a:prstGeom prst="rect">
            <a:avLst/>
          </a:prstGeom>
          <a:noFill/>
        </p:spPr>
        <p:txBody>
          <a:bodyPr wrap="square" rtlCol="0">
            <a:spAutoFit/>
          </a:bodyPr>
          <a:lstStyle/>
          <a:p>
            <a:r>
              <a:rPr lang="es-ES" sz="1600" dirty="0"/>
              <a:t>Existen varios modelos de programación en paralelo, entre otros:</a:t>
            </a:r>
          </a:p>
          <a:p>
            <a:endParaRPr lang="es-ES" sz="1600" dirty="0"/>
          </a:p>
          <a:p>
            <a:pPr marL="534988" lvl="1" indent="-285750">
              <a:buFont typeface="Arial" panose="020B0604020202020204" pitchFamily="34" charset="0"/>
              <a:buChar char="•"/>
            </a:pPr>
            <a:r>
              <a:rPr lang="es-ES" sz="1600" dirty="0"/>
              <a:t>Memoria compartida (</a:t>
            </a:r>
            <a:r>
              <a:rPr lang="es-ES" sz="1600" dirty="0" err="1"/>
              <a:t>Shared</a:t>
            </a:r>
            <a:r>
              <a:rPr lang="es-ES" sz="1600" dirty="0"/>
              <a:t> </a:t>
            </a:r>
            <a:r>
              <a:rPr lang="es-ES" sz="1600" dirty="0" err="1"/>
              <a:t>memory</a:t>
            </a:r>
            <a:r>
              <a:rPr lang="es-ES" sz="1600" dirty="0"/>
              <a:t>) </a:t>
            </a:r>
            <a:r>
              <a:rPr lang="es-ES" sz="1600" dirty="0">
                <a:sym typeface="Wingdings" panose="05000000000000000000" pitchFamily="2" charset="2"/>
              </a:rPr>
              <a:t> </a:t>
            </a:r>
            <a:r>
              <a:rPr lang="es-ES" sz="1600" b="1" dirty="0" err="1">
                <a:sym typeface="Wingdings" panose="05000000000000000000" pitchFamily="2" charset="2"/>
              </a:rPr>
              <a:t>OpenMP</a:t>
            </a:r>
            <a:endParaRPr lang="es-ES" sz="1600" b="1" dirty="0">
              <a:sym typeface="Wingdings" panose="05000000000000000000" pitchFamily="2" charset="2"/>
            </a:endParaRPr>
          </a:p>
          <a:p>
            <a:pPr marL="534988" lvl="1" indent="-285750"/>
            <a:endParaRPr lang="es-ES" sz="1600" dirty="0"/>
          </a:p>
          <a:p>
            <a:pPr marL="534988" lvl="1" indent="-285750">
              <a:buFont typeface="Arial" panose="020B0604020202020204" pitchFamily="34" charset="0"/>
              <a:buChar char="•"/>
            </a:pPr>
            <a:r>
              <a:rPr lang="es-ES" sz="1600" dirty="0"/>
              <a:t>Memoria distribuida por paso de mensajes (</a:t>
            </a:r>
            <a:r>
              <a:rPr lang="es-ES" sz="1600" dirty="0" err="1"/>
              <a:t>Distributed</a:t>
            </a:r>
            <a:r>
              <a:rPr lang="es-ES" sz="1600" dirty="0"/>
              <a:t> </a:t>
            </a:r>
            <a:r>
              <a:rPr lang="es-ES" sz="1600" dirty="0" err="1"/>
              <a:t>memory</a:t>
            </a:r>
            <a:r>
              <a:rPr lang="es-ES" sz="1600" dirty="0"/>
              <a:t>/</a:t>
            </a:r>
            <a:r>
              <a:rPr lang="es-ES" sz="1600" dirty="0" err="1"/>
              <a:t>Message</a:t>
            </a:r>
            <a:r>
              <a:rPr lang="es-ES" sz="1600" dirty="0"/>
              <a:t> </a:t>
            </a:r>
            <a:r>
              <a:rPr lang="es-ES" sz="1600" dirty="0" err="1"/>
              <a:t>passing</a:t>
            </a:r>
            <a:r>
              <a:rPr lang="es-ES" sz="1600" dirty="0"/>
              <a:t>) </a:t>
            </a:r>
            <a:r>
              <a:rPr lang="es-ES" sz="1600" dirty="0">
                <a:sym typeface="Wingdings" panose="05000000000000000000" pitchFamily="2" charset="2"/>
              </a:rPr>
              <a:t></a:t>
            </a:r>
            <a:r>
              <a:rPr lang="es-ES" sz="1600" b="1" dirty="0">
                <a:sym typeface="Wingdings" panose="05000000000000000000" pitchFamily="2" charset="2"/>
              </a:rPr>
              <a:t>MPI</a:t>
            </a:r>
          </a:p>
          <a:p>
            <a:pPr marL="534988" lvl="1" indent="-285750">
              <a:buFont typeface="Arial" panose="020B0604020202020204" pitchFamily="34" charset="0"/>
              <a:buChar char="•"/>
            </a:pPr>
            <a:endParaRPr lang="es-ES" sz="1600" dirty="0">
              <a:sym typeface="Wingdings" panose="05000000000000000000" pitchFamily="2" charset="2"/>
            </a:endParaRPr>
          </a:p>
          <a:p>
            <a:pPr marL="534988" lvl="1" indent="-285750">
              <a:buFont typeface="Arial" panose="020B0604020202020204" pitchFamily="34" charset="0"/>
              <a:buChar char="•"/>
            </a:pPr>
            <a:r>
              <a:rPr lang="es-ES" sz="1600" dirty="0">
                <a:sym typeface="Wingdings" panose="05000000000000000000" pitchFamily="2" charset="2"/>
              </a:rPr>
              <a:t>Modelo hibrido de memoria compartida y distribuida  </a:t>
            </a:r>
            <a:r>
              <a:rPr lang="es-ES" sz="1600" b="1" dirty="0" err="1">
                <a:sym typeface="Wingdings" panose="05000000000000000000" pitchFamily="2" charset="2"/>
              </a:rPr>
              <a:t>OpenMP</a:t>
            </a:r>
            <a:r>
              <a:rPr lang="es-ES" sz="1600" b="1" dirty="0">
                <a:sym typeface="Wingdings" panose="05000000000000000000" pitchFamily="2" charset="2"/>
              </a:rPr>
              <a:t>/MPI</a:t>
            </a:r>
            <a:endParaRPr lang="es-ES" sz="1600" b="1" dirty="0"/>
          </a:p>
        </p:txBody>
      </p:sp>
      <p:sp>
        <p:nvSpPr>
          <p:cNvPr id="7" name="CuadroTexto 6">
            <a:extLst>
              <a:ext uri="{FF2B5EF4-FFF2-40B4-BE49-F238E27FC236}">
                <a16:creationId xmlns:a16="http://schemas.microsoft.com/office/drawing/2014/main" id="{3E68F54E-467F-4C8D-BEAD-45EBADF65B20}"/>
              </a:ext>
            </a:extLst>
          </p:cNvPr>
          <p:cNvSpPr txBox="1"/>
          <p:nvPr/>
        </p:nvSpPr>
        <p:spPr>
          <a:xfrm>
            <a:off x="179512" y="4038163"/>
            <a:ext cx="8784976" cy="1077218"/>
          </a:xfrm>
          <a:prstGeom prst="rect">
            <a:avLst/>
          </a:prstGeom>
          <a:noFill/>
        </p:spPr>
        <p:txBody>
          <a:bodyPr wrap="square" rtlCol="0">
            <a:spAutoFit/>
          </a:bodyPr>
          <a:lstStyle/>
          <a:p>
            <a:r>
              <a:rPr lang="es-ES" sz="1600" dirty="0"/>
              <a:t>Estos modelos de programación en paralelo son una abstracción del hardware y arquitectura de memoria. Esto significa, aunque no es del todo aparente, que estos modelos no son específicos del tipo de particular de maquina o arquitectura. </a:t>
            </a:r>
          </a:p>
          <a:p>
            <a:endParaRPr lang="es-ES" sz="1600" dirty="0"/>
          </a:p>
        </p:txBody>
      </p:sp>
    </p:spTree>
    <p:extLst>
      <p:ext uri="{BB962C8B-B14F-4D97-AF65-F5344CB8AC3E}">
        <p14:creationId xmlns:p14="http://schemas.microsoft.com/office/powerpoint/2010/main" val="1622302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66B28FC-499D-40D7-A01F-A5F8BDBE8B4F}"/>
              </a:ext>
            </a:extLst>
          </p:cNvPr>
          <p:cNvSpPr>
            <a:spLocks noGrp="1"/>
          </p:cNvSpPr>
          <p:nvPr>
            <p:ph type="sldNum" sz="quarter" idx="12"/>
          </p:nvPr>
        </p:nvSpPr>
        <p:spPr/>
        <p:txBody>
          <a:bodyPr/>
          <a:lstStyle/>
          <a:p>
            <a:fld id="{2BC99F66-008B-4912-B721-8943319F59B7}" type="slidenum">
              <a:rPr lang="en-US" altLang="en-US" smtClean="0"/>
              <a:pPr/>
              <a:t>20</a:t>
            </a:fld>
            <a:endParaRPr lang="en-US" altLang="en-US"/>
          </a:p>
        </p:txBody>
      </p:sp>
      <p:sp>
        <p:nvSpPr>
          <p:cNvPr id="5" name="CuadroTexto 4">
            <a:extLst>
              <a:ext uri="{FF2B5EF4-FFF2-40B4-BE49-F238E27FC236}">
                <a16:creationId xmlns:a16="http://schemas.microsoft.com/office/drawing/2014/main" id="{AC1601C1-0A8B-41D8-A3D1-98C0A29E874C}"/>
              </a:ext>
            </a:extLst>
          </p:cNvPr>
          <p:cNvSpPr txBox="1"/>
          <p:nvPr/>
        </p:nvSpPr>
        <p:spPr>
          <a:xfrm>
            <a:off x="395536" y="323364"/>
            <a:ext cx="6984776" cy="369332"/>
          </a:xfrm>
          <a:prstGeom prst="rect">
            <a:avLst/>
          </a:prstGeom>
          <a:noFill/>
        </p:spPr>
        <p:txBody>
          <a:bodyPr wrap="square" rtlCol="0">
            <a:spAutoFit/>
          </a:bodyPr>
          <a:lstStyle/>
          <a:p>
            <a:r>
              <a:rPr lang="es-ES" b="1" dirty="0"/>
              <a:t>Modelo de memoria compartida (</a:t>
            </a:r>
            <a:r>
              <a:rPr lang="es-ES" b="1" dirty="0" err="1"/>
              <a:t>Shared</a:t>
            </a:r>
            <a:r>
              <a:rPr lang="es-ES" b="1" dirty="0"/>
              <a:t> </a:t>
            </a:r>
            <a:r>
              <a:rPr lang="es-ES" b="1" dirty="0" err="1"/>
              <a:t>Memory</a:t>
            </a:r>
            <a:r>
              <a:rPr lang="es-ES" b="1" dirty="0"/>
              <a:t> </a:t>
            </a:r>
            <a:r>
              <a:rPr lang="es-ES" b="1" dirty="0" err="1"/>
              <a:t>Model</a:t>
            </a:r>
            <a:r>
              <a:rPr lang="es-ES" b="1" dirty="0"/>
              <a:t>)</a:t>
            </a:r>
          </a:p>
        </p:txBody>
      </p:sp>
      <p:grpSp>
        <p:nvGrpSpPr>
          <p:cNvPr id="11" name="Grupo 10">
            <a:extLst>
              <a:ext uri="{FF2B5EF4-FFF2-40B4-BE49-F238E27FC236}">
                <a16:creationId xmlns:a16="http://schemas.microsoft.com/office/drawing/2014/main" id="{8285D20A-6538-4CCD-AF89-75DBF10EBC8C}"/>
              </a:ext>
            </a:extLst>
          </p:cNvPr>
          <p:cNvGrpSpPr/>
          <p:nvPr/>
        </p:nvGrpSpPr>
        <p:grpSpPr>
          <a:xfrm>
            <a:off x="6516216" y="1412776"/>
            <a:ext cx="2088232" cy="3168352"/>
            <a:chOff x="3995936" y="1340768"/>
            <a:chExt cx="2088232" cy="3168352"/>
          </a:xfrm>
        </p:grpSpPr>
        <p:sp>
          <p:nvSpPr>
            <p:cNvPr id="7" name="Rectángulo 6">
              <a:extLst>
                <a:ext uri="{FF2B5EF4-FFF2-40B4-BE49-F238E27FC236}">
                  <a16:creationId xmlns:a16="http://schemas.microsoft.com/office/drawing/2014/main" id="{3693D992-C109-412D-A0BD-C6785D60B058}"/>
                </a:ext>
              </a:extLst>
            </p:cNvPr>
            <p:cNvSpPr/>
            <p:nvPr/>
          </p:nvSpPr>
          <p:spPr>
            <a:xfrm>
              <a:off x="3995936" y="1340768"/>
              <a:ext cx="2088232" cy="316835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E29BBB1F-B482-4C25-856E-3BC9A636F905}"/>
                </a:ext>
              </a:extLst>
            </p:cNvPr>
            <p:cNvSpPr txBox="1"/>
            <p:nvPr/>
          </p:nvSpPr>
          <p:spPr>
            <a:xfrm>
              <a:off x="4283968" y="1844824"/>
              <a:ext cx="1584176" cy="369332"/>
            </a:xfrm>
            <a:prstGeom prst="rect">
              <a:avLst/>
            </a:prstGeom>
            <a:noFill/>
          </p:spPr>
          <p:txBody>
            <a:bodyPr wrap="square" rtlCol="0">
              <a:spAutoFit/>
            </a:bodyPr>
            <a:lstStyle/>
            <a:p>
              <a:pPr algn="ctr"/>
              <a:r>
                <a:rPr lang="en-US" b="1" dirty="0"/>
                <a:t>Memory</a:t>
              </a:r>
            </a:p>
          </p:txBody>
        </p:sp>
        <p:sp>
          <p:nvSpPr>
            <p:cNvPr id="9" name="CuadroTexto 8">
              <a:extLst>
                <a:ext uri="{FF2B5EF4-FFF2-40B4-BE49-F238E27FC236}">
                  <a16:creationId xmlns:a16="http://schemas.microsoft.com/office/drawing/2014/main" id="{0849F623-E9B1-48E5-A83A-11264E010384}"/>
                </a:ext>
              </a:extLst>
            </p:cNvPr>
            <p:cNvSpPr txBox="1"/>
            <p:nvPr/>
          </p:nvSpPr>
          <p:spPr>
            <a:xfrm>
              <a:off x="4247964" y="2596262"/>
              <a:ext cx="1584176" cy="276999"/>
            </a:xfrm>
            <a:prstGeom prst="rect">
              <a:avLst/>
            </a:prstGeom>
            <a:noFill/>
          </p:spPr>
          <p:txBody>
            <a:bodyPr wrap="square" rtlCol="0">
              <a:spAutoFit/>
            </a:bodyPr>
            <a:lstStyle/>
            <a:p>
              <a:pPr algn="ctr"/>
              <a:r>
                <a:rPr lang="en-US" sz="1200" dirty="0"/>
                <a:t>read</a:t>
              </a:r>
            </a:p>
          </p:txBody>
        </p:sp>
        <p:sp>
          <p:nvSpPr>
            <p:cNvPr id="10" name="CuadroTexto 9">
              <a:extLst>
                <a:ext uri="{FF2B5EF4-FFF2-40B4-BE49-F238E27FC236}">
                  <a16:creationId xmlns:a16="http://schemas.microsoft.com/office/drawing/2014/main" id="{FD46DB07-C3C6-4548-BFC5-667B341F8E87}"/>
                </a:ext>
              </a:extLst>
            </p:cNvPr>
            <p:cNvSpPr txBox="1"/>
            <p:nvPr/>
          </p:nvSpPr>
          <p:spPr>
            <a:xfrm>
              <a:off x="4256260" y="2852936"/>
              <a:ext cx="1584176" cy="276999"/>
            </a:xfrm>
            <a:prstGeom prst="rect">
              <a:avLst/>
            </a:prstGeom>
            <a:noFill/>
          </p:spPr>
          <p:txBody>
            <a:bodyPr wrap="square" rtlCol="0">
              <a:spAutoFit/>
            </a:bodyPr>
            <a:lstStyle/>
            <a:p>
              <a:pPr algn="ctr"/>
              <a:r>
                <a:rPr lang="en-US" sz="1200" dirty="0"/>
                <a:t>write</a:t>
              </a:r>
            </a:p>
          </p:txBody>
        </p:sp>
      </p:grpSp>
      <p:sp>
        <p:nvSpPr>
          <p:cNvPr id="12" name="Rectángulo 11">
            <a:extLst>
              <a:ext uri="{FF2B5EF4-FFF2-40B4-BE49-F238E27FC236}">
                <a16:creationId xmlns:a16="http://schemas.microsoft.com/office/drawing/2014/main" id="{B3AA87E7-87C8-43D9-84BF-87CB06DED9E2}"/>
              </a:ext>
            </a:extLst>
          </p:cNvPr>
          <p:cNvSpPr/>
          <p:nvPr/>
        </p:nvSpPr>
        <p:spPr>
          <a:xfrm>
            <a:off x="4932040" y="1556792"/>
            <a:ext cx="1152128"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uadroTexto 12">
            <a:extLst>
              <a:ext uri="{FF2B5EF4-FFF2-40B4-BE49-F238E27FC236}">
                <a16:creationId xmlns:a16="http://schemas.microsoft.com/office/drawing/2014/main" id="{46EB4CE7-7947-444C-B25B-F90311C6774D}"/>
              </a:ext>
            </a:extLst>
          </p:cNvPr>
          <p:cNvSpPr txBox="1"/>
          <p:nvPr/>
        </p:nvSpPr>
        <p:spPr>
          <a:xfrm>
            <a:off x="5040992" y="1705693"/>
            <a:ext cx="971168" cy="276999"/>
          </a:xfrm>
          <a:prstGeom prst="rect">
            <a:avLst/>
          </a:prstGeom>
          <a:noFill/>
        </p:spPr>
        <p:txBody>
          <a:bodyPr wrap="square" rtlCol="0">
            <a:spAutoFit/>
          </a:bodyPr>
          <a:lstStyle/>
          <a:p>
            <a:pPr algn="ctr"/>
            <a:r>
              <a:rPr lang="es-ES" sz="1200" b="1" dirty="0"/>
              <a:t>proceso</a:t>
            </a:r>
            <a:endParaRPr lang="es-ES" b="1" dirty="0"/>
          </a:p>
        </p:txBody>
      </p:sp>
      <p:sp>
        <p:nvSpPr>
          <p:cNvPr id="14" name="Rectángulo 13">
            <a:extLst>
              <a:ext uri="{FF2B5EF4-FFF2-40B4-BE49-F238E27FC236}">
                <a16:creationId xmlns:a16="http://schemas.microsoft.com/office/drawing/2014/main" id="{41C73B8A-F670-405D-8808-4E6CF7AC9F64}"/>
              </a:ext>
            </a:extLst>
          </p:cNvPr>
          <p:cNvSpPr/>
          <p:nvPr/>
        </p:nvSpPr>
        <p:spPr>
          <a:xfrm>
            <a:off x="4932040" y="2624728"/>
            <a:ext cx="1152128"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41C5344D-AD67-487C-8761-ABB71DE5DE08}"/>
              </a:ext>
            </a:extLst>
          </p:cNvPr>
          <p:cNvSpPr txBox="1"/>
          <p:nvPr/>
        </p:nvSpPr>
        <p:spPr>
          <a:xfrm>
            <a:off x="5040992" y="2773629"/>
            <a:ext cx="971168" cy="276999"/>
          </a:xfrm>
          <a:prstGeom prst="rect">
            <a:avLst/>
          </a:prstGeom>
          <a:noFill/>
        </p:spPr>
        <p:txBody>
          <a:bodyPr wrap="square" rtlCol="0">
            <a:spAutoFit/>
          </a:bodyPr>
          <a:lstStyle/>
          <a:p>
            <a:pPr algn="ctr"/>
            <a:r>
              <a:rPr lang="es-ES" sz="1200" b="1" dirty="0"/>
              <a:t>proceso</a:t>
            </a:r>
            <a:endParaRPr lang="es-ES" b="1" dirty="0"/>
          </a:p>
        </p:txBody>
      </p:sp>
      <p:sp>
        <p:nvSpPr>
          <p:cNvPr id="16" name="Rectángulo 15">
            <a:extLst>
              <a:ext uri="{FF2B5EF4-FFF2-40B4-BE49-F238E27FC236}">
                <a16:creationId xmlns:a16="http://schemas.microsoft.com/office/drawing/2014/main" id="{EB36370A-48ED-49C3-AF2A-230FEE2897FD}"/>
              </a:ext>
            </a:extLst>
          </p:cNvPr>
          <p:cNvSpPr/>
          <p:nvPr/>
        </p:nvSpPr>
        <p:spPr>
          <a:xfrm>
            <a:off x="4895629" y="3573016"/>
            <a:ext cx="1152128"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uadroTexto 16">
            <a:extLst>
              <a:ext uri="{FF2B5EF4-FFF2-40B4-BE49-F238E27FC236}">
                <a16:creationId xmlns:a16="http://schemas.microsoft.com/office/drawing/2014/main" id="{B1BD16F8-A984-4343-A9AC-9B39BCBC043D}"/>
              </a:ext>
            </a:extLst>
          </p:cNvPr>
          <p:cNvSpPr txBox="1"/>
          <p:nvPr/>
        </p:nvSpPr>
        <p:spPr>
          <a:xfrm>
            <a:off x="5004581" y="3721917"/>
            <a:ext cx="971168" cy="276999"/>
          </a:xfrm>
          <a:prstGeom prst="rect">
            <a:avLst/>
          </a:prstGeom>
          <a:noFill/>
        </p:spPr>
        <p:txBody>
          <a:bodyPr wrap="square" rtlCol="0">
            <a:spAutoFit/>
          </a:bodyPr>
          <a:lstStyle/>
          <a:p>
            <a:pPr algn="ctr"/>
            <a:r>
              <a:rPr lang="es-ES" sz="1200" b="1" dirty="0"/>
              <a:t>proceso</a:t>
            </a:r>
            <a:endParaRPr lang="es-ES" b="1" dirty="0"/>
          </a:p>
        </p:txBody>
      </p:sp>
      <p:cxnSp>
        <p:nvCxnSpPr>
          <p:cNvPr id="19" name="Conector recto de flecha 18">
            <a:extLst>
              <a:ext uri="{FF2B5EF4-FFF2-40B4-BE49-F238E27FC236}">
                <a16:creationId xmlns:a16="http://schemas.microsoft.com/office/drawing/2014/main" id="{0DF601D5-0F46-4C0E-960E-44D595DEF87A}"/>
              </a:ext>
            </a:extLst>
          </p:cNvPr>
          <p:cNvCxnSpPr>
            <a:stCxn id="12" idx="3"/>
          </p:cNvCxnSpPr>
          <p:nvPr/>
        </p:nvCxnSpPr>
        <p:spPr>
          <a:xfrm>
            <a:off x="6084168" y="1844824"/>
            <a:ext cx="1152128" cy="82344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E2F302B4-541F-4D33-B4FB-699E3DC58606}"/>
              </a:ext>
            </a:extLst>
          </p:cNvPr>
          <p:cNvCxnSpPr>
            <a:cxnSpLocks/>
            <a:stCxn id="14" idx="3"/>
          </p:cNvCxnSpPr>
          <p:nvPr/>
        </p:nvCxnSpPr>
        <p:spPr>
          <a:xfrm flipV="1">
            <a:off x="6084168" y="2904740"/>
            <a:ext cx="1152128" cy="802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3DE15313-335C-4B7B-A421-FB815B762F2F}"/>
              </a:ext>
            </a:extLst>
          </p:cNvPr>
          <p:cNvCxnSpPr>
            <a:cxnSpLocks/>
            <a:stCxn id="16" idx="3"/>
          </p:cNvCxnSpPr>
          <p:nvPr/>
        </p:nvCxnSpPr>
        <p:spPr>
          <a:xfrm flipV="1">
            <a:off x="6047757" y="3212976"/>
            <a:ext cx="1188539" cy="648072"/>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B2563F3C-7162-4347-97B4-BB6B01DC50DC}"/>
              </a:ext>
            </a:extLst>
          </p:cNvPr>
          <p:cNvSpPr txBox="1"/>
          <p:nvPr/>
        </p:nvSpPr>
        <p:spPr>
          <a:xfrm>
            <a:off x="180187" y="1178168"/>
            <a:ext cx="4175929" cy="738664"/>
          </a:xfrm>
          <a:prstGeom prst="rect">
            <a:avLst/>
          </a:prstGeom>
          <a:noFill/>
        </p:spPr>
        <p:txBody>
          <a:bodyPr wrap="square" rtlCol="0">
            <a:spAutoFit/>
          </a:bodyPr>
          <a:lstStyle/>
          <a:p>
            <a:pPr algn="just"/>
            <a:r>
              <a:rPr lang="es-ES" sz="1400" dirty="0"/>
              <a:t>Los procesos/tareas comparten un mismo espacio de memoria, que se escriben y leen de forma asíncrona. </a:t>
            </a:r>
            <a:endParaRPr lang="es-ES" sz="1400" b="1" dirty="0"/>
          </a:p>
        </p:txBody>
      </p:sp>
      <p:sp>
        <p:nvSpPr>
          <p:cNvPr id="27" name="CuadroTexto 26">
            <a:extLst>
              <a:ext uri="{FF2B5EF4-FFF2-40B4-BE49-F238E27FC236}">
                <a16:creationId xmlns:a16="http://schemas.microsoft.com/office/drawing/2014/main" id="{5EF20602-D819-4436-B212-3075B1C1D0DC}"/>
              </a:ext>
            </a:extLst>
          </p:cNvPr>
          <p:cNvSpPr txBox="1"/>
          <p:nvPr/>
        </p:nvSpPr>
        <p:spPr>
          <a:xfrm>
            <a:off x="186868" y="1970256"/>
            <a:ext cx="4175929" cy="738664"/>
          </a:xfrm>
          <a:prstGeom prst="rect">
            <a:avLst/>
          </a:prstGeom>
          <a:noFill/>
        </p:spPr>
        <p:txBody>
          <a:bodyPr wrap="square" rtlCol="0">
            <a:spAutoFit/>
          </a:bodyPr>
          <a:lstStyle/>
          <a:p>
            <a:pPr algn="just"/>
            <a:r>
              <a:rPr lang="es-ES" sz="1400" dirty="0"/>
              <a:t>Son muy importantes los mecanismos de </a:t>
            </a:r>
            <a:r>
              <a:rPr lang="es-ES" sz="1400" dirty="0" err="1"/>
              <a:t>de</a:t>
            </a:r>
            <a:r>
              <a:rPr lang="es-ES" sz="1400" dirty="0"/>
              <a:t> exclusión mutua, para evitar “</a:t>
            </a:r>
            <a:r>
              <a:rPr lang="es-ES" sz="1400" dirty="0" err="1"/>
              <a:t>race</a:t>
            </a:r>
            <a:r>
              <a:rPr lang="es-ES" sz="1400" dirty="0"/>
              <a:t> </a:t>
            </a:r>
            <a:r>
              <a:rPr lang="es-ES" sz="1400" dirty="0" err="1"/>
              <a:t>conditions</a:t>
            </a:r>
            <a:r>
              <a:rPr lang="es-ES" sz="1400" dirty="0"/>
              <a:t>” y “</a:t>
            </a:r>
            <a:r>
              <a:rPr lang="es-ES" sz="1400" dirty="0" err="1"/>
              <a:t>deadlocks</a:t>
            </a:r>
            <a:r>
              <a:rPr lang="es-ES" sz="1400" dirty="0"/>
              <a:t>”. </a:t>
            </a:r>
            <a:endParaRPr lang="es-ES" sz="1400" b="1" dirty="0"/>
          </a:p>
        </p:txBody>
      </p:sp>
      <p:sp>
        <p:nvSpPr>
          <p:cNvPr id="28" name="CuadroTexto 27">
            <a:extLst>
              <a:ext uri="{FF2B5EF4-FFF2-40B4-BE49-F238E27FC236}">
                <a16:creationId xmlns:a16="http://schemas.microsoft.com/office/drawing/2014/main" id="{B82A44A4-63D8-4364-A213-9699438B0884}"/>
              </a:ext>
            </a:extLst>
          </p:cNvPr>
          <p:cNvSpPr txBox="1"/>
          <p:nvPr/>
        </p:nvSpPr>
        <p:spPr>
          <a:xfrm>
            <a:off x="151804" y="2816841"/>
            <a:ext cx="4419661" cy="1169551"/>
          </a:xfrm>
          <a:prstGeom prst="rect">
            <a:avLst/>
          </a:prstGeom>
          <a:noFill/>
        </p:spPr>
        <p:txBody>
          <a:bodyPr wrap="square" rtlCol="0">
            <a:spAutoFit/>
          </a:bodyPr>
          <a:lstStyle/>
          <a:p>
            <a:pPr algn="just"/>
            <a:r>
              <a:rPr lang="es-ES" sz="1400" b="1" dirty="0"/>
              <a:t>Ventajas</a:t>
            </a:r>
            <a:r>
              <a:rPr lang="es-ES" sz="1400" dirty="0"/>
              <a:t>:</a:t>
            </a:r>
          </a:p>
          <a:p>
            <a:pPr marL="442913" lvl="1" indent="-285750" algn="just">
              <a:buFont typeface="Arial" panose="020B0604020202020204" pitchFamily="34" charset="0"/>
              <a:buChar char="•"/>
            </a:pPr>
            <a:r>
              <a:rPr lang="es-ES" sz="1400" dirty="0"/>
              <a:t>Modelo de paralelización relativamente simple.</a:t>
            </a:r>
          </a:p>
          <a:p>
            <a:pPr marL="442913" lvl="1" indent="-285750" algn="just">
              <a:buFont typeface="Arial" panose="020B0604020202020204" pitchFamily="34" charset="0"/>
              <a:buChar char="•"/>
            </a:pPr>
            <a:r>
              <a:rPr lang="es-ES" sz="1400" dirty="0"/>
              <a:t>Los datos se comparten por lo que no hay una comunicación explicita de datos entre tareas.</a:t>
            </a:r>
          </a:p>
          <a:p>
            <a:pPr marL="442913" lvl="1" indent="-285750" algn="just">
              <a:buFont typeface="Arial" panose="020B0604020202020204" pitchFamily="34" charset="0"/>
              <a:buChar char="•"/>
            </a:pPr>
            <a:endParaRPr lang="es-ES" sz="1400" dirty="0"/>
          </a:p>
        </p:txBody>
      </p:sp>
      <p:sp>
        <p:nvSpPr>
          <p:cNvPr id="29" name="CuadroTexto 28">
            <a:extLst>
              <a:ext uri="{FF2B5EF4-FFF2-40B4-BE49-F238E27FC236}">
                <a16:creationId xmlns:a16="http://schemas.microsoft.com/office/drawing/2014/main" id="{DCBEF3AB-884F-4E50-8E20-0CE7AF52C339}"/>
              </a:ext>
            </a:extLst>
          </p:cNvPr>
          <p:cNvSpPr txBox="1"/>
          <p:nvPr/>
        </p:nvSpPr>
        <p:spPr>
          <a:xfrm>
            <a:off x="170276" y="3915633"/>
            <a:ext cx="4419661" cy="1169551"/>
          </a:xfrm>
          <a:prstGeom prst="rect">
            <a:avLst/>
          </a:prstGeom>
          <a:noFill/>
        </p:spPr>
        <p:txBody>
          <a:bodyPr wrap="square" rtlCol="0">
            <a:spAutoFit/>
          </a:bodyPr>
          <a:lstStyle/>
          <a:p>
            <a:pPr algn="just"/>
            <a:r>
              <a:rPr lang="es-ES" sz="1400" b="1" dirty="0"/>
              <a:t>Inconvenientes:</a:t>
            </a:r>
          </a:p>
          <a:p>
            <a:pPr marL="442913" lvl="1" indent="-285750" algn="just">
              <a:buFont typeface="Arial" panose="020B0604020202020204" pitchFamily="34" charset="0"/>
              <a:buChar char="•"/>
            </a:pPr>
            <a:r>
              <a:rPr lang="es-ES" sz="1400" dirty="0"/>
              <a:t>Difícil gestión y manejo de la localidad de los datos.</a:t>
            </a:r>
          </a:p>
          <a:p>
            <a:pPr marL="442913" lvl="1" indent="-285750" algn="just">
              <a:buFont typeface="Arial" panose="020B0604020202020204" pitchFamily="34" charset="0"/>
              <a:buChar char="•"/>
            </a:pPr>
            <a:r>
              <a:rPr lang="es-ES" sz="1400" dirty="0"/>
              <a:t>Paralelización limitada.</a:t>
            </a:r>
          </a:p>
          <a:p>
            <a:pPr marL="442913" lvl="1" indent="-285750" algn="just">
              <a:buFont typeface="Arial" panose="020B0604020202020204" pitchFamily="34" charset="0"/>
              <a:buChar char="•"/>
            </a:pPr>
            <a:endParaRPr lang="es-ES" sz="1400" dirty="0"/>
          </a:p>
        </p:txBody>
      </p:sp>
      <p:sp>
        <p:nvSpPr>
          <p:cNvPr id="30" name="CuadroTexto 29">
            <a:extLst>
              <a:ext uri="{FF2B5EF4-FFF2-40B4-BE49-F238E27FC236}">
                <a16:creationId xmlns:a16="http://schemas.microsoft.com/office/drawing/2014/main" id="{F1AE51F9-60DD-4E9E-A5FA-026F8F3520FA}"/>
              </a:ext>
            </a:extLst>
          </p:cNvPr>
          <p:cNvSpPr txBox="1"/>
          <p:nvPr/>
        </p:nvSpPr>
        <p:spPr>
          <a:xfrm>
            <a:off x="870409" y="5205629"/>
            <a:ext cx="6984776" cy="646331"/>
          </a:xfrm>
          <a:prstGeom prst="rect">
            <a:avLst/>
          </a:prstGeom>
          <a:noFill/>
        </p:spPr>
        <p:txBody>
          <a:bodyPr wrap="square" rtlCol="0">
            <a:spAutoFit/>
          </a:bodyPr>
          <a:lstStyle/>
          <a:p>
            <a:pPr algn="ctr"/>
            <a:r>
              <a:rPr lang="es-ES" sz="3600" b="1" dirty="0" err="1"/>
              <a:t>OpenMP</a:t>
            </a:r>
            <a:endParaRPr lang="es-ES" b="1" dirty="0"/>
          </a:p>
        </p:txBody>
      </p:sp>
      <p:sp>
        <p:nvSpPr>
          <p:cNvPr id="31" name="CuadroTexto 30">
            <a:extLst>
              <a:ext uri="{FF2B5EF4-FFF2-40B4-BE49-F238E27FC236}">
                <a16:creationId xmlns:a16="http://schemas.microsoft.com/office/drawing/2014/main" id="{6CDFF19D-3AA5-4A64-A570-97459DE91690}"/>
              </a:ext>
            </a:extLst>
          </p:cNvPr>
          <p:cNvSpPr txBox="1"/>
          <p:nvPr/>
        </p:nvSpPr>
        <p:spPr>
          <a:xfrm>
            <a:off x="6778420" y="1390032"/>
            <a:ext cx="1584176" cy="369332"/>
          </a:xfrm>
          <a:prstGeom prst="rect">
            <a:avLst/>
          </a:prstGeom>
          <a:noFill/>
        </p:spPr>
        <p:txBody>
          <a:bodyPr wrap="square" rtlCol="0">
            <a:spAutoFit/>
          </a:bodyPr>
          <a:lstStyle/>
          <a:p>
            <a:pPr algn="ctr"/>
            <a:r>
              <a:rPr lang="en-US" dirty="0"/>
              <a:t>Machine A</a:t>
            </a:r>
          </a:p>
        </p:txBody>
      </p:sp>
    </p:spTree>
    <p:extLst>
      <p:ext uri="{BB962C8B-B14F-4D97-AF65-F5344CB8AC3E}">
        <p14:creationId xmlns:p14="http://schemas.microsoft.com/office/powerpoint/2010/main" val="1427155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40BC1102-81D6-478C-A8BF-E20D6164E4EE}"/>
              </a:ext>
            </a:extLst>
          </p:cNvPr>
          <p:cNvSpPr>
            <a:spLocks noGrp="1"/>
          </p:cNvSpPr>
          <p:nvPr>
            <p:ph type="sldNum" sz="quarter" idx="12"/>
          </p:nvPr>
        </p:nvSpPr>
        <p:spPr/>
        <p:txBody>
          <a:bodyPr/>
          <a:lstStyle/>
          <a:p>
            <a:fld id="{2BC99F66-008B-4912-B721-8943319F59B7}" type="slidenum">
              <a:rPr lang="en-US" altLang="en-US" smtClean="0"/>
              <a:pPr/>
              <a:t>21</a:t>
            </a:fld>
            <a:endParaRPr lang="en-US" altLang="en-US"/>
          </a:p>
        </p:txBody>
      </p:sp>
      <p:sp>
        <p:nvSpPr>
          <p:cNvPr id="5" name="CuadroTexto 4">
            <a:extLst>
              <a:ext uri="{FF2B5EF4-FFF2-40B4-BE49-F238E27FC236}">
                <a16:creationId xmlns:a16="http://schemas.microsoft.com/office/drawing/2014/main" id="{B9790907-2EC9-4992-A966-128A14DD7452}"/>
              </a:ext>
            </a:extLst>
          </p:cNvPr>
          <p:cNvSpPr txBox="1"/>
          <p:nvPr/>
        </p:nvSpPr>
        <p:spPr>
          <a:xfrm>
            <a:off x="395536" y="286418"/>
            <a:ext cx="6984776" cy="369332"/>
          </a:xfrm>
          <a:prstGeom prst="rect">
            <a:avLst/>
          </a:prstGeom>
          <a:noFill/>
        </p:spPr>
        <p:txBody>
          <a:bodyPr wrap="square" rtlCol="0">
            <a:spAutoFit/>
          </a:bodyPr>
          <a:lstStyle/>
          <a:p>
            <a:r>
              <a:rPr lang="es-ES" b="1" dirty="0"/>
              <a:t>Modelo de memoria distribuida (</a:t>
            </a:r>
            <a:r>
              <a:rPr lang="es-ES" b="1" dirty="0" err="1"/>
              <a:t>Distributed</a:t>
            </a:r>
            <a:r>
              <a:rPr lang="es-ES" b="1" dirty="0"/>
              <a:t> </a:t>
            </a:r>
            <a:r>
              <a:rPr lang="es-ES" b="1" dirty="0" err="1"/>
              <a:t>Memory</a:t>
            </a:r>
            <a:r>
              <a:rPr lang="es-ES" b="1" dirty="0"/>
              <a:t> </a:t>
            </a:r>
            <a:r>
              <a:rPr lang="es-ES" b="1" dirty="0" err="1"/>
              <a:t>Model</a:t>
            </a:r>
            <a:r>
              <a:rPr lang="es-ES" b="1" dirty="0"/>
              <a:t>)</a:t>
            </a:r>
          </a:p>
        </p:txBody>
      </p:sp>
      <p:sp>
        <p:nvSpPr>
          <p:cNvPr id="6" name="CuadroTexto 5">
            <a:extLst>
              <a:ext uri="{FF2B5EF4-FFF2-40B4-BE49-F238E27FC236}">
                <a16:creationId xmlns:a16="http://schemas.microsoft.com/office/drawing/2014/main" id="{242F6CF6-9D97-4B56-A27A-0DD5B18B8337}"/>
              </a:ext>
            </a:extLst>
          </p:cNvPr>
          <p:cNvSpPr txBox="1"/>
          <p:nvPr/>
        </p:nvSpPr>
        <p:spPr>
          <a:xfrm>
            <a:off x="5418329" y="4908818"/>
            <a:ext cx="2861848" cy="646331"/>
          </a:xfrm>
          <a:prstGeom prst="rect">
            <a:avLst/>
          </a:prstGeom>
          <a:noFill/>
        </p:spPr>
        <p:txBody>
          <a:bodyPr wrap="square" rtlCol="0">
            <a:spAutoFit/>
          </a:bodyPr>
          <a:lstStyle/>
          <a:p>
            <a:pPr algn="ctr"/>
            <a:r>
              <a:rPr lang="es-ES" sz="3600" b="1" dirty="0"/>
              <a:t>MPI</a:t>
            </a:r>
            <a:endParaRPr lang="es-ES" b="1" dirty="0"/>
          </a:p>
        </p:txBody>
      </p:sp>
      <p:sp>
        <p:nvSpPr>
          <p:cNvPr id="8" name="Rectángulo 7">
            <a:extLst>
              <a:ext uri="{FF2B5EF4-FFF2-40B4-BE49-F238E27FC236}">
                <a16:creationId xmlns:a16="http://schemas.microsoft.com/office/drawing/2014/main" id="{36184383-B0DC-49FB-ADFB-2484B2254C2B}"/>
              </a:ext>
            </a:extLst>
          </p:cNvPr>
          <p:cNvSpPr/>
          <p:nvPr/>
        </p:nvSpPr>
        <p:spPr>
          <a:xfrm>
            <a:off x="4860032" y="1342242"/>
            <a:ext cx="1584176" cy="28672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42BA7171-A242-4050-8B99-9BEF2F2A30FA}"/>
              </a:ext>
            </a:extLst>
          </p:cNvPr>
          <p:cNvSpPr txBox="1"/>
          <p:nvPr/>
        </p:nvSpPr>
        <p:spPr>
          <a:xfrm>
            <a:off x="4878504" y="1319498"/>
            <a:ext cx="1584176" cy="369332"/>
          </a:xfrm>
          <a:prstGeom prst="rect">
            <a:avLst/>
          </a:prstGeom>
          <a:noFill/>
        </p:spPr>
        <p:txBody>
          <a:bodyPr wrap="square" rtlCol="0">
            <a:spAutoFit/>
          </a:bodyPr>
          <a:lstStyle/>
          <a:p>
            <a:pPr algn="ctr"/>
            <a:r>
              <a:rPr lang="en-US" b="1" dirty="0"/>
              <a:t> Node A</a:t>
            </a:r>
          </a:p>
        </p:txBody>
      </p:sp>
      <p:sp>
        <p:nvSpPr>
          <p:cNvPr id="19" name="Rectángulo 18">
            <a:extLst>
              <a:ext uri="{FF2B5EF4-FFF2-40B4-BE49-F238E27FC236}">
                <a16:creationId xmlns:a16="http://schemas.microsoft.com/office/drawing/2014/main" id="{5C54FB23-C05B-4021-B523-0F02BC487F15}"/>
              </a:ext>
            </a:extLst>
          </p:cNvPr>
          <p:cNvSpPr/>
          <p:nvPr/>
        </p:nvSpPr>
        <p:spPr>
          <a:xfrm>
            <a:off x="7217824" y="1345040"/>
            <a:ext cx="1584176" cy="286100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uadroTexto 19">
            <a:extLst>
              <a:ext uri="{FF2B5EF4-FFF2-40B4-BE49-F238E27FC236}">
                <a16:creationId xmlns:a16="http://schemas.microsoft.com/office/drawing/2014/main" id="{30760A0E-553F-4503-A897-FF6B390F39E1}"/>
              </a:ext>
            </a:extLst>
          </p:cNvPr>
          <p:cNvSpPr txBox="1"/>
          <p:nvPr/>
        </p:nvSpPr>
        <p:spPr>
          <a:xfrm>
            <a:off x="7236296" y="1322296"/>
            <a:ext cx="1584176" cy="369332"/>
          </a:xfrm>
          <a:prstGeom prst="rect">
            <a:avLst/>
          </a:prstGeom>
          <a:noFill/>
        </p:spPr>
        <p:txBody>
          <a:bodyPr wrap="square" rtlCol="0">
            <a:spAutoFit/>
          </a:bodyPr>
          <a:lstStyle/>
          <a:p>
            <a:pPr algn="ctr"/>
            <a:r>
              <a:rPr lang="en-US" b="1" dirty="0"/>
              <a:t>Node B</a:t>
            </a:r>
          </a:p>
        </p:txBody>
      </p:sp>
      <p:sp>
        <p:nvSpPr>
          <p:cNvPr id="21" name="Rectángulo 20">
            <a:extLst>
              <a:ext uri="{FF2B5EF4-FFF2-40B4-BE49-F238E27FC236}">
                <a16:creationId xmlns:a16="http://schemas.microsoft.com/office/drawing/2014/main" id="{4C2E086B-8903-42AE-843B-D86534EB9EC1}"/>
              </a:ext>
            </a:extLst>
          </p:cNvPr>
          <p:cNvSpPr/>
          <p:nvPr/>
        </p:nvSpPr>
        <p:spPr>
          <a:xfrm>
            <a:off x="5076056" y="1916832"/>
            <a:ext cx="1152128" cy="64633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ángulo 21">
            <a:extLst>
              <a:ext uri="{FF2B5EF4-FFF2-40B4-BE49-F238E27FC236}">
                <a16:creationId xmlns:a16="http://schemas.microsoft.com/office/drawing/2014/main" id="{0135D628-6D34-42EA-B05D-A761A3FEB9D8}"/>
              </a:ext>
            </a:extLst>
          </p:cNvPr>
          <p:cNvSpPr/>
          <p:nvPr/>
        </p:nvSpPr>
        <p:spPr>
          <a:xfrm>
            <a:off x="5076056" y="3105834"/>
            <a:ext cx="1152128" cy="64633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ángulo 22">
            <a:extLst>
              <a:ext uri="{FF2B5EF4-FFF2-40B4-BE49-F238E27FC236}">
                <a16:creationId xmlns:a16="http://schemas.microsoft.com/office/drawing/2014/main" id="{B2EBAA46-0AA0-438D-8E3D-595E6B0A52E4}"/>
              </a:ext>
            </a:extLst>
          </p:cNvPr>
          <p:cNvSpPr/>
          <p:nvPr/>
        </p:nvSpPr>
        <p:spPr>
          <a:xfrm>
            <a:off x="7452320" y="1919630"/>
            <a:ext cx="1152128" cy="64633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ángulo 23">
            <a:extLst>
              <a:ext uri="{FF2B5EF4-FFF2-40B4-BE49-F238E27FC236}">
                <a16:creationId xmlns:a16="http://schemas.microsoft.com/office/drawing/2014/main" id="{15421897-FDA4-4D6F-9FAD-7B6BA8AB7D6F}"/>
              </a:ext>
            </a:extLst>
          </p:cNvPr>
          <p:cNvSpPr/>
          <p:nvPr/>
        </p:nvSpPr>
        <p:spPr>
          <a:xfrm>
            <a:off x="7452320" y="3082888"/>
            <a:ext cx="1152128" cy="64633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uadroTexto 24">
            <a:extLst>
              <a:ext uri="{FF2B5EF4-FFF2-40B4-BE49-F238E27FC236}">
                <a16:creationId xmlns:a16="http://schemas.microsoft.com/office/drawing/2014/main" id="{B5DFAB8D-8D8A-49A9-AF08-0CAB45AA6864}"/>
              </a:ext>
            </a:extLst>
          </p:cNvPr>
          <p:cNvSpPr txBox="1"/>
          <p:nvPr/>
        </p:nvSpPr>
        <p:spPr>
          <a:xfrm>
            <a:off x="5268124" y="1912130"/>
            <a:ext cx="684076" cy="276999"/>
          </a:xfrm>
          <a:prstGeom prst="rect">
            <a:avLst/>
          </a:prstGeom>
          <a:noFill/>
        </p:spPr>
        <p:txBody>
          <a:bodyPr wrap="square" rtlCol="0">
            <a:spAutoFit/>
          </a:bodyPr>
          <a:lstStyle/>
          <a:p>
            <a:pPr algn="ctr"/>
            <a:r>
              <a:rPr lang="en-US" sz="1200" dirty="0"/>
              <a:t>Task 0</a:t>
            </a:r>
          </a:p>
        </p:txBody>
      </p:sp>
      <p:sp>
        <p:nvSpPr>
          <p:cNvPr id="26" name="CuadroTexto 25">
            <a:extLst>
              <a:ext uri="{FF2B5EF4-FFF2-40B4-BE49-F238E27FC236}">
                <a16:creationId xmlns:a16="http://schemas.microsoft.com/office/drawing/2014/main" id="{3E76613F-AEEF-45EE-8D6D-FE454F2D7490}"/>
              </a:ext>
            </a:extLst>
          </p:cNvPr>
          <p:cNvSpPr txBox="1"/>
          <p:nvPr/>
        </p:nvSpPr>
        <p:spPr>
          <a:xfrm>
            <a:off x="5301316" y="3079993"/>
            <a:ext cx="684076" cy="276999"/>
          </a:xfrm>
          <a:prstGeom prst="rect">
            <a:avLst/>
          </a:prstGeom>
          <a:noFill/>
        </p:spPr>
        <p:txBody>
          <a:bodyPr wrap="square" rtlCol="0">
            <a:spAutoFit/>
          </a:bodyPr>
          <a:lstStyle/>
          <a:p>
            <a:pPr algn="ctr"/>
            <a:r>
              <a:rPr lang="en-US" sz="1200" dirty="0"/>
              <a:t>Task 1</a:t>
            </a:r>
          </a:p>
        </p:txBody>
      </p:sp>
      <p:sp>
        <p:nvSpPr>
          <p:cNvPr id="27" name="CuadroTexto 26">
            <a:extLst>
              <a:ext uri="{FF2B5EF4-FFF2-40B4-BE49-F238E27FC236}">
                <a16:creationId xmlns:a16="http://schemas.microsoft.com/office/drawing/2014/main" id="{EFE42D30-7566-44CA-AFBD-619F51BBAE9F}"/>
              </a:ext>
            </a:extLst>
          </p:cNvPr>
          <p:cNvSpPr txBox="1"/>
          <p:nvPr/>
        </p:nvSpPr>
        <p:spPr>
          <a:xfrm>
            <a:off x="7699585" y="1917788"/>
            <a:ext cx="684076" cy="276999"/>
          </a:xfrm>
          <a:prstGeom prst="rect">
            <a:avLst/>
          </a:prstGeom>
          <a:noFill/>
        </p:spPr>
        <p:txBody>
          <a:bodyPr wrap="square" rtlCol="0">
            <a:spAutoFit/>
          </a:bodyPr>
          <a:lstStyle/>
          <a:p>
            <a:pPr algn="ctr"/>
            <a:r>
              <a:rPr lang="en-US" sz="1200" dirty="0"/>
              <a:t>Task 2</a:t>
            </a:r>
          </a:p>
        </p:txBody>
      </p:sp>
      <p:sp>
        <p:nvSpPr>
          <p:cNvPr id="28" name="CuadroTexto 27">
            <a:extLst>
              <a:ext uri="{FF2B5EF4-FFF2-40B4-BE49-F238E27FC236}">
                <a16:creationId xmlns:a16="http://schemas.microsoft.com/office/drawing/2014/main" id="{234878F5-424E-4B42-AA12-BABF525EDE69}"/>
              </a:ext>
            </a:extLst>
          </p:cNvPr>
          <p:cNvSpPr txBox="1"/>
          <p:nvPr/>
        </p:nvSpPr>
        <p:spPr>
          <a:xfrm>
            <a:off x="7740352" y="3077339"/>
            <a:ext cx="684076" cy="276999"/>
          </a:xfrm>
          <a:prstGeom prst="rect">
            <a:avLst/>
          </a:prstGeom>
          <a:noFill/>
        </p:spPr>
        <p:txBody>
          <a:bodyPr wrap="square" rtlCol="0">
            <a:spAutoFit/>
          </a:bodyPr>
          <a:lstStyle/>
          <a:p>
            <a:pPr algn="ctr"/>
            <a:r>
              <a:rPr lang="en-US" sz="1200" dirty="0"/>
              <a:t>Task 3</a:t>
            </a:r>
          </a:p>
        </p:txBody>
      </p:sp>
      <p:sp>
        <p:nvSpPr>
          <p:cNvPr id="30" name="CuadroTexto 29">
            <a:extLst>
              <a:ext uri="{FF2B5EF4-FFF2-40B4-BE49-F238E27FC236}">
                <a16:creationId xmlns:a16="http://schemas.microsoft.com/office/drawing/2014/main" id="{882EDA29-6832-4FCE-9864-1D99312E2050}"/>
              </a:ext>
            </a:extLst>
          </p:cNvPr>
          <p:cNvSpPr txBox="1"/>
          <p:nvPr/>
        </p:nvSpPr>
        <p:spPr>
          <a:xfrm>
            <a:off x="5310082" y="2208905"/>
            <a:ext cx="684076" cy="276999"/>
          </a:xfrm>
          <a:prstGeom prst="rect">
            <a:avLst/>
          </a:prstGeom>
          <a:solidFill>
            <a:schemeClr val="tx2">
              <a:lumMod val="60000"/>
              <a:lumOff val="40000"/>
            </a:schemeClr>
          </a:solidFill>
        </p:spPr>
        <p:txBody>
          <a:bodyPr wrap="square" rtlCol="0">
            <a:spAutoFit/>
          </a:bodyPr>
          <a:lstStyle/>
          <a:p>
            <a:pPr algn="ctr"/>
            <a:r>
              <a:rPr lang="en-US" sz="1200" dirty="0"/>
              <a:t>data</a:t>
            </a:r>
          </a:p>
        </p:txBody>
      </p:sp>
      <p:sp>
        <p:nvSpPr>
          <p:cNvPr id="31" name="CuadroTexto 30">
            <a:extLst>
              <a:ext uri="{FF2B5EF4-FFF2-40B4-BE49-F238E27FC236}">
                <a16:creationId xmlns:a16="http://schemas.microsoft.com/office/drawing/2014/main" id="{9181F580-DC7A-4C2F-8DE2-8E57F7F7C093}"/>
              </a:ext>
            </a:extLst>
          </p:cNvPr>
          <p:cNvSpPr txBox="1"/>
          <p:nvPr/>
        </p:nvSpPr>
        <p:spPr>
          <a:xfrm>
            <a:off x="7704348" y="2204864"/>
            <a:ext cx="684076" cy="276999"/>
          </a:xfrm>
          <a:prstGeom prst="rect">
            <a:avLst/>
          </a:prstGeom>
          <a:solidFill>
            <a:schemeClr val="tx2">
              <a:lumMod val="60000"/>
              <a:lumOff val="40000"/>
            </a:schemeClr>
          </a:solidFill>
        </p:spPr>
        <p:txBody>
          <a:bodyPr wrap="square" rtlCol="0">
            <a:spAutoFit/>
          </a:bodyPr>
          <a:lstStyle/>
          <a:p>
            <a:pPr algn="ctr"/>
            <a:r>
              <a:rPr lang="en-US" sz="1200" dirty="0"/>
              <a:t>data</a:t>
            </a:r>
          </a:p>
        </p:txBody>
      </p:sp>
      <p:sp>
        <p:nvSpPr>
          <p:cNvPr id="32" name="CuadroTexto 31">
            <a:extLst>
              <a:ext uri="{FF2B5EF4-FFF2-40B4-BE49-F238E27FC236}">
                <a16:creationId xmlns:a16="http://schemas.microsoft.com/office/drawing/2014/main" id="{349233AF-9C81-431B-B3B2-5973AC1AF5C6}"/>
              </a:ext>
            </a:extLst>
          </p:cNvPr>
          <p:cNvSpPr txBox="1"/>
          <p:nvPr/>
        </p:nvSpPr>
        <p:spPr>
          <a:xfrm>
            <a:off x="5292080" y="3377261"/>
            <a:ext cx="684076" cy="276999"/>
          </a:xfrm>
          <a:prstGeom prst="rect">
            <a:avLst/>
          </a:prstGeom>
          <a:solidFill>
            <a:schemeClr val="tx2">
              <a:lumMod val="60000"/>
              <a:lumOff val="40000"/>
            </a:schemeClr>
          </a:solidFill>
        </p:spPr>
        <p:txBody>
          <a:bodyPr wrap="square" rtlCol="0">
            <a:spAutoFit/>
          </a:bodyPr>
          <a:lstStyle/>
          <a:p>
            <a:pPr algn="ctr"/>
            <a:r>
              <a:rPr lang="en-US" sz="1200" dirty="0"/>
              <a:t>data</a:t>
            </a:r>
          </a:p>
        </p:txBody>
      </p:sp>
      <p:sp>
        <p:nvSpPr>
          <p:cNvPr id="33" name="CuadroTexto 32">
            <a:extLst>
              <a:ext uri="{FF2B5EF4-FFF2-40B4-BE49-F238E27FC236}">
                <a16:creationId xmlns:a16="http://schemas.microsoft.com/office/drawing/2014/main" id="{93F807D5-AAC3-4A4F-9349-6BF446EB6D37}"/>
              </a:ext>
            </a:extLst>
          </p:cNvPr>
          <p:cNvSpPr txBox="1"/>
          <p:nvPr/>
        </p:nvSpPr>
        <p:spPr>
          <a:xfrm>
            <a:off x="7776356" y="3375381"/>
            <a:ext cx="684076" cy="276999"/>
          </a:xfrm>
          <a:prstGeom prst="rect">
            <a:avLst/>
          </a:prstGeom>
          <a:solidFill>
            <a:schemeClr val="tx2">
              <a:lumMod val="60000"/>
              <a:lumOff val="40000"/>
            </a:schemeClr>
          </a:solidFill>
        </p:spPr>
        <p:txBody>
          <a:bodyPr wrap="square" rtlCol="0">
            <a:spAutoFit/>
          </a:bodyPr>
          <a:lstStyle/>
          <a:p>
            <a:pPr algn="ctr"/>
            <a:r>
              <a:rPr lang="en-US" sz="1200" dirty="0"/>
              <a:t>data</a:t>
            </a:r>
          </a:p>
        </p:txBody>
      </p:sp>
      <p:cxnSp>
        <p:nvCxnSpPr>
          <p:cNvPr id="35" name="Conector recto de flecha 34">
            <a:extLst>
              <a:ext uri="{FF2B5EF4-FFF2-40B4-BE49-F238E27FC236}">
                <a16:creationId xmlns:a16="http://schemas.microsoft.com/office/drawing/2014/main" id="{6A1B8436-E4A2-4A51-B739-50E30D3A755F}"/>
              </a:ext>
            </a:extLst>
          </p:cNvPr>
          <p:cNvCxnSpPr>
            <a:stCxn id="30" idx="3"/>
            <a:endCxn id="31" idx="1"/>
          </p:cNvCxnSpPr>
          <p:nvPr/>
        </p:nvCxnSpPr>
        <p:spPr>
          <a:xfrm flipV="1">
            <a:off x="5994158" y="2343364"/>
            <a:ext cx="1710190" cy="4041"/>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150AD324-B5DB-4D36-9375-9FA88F1D3C67}"/>
              </a:ext>
            </a:extLst>
          </p:cNvPr>
          <p:cNvCxnSpPr>
            <a:cxnSpLocks/>
            <a:stCxn id="32" idx="3"/>
            <a:endCxn id="33" idx="1"/>
          </p:cNvCxnSpPr>
          <p:nvPr/>
        </p:nvCxnSpPr>
        <p:spPr>
          <a:xfrm flipV="1">
            <a:off x="5976156" y="3513881"/>
            <a:ext cx="1800200" cy="188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9" name="CuadroTexto 38">
            <a:extLst>
              <a:ext uri="{FF2B5EF4-FFF2-40B4-BE49-F238E27FC236}">
                <a16:creationId xmlns:a16="http://schemas.microsoft.com/office/drawing/2014/main" id="{C4EABD74-6390-43CF-B8E4-1BC73CC51443}"/>
              </a:ext>
            </a:extLst>
          </p:cNvPr>
          <p:cNvSpPr txBox="1"/>
          <p:nvPr/>
        </p:nvSpPr>
        <p:spPr>
          <a:xfrm>
            <a:off x="6426676" y="2624154"/>
            <a:ext cx="764615" cy="276999"/>
          </a:xfrm>
          <a:prstGeom prst="rect">
            <a:avLst/>
          </a:prstGeom>
          <a:noFill/>
        </p:spPr>
        <p:txBody>
          <a:bodyPr wrap="square" rtlCol="0">
            <a:spAutoFit/>
          </a:bodyPr>
          <a:lstStyle/>
          <a:p>
            <a:pPr algn="ctr"/>
            <a:r>
              <a:rPr lang="en-US" sz="1200" dirty="0"/>
              <a:t>Network</a:t>
            </a:r>
          </a:p>
        </p:txBody>
      </p:sp>
      <p:sp>
        <p:nvSpPr>
          <p:cNvPr id="40" name="CuadroTexto 39">
            <a:extLst>
              <a:ext uri="{FF2B5EF4-FFF2-40B4-BE49-F238E27FC236}">
                <a16:creationId xmlns:a16="http://schemas.microsoft.com/office/drawing/2014/main" id="{66EF6FD6-3202-485E-8293-6B966F9D1E57}"/>
              </a:ext>
            </a:extLst>
          </p:cNvPr>
          <p:cNvSpPr txBox="1"/>
          <p:nvPr/>
        </p:nvSpPr>
        <p:spPr>
          <a:xfrm>
            <a:off x="5292080" y="2509539"/>
            <a:ext cx="764615" cy="276999"/>
          </a:xfrm>
          <a:prstGeom prst="rect">
            <a:avLst/>
          </a:prstGeom>
          <a:noFill/>
        </p:spPr>
        <p:txBody>
          <a:bodyPr wrap="square" rtlCol="0">
            <a:spAutoFit/>
          </a:bodyPr>
          <a:lstStyle/>
          <a:p>
            <a:pPr algn="ctr"/>
            <a:r>
              <a:rPr lang="en-US" sz="1200" dirty="0"/>
              <a:t>send()</a:t>
            </a:r>
          </a:p>
        </p:txBody>
      </p:sp>
      <p:sp>
        <p:nvSpPr>
          <p:cNvPr id="41" name="CuadroTexto 40">
            <a:extLst>
              <a:ext uri="{FF2B5EF4-FFF2-40B4-BE49-F238E27FC236}">
                <a16:creationId xmlns:a16="http://schemas.microsoft.com/office/drawing/2014/main" id="{F0062E04-30F6-496A-8E68-BEFFE059B331}"/>
              </a:ext>
            </a:extLst>
          </p:cNvPr>
          <p:cNvSpPr txBox="1"/>
          <p:nvPr/>
        </p:nvSpPr>
        <p:spPr>
          <a:xfrm>
            <a:off x="7694892" y="2516964"/>
            <a:ext cx="764615" cy="276999"/>
          </a:xfrm>
          <a:prstGeom prst="rect">
            <a:avLst/>
          </a:prstGeom>
          <a:noFill/>
        </p:spPr>
        <p:txBody>
          <a:bodyPr wrap="square" rtlCol="0">
            <a:spAutoFit/>
          </a:bodyPr>
          <a:lstStyle/>
          <a:p>
            <a:pPr algn="ctr"/>
            <a:r>
              <a:rPr lang="en-US" sz="1200" dirty="0" err="1"/>
              <a:t>recv</a:t>
            </a:r>
            <a:r>
              <a:rPr lang="en-US" sz="1200" dirty="0"/>
              <a:t>()</a:t>
            </a:r>
          </a:p>
        </p:txBody>
      </p:sp>
      <p:sp>
        <p:nvSpPr>
          <p:cNvPr id="42" name="CuadroTexto 41">
            <a:extLst>
              <a:ext uri="{FF2B5EF4-FFF2-40B4-BE49-F238E27FC236}">
                <a16:creationId xmlns:a16="http://schemas.microsoft.com/office/drawing/2014/main" id="{C4B6BA8F-DF51-418C-B19A-E8DCCA815E75}"/>
              </a:ext>
            </a:extLst>
          </p:cNvPr>
          <p:cNvSpPr txBox="1"/>
          <p:nvPr/>
        </p:nvSpPr>
        <p:spPr>
          <a:xfrm>
            <a:off x="5293005" y="3720640"/>
            <a:ext cx="764615" cy="276999"/>
          </a:xfrm>
          <a:prstGeom prst="rect">
            <a:avLst/>
          </a:prstGeom>
          <a:noFill/>
        </p:spPr>
        <p:txBody>
          <a:bodyPr wrap="square" rtlCol="0">
            <a:spAutoFit/>
          </a:bodyPr>
          <a:lstStyle/>
          <a:p>
            <a:pPr algn="ctr"/>
            <a:r>
              <a:rPr lang="en-US" sz="1200" dirty="0" err="1"/>
              <a:t>recv</a:t>
            </a:r>
            <a:r>
              <a:rPr lang="en-US" sz="1200" dirty="0"/>
              <a:t>()</a:t>
            </a:r>
          </a:p>
        </p:txBody>
      </p:sp>
      <p:sp>
        <p:nvSpPr>
          <p:cNvPr id="43" name="CuadroTexto 42">
            <a:extLst>
              <a:ext uri="{FF2B5EF4-FFF2-40B4-BE49-F238E27FC236}">
                <a16:creationId xmlns:a16="http://schemas.microsoft.com/office/drawing/2014/main" id="{083DAE7C-F345-4627-9FA0-716F01EA3B0D}"/>
              </a:ext>
            </a:extLst>
          </p:cNvPr>
          <p:cNvSpPr txBox="1"/>
          <p:nvPr/>
        </p:nvSpPr>
        <p:spPr>
          <a:xfrm>
            <a:off x="7695817" y="3728065"/>
            <a:ext cx="764615" cy="276999"/>
          </a:xfrm>
          <a:prstGeom prst="rect">
            <a:avLst/>
          </a:prstGeom>
          <a:noFill/>
        </p:spPr>
        <p:txBody>
          <a:bodyPr wrap="square" rtlCol="0">
            <a:spAutoFit/>
          </a:bodyPr>
          <a:lstStyle/>
          <a:p>
            <a:pPr algn="ctr"/>
            <a:r>
              <a:rPr lang="en-US" sz="1200" dirty="0"/>
              <a:t>send()</a:t>
            </a:r>
          </a:p>
        </p:txBody>
      </p:sp>
      <p:sp>
        <p:nvSpPr>
          <p:cNvPr id="44" name="CuadroTexto 43">
            <a:extLst>
              <a:ext uri="{FF2B5EF4-FFF2-40B4-BE49-F238E27FC236}">
                <a16:creationId xmlns:a16="http://schemas.microsoft.com/office/drawing/2014/main" id="{AAFE3895-829C-438B-9F0C-E3EAAC1E0602}"/>
              </a:ext>
            </a:extLst>
          </p:cNvPr>
          <p:cNvSpPr txBox="1"/>
          <p:nvPr/>
        </p:nvSpPr>
        <p:spPr>
          <a:xfrm>
            <a:off x="323528" y="1251337"/>
            <a:ext cx="4175929" cy="1169551"/>
          </a:xfrm>
          <a:prstGeom prst="rect">
            <a:avLst/>
          </a:prstGeom>
          <a:noFill/>
        </p:spPr>
        <p:txBody>
          <a:bodyPr wrap="square" rtlCol="0">
            <a:spAutoFit/>
          </a:bodyPr>
          <a:lstStyle/>
          <a:p>
            <a:pPr algn="just"/>
            <a:r>
              <a:rPr lang="es-ES" sz="1400" dirty="0"/>
              <a:t>Cada proceso usa su propia memoria local durante el calculo. </a:t>
            </a:r>
          </a:p>
          <a:p>
            <a:pPr algn="just"/>
            <a:r>
              <a:rPr lang="es-ES" sz="1400" dirty="0"/>
              <a:t>Las tareas intercambian de forma cooperativa datos a través de una red de comunicaciones usando mensajes </a:t>
            </a:r>
            <a:r>
              <a:rPr lang="es-ES" sz="1400" dirty="0" err="1"/>
              <a:t>send</a:t>
            </a:r>
            <a:r>
              <a:rPr lang="es-ES" sz="1400" dirty="0"/>
              <a:t>() y </a:t>
            </a:r>
            <a:r>
              <a:rPr lang="es-ES" sz="1400" dirty="0" err="1"/>
              <a:t>recv</a:t>
            </a:r>
            <a:r>
              <a:rPr lang="es-ES" sz="1400" dirty="0"/>
              <a:t>().</a:t>
            </a:r>
            <a:endParaRPr lang="es-ES" sz="1400" b="1" dirty="0"/>
          </a:p>
        </p:txBody>
      </p:sp>
      <p:sp>
        <p:nvSpPr>
          <p:cNvPr id="46" name="CuadroTexto 45">
            <a:extLst>
              <a:ext uri="{FF2B5EF4-FFF2-40B4-BE49-F238E27FC236}">
                <a16:creationId xmlns:a16="http://schemas.microsoft.com/office/drawing/2014/main" id="{2884FD43-BCBA-4C2C-90C8-56FD5B7126CC}"/>
              </a:ext>
            </a:extLst>
          </p:cNvPr>
          <p:cNvSpPr txBox="1"/>
          <p:nvPr/>
        </p:nvSpPr>
        <p:spPr>
          <a:xfrm>
            <a:off x="107099" y="2439320"/>
            <a:ext cx="4464901" cy="2462213"/>
          </a:xfrm>
          <a:prstGeom prst="rect">
            <a:avLst/>
          </a:prstGeom>
          <a:noFill/>
        </p:spPr>
        <p:txBody>
          <a:bodyPr wrap="square" rtlCol="0">
            <a:spAutoFit/>
          </a:bodyPr>
          <a:lstStyle/>
          <a:p>
            <a:pPr algn="just"/>
            <a:r>
              <a:rPr lang="es-ES" sz="1400" b="1" dirty="0"/>
              <a:t>Ventajas:</a:t>
            </a:r>
          </a:p>
          <a:p>
            <a:pPr marL="442913" lvl="1" indent="-285750" algn="just">
              <a:buFont typeface="Arial" panose="020B0604020202020204" pitchFamily="34" charset="0"/>
              <a:buChar char="•"/>
            </a:pPr>
            <a:r>
              <a:rPr lang="es-ES" sz="1400" dirty="0"/>
              <a:t>Se puede ejecutar en arquitecturas de memoria compartida y distribuidas</a:t>
            </a:r>
          </a:p>
          <a:p>
            <a:pPr marL="442913" lvl="1" indent="-285750" algn="just">
              <a:buFont typeface="Arial" panose="020B0604020202020204" pitchFamily="34" charset="0"/>
              <a:buChar char="•"/>
            </a:pPr>
            <a:r>
              <a:rPr lang="es-ES" sz="1400" dirty="0"/>
              <a:t>Se puede usar en un mayor tipos de problemas con respecto a </a:t>
            </a:r>
            <a:r>
              <a:rPr lang="es-ES" sz="1400" dirty="0" err="1"/>
              <a:t>OpenMP</a:t>
            </a:r>
            <a:endParaRPr lang="es-ES" sz="1400" dirty="0"/>
          </a:p>
          <a:p>
            <a:pPr marL="442913" lvl="1" indent="-285750" algn="just">
              <a:buFont typeface="Arial" panose="020B0604020202020204" pitchFamily="34" charset="0"/>
              <a:buChar char="•"/>
            </a:pPr>
            <a:r>
              <a:rPr lang="es-ES" sz="1400" dirty="0"/>
              <a:t>Cada proceso tiene sus propias variables locales</a:t>
            </a:r>
          </a:p>
          <a:p>
            <a:pPr marL="442913" lvl="1" indent="-285750" algn="just">
              <a:buFont typeface="Arial" panose="020B0604020202020204" pitchFamily="34" charset="0"/>
              <a:buChar char="•"/>
            </a:pPr>
            <a:r>
              <a:rPr lang="es-ES" sz="1400" dirty="0"/>
              <a:t>En general, los computadores de memoria distribuida son mas baratos que los de memoria compartida.</a:t>
            </a:r>
          </a:p>
          <a:p>
            <a:pPr marL="442913" lvl="1" indent="-285750" algn="just">
              <a:buFont typeface="Arial" panose="020B0604020202020204" pitchFamily="34" charset="0"/>
              <a:buChar char="•"/>
            </a:pPr>
            <a:endParaRPr lang="es-ES" sz="1400" dirty="0"/>
          </a:p>
        </p:txBody>
      </p:sp>
      <p:sp>
        <p:nvSpPr>
          <p:cNvPr id="47" name="CuadroTexto 46">
            <a:extLst>
              <a:ext uri="{FF2B5EF4-FFF2-40B4-BE49-F238E27FC236}">
                <a16:creationId xmlns:a16="http://schemas.microsoft.com/office/drawing/2014/main" id="{9507399C-1872-42D7-B9D4-E3335D423A5F}"/>
              </a:ext>
            </a:extLst>
          </p:cNvPr>
          <p:cNvSpPr txBox="1"/>
          <p:nvPr/>
        </p:nvSpPr>
        <p:spPr>
          <a:xfrm>
            <a:off x="152339" y="4608610"/>
            <a:ext cx="4419661" cy="1600438"/>
          </a:xfrm>
          <a:prstGeom prst="rect">
            <a:avLst/>
          </a:prstGeom>
          <a:noFill/>
        </p:spPr>
        <p:txBody>
          <a:bodyPr wrap="square" rtlCol="0">
            <a:spAutoFit/>
          </a:bodyPr>
          <a:lstStyle/>
          <a:p>
            <a:pPr algn="just"/>
            <a:r>
              <a:rPr lang="es-ES" sz="1400" b="1" dirty="0"/>
              <a:t>Inconvenientes:</a:t>
            </a:r>
          </a:p>
          <a:p>
            <a:pPr marL="442913" lvl="1" indent="-285750" algn="just">
              <a:buFont typeface="Arial" panose="020B0604020202020204" pitchFamily="34" charset="0"/>
              <a:buChar char="•"/>
            </a:pPr>
            <a:r>
              <a:rPr lang="es-ES" sz="1400" dirty="0"/>
              <a:t>Requiere muchos cambios de código entre la versión en serie y la paralela</a:t>
            </a:r>
          </a:p>
          <a:p>
            <a:pPr marL="442913" lvl="1" indent="-285750" algn="just">
              <a:buFont typeface="Arial" panose="020B0604020202020204" pitchFamily="34" charset="0"/>
              <a:buChar char="•"/>
            </a:pPr>
            <a:r>
              <a:rPr lang="es-ES" sz="1400" dirty="0"/>
              <a:t>Difícil de encontrar errores (depuración)</a:t>
            </a:r>
          </a:p>
          <a:p>
            <a:pPr marL="442913" lvl="1" indent="-285750" algn="just">
              <a:buFont typeface="Arial" panose="020B0604020202020204" pitchFamily="34" charset="0"/>
              <a:buChar char="•"/>
            </a:pPr>
            <a:r>
              <a:rPr lang="es-ES" sz="1400" dirty="0"/>
              <a:t>El rendimiento esta limitado por la red de comunicaciones entre nodos</a:t>
            </a:r>
          </a:p>
          <a:p>
            <a:pPr marL="442913" lvl="1" indent="-285750" algn="just">
              <a:buFont typeface="Arial" panose="020B0604020202020204" pitchFamily="34" charset="0"/>
              <a:buChar char="•"/>
            </a:pPr>
            <a:endParaRPr lang="es-ES" sz="1400" dirty="0"/>
          </a:p>
        </p:txBody>
      </p:sp>
    </p:spTree>
    <p:extLst>
      <p:ext uri="{BB962C8B-B14F-4D97-AF65-F5344CB8AC3E}">
        <p14:creationId xmlns:p14="http://schemas.microsoft.com/office/powerpoint/2010/main" val="345988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4" grpId="0"/>
      <p:bldP spid="46" grpId="0"/>
      <p:bldP spid="4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89124EFA-DD30-43A2-A50F-53E5BBB9CA7D}"/>
              </a:ext>
            </a:extLst>
          </p:cNvPr>
          <p:cNvSpPr>
            <a:spLocks noGrp="1"/>
          </p:cNvSpPr>
          <p:nvPr>
            <p:ph type="sldNum" sz="quarter" idx="12"/>
          </p:nvPr>
        </p:nvSpPr>
        <p:spPr/>
        <p:txBody>
          <a:bodyPr/>
          <a:lstStyle/>
          <a:p>
            <a:fld id="{2BC99F66-008B-4912-B721-8943319F59B7}" type="slidenum">
              <a:rPr lang="en-US" altLang="en-US" smtClean="0"/>
              <a:pPr/>
              <a:t>22</a:t>
            </a:fld>
            <a:endParaRPr lang="en-US" altLang="en-US"/>
          </a:p>
        </p:txBody>
      </p:sp>
      <p:sp>
        <p:nvSpPr>
          <p:cNvPr id="5" name="CuadroTexto 4">
            <a:extLst>
              <a:ext uri="{FF2B5EF4-FFF2-40B4-BE49-F238E27FC236}">
                <a16:creationId xmlns:a16="http://schemas.microsoft.com/office/drawing/2014/main" id="{2566CAAE-CD4E-4EDB-A9EF-FD975409A7D2}"/>
              </a:ext>
            </a:extLst>
          </p:cNvPr>
          <p:cNvSpPr txBox="1"/>
          <p:nvPr/>
        </p:nvSpPr>
        <p:spPr>
          <a:xfrm>
            <a:off x="395536" y="323364"/>
            <a:ext cx="6984776" cy="369332"/>
          </a:xfrm>
          <a:prstGeom prst="rect">
            <a:avLst/>
          </a:prstGeom>
          <a:noFill/>
        </p:spPr>
        <p:txBody>
          <a:bodyPr wrap="square" rtlCol="0">
            <a:spAutoFit/>
          </a:bodyPr>
          <a:lstStyle/>
          <a:p>
            <a:r>
              <a:rPr lang="es-ES" b="1" dirty="0"/>
              <a:t>Modelo de hibrido (MPI/</a:t>
            </a:r>
            <a:r>
              <a:rPr lang="es-ES" b="1" dirty="0" err="1"/>
              <a:t>OpenMP</a:t>
            </a:r>
            <a:r>
              <a:rPr lang="es-ES" b="1" dirty="0"/>
              <a:t>)</a:t>
            </a:r>
          </a:p>
        </p:txBody>
      </p:sp>
      <p:sp>
        <p:nvSpPr>
          <p:cNvPr id="29" name="CuadroTexto 28">
            <a:extLst>
              <a:ext uri="{FF2B5EF4-FFF2-40B4-BE49-F238E27FC236}">
                <a16:creationId xmlns:a16="http://schemas.microsoft.com/office/drawing/2014/main" id="{1FC48DF5-22F3-4962-95CE-0A0A3E01AA63}"/>
              </a:ext>
            </a:extLst>
          </p:cNvPr>
          <p:cNvSpPr txBox="1"/>
          <p:nvPr/>
        </p:nvSpPr>
        <p:spPr>
          <a:xfrm>
            <a:off x="4171091" y="348794"/>
            <a:ext cx="4978052" cy="307777"/>
          </a:xfrm>
          <a:prstGeom prst="rect">
            <a:avLst/>
          </a:prstGeom>
          <a:noFill/>
        </p:spPr>
        <p:txBody>
          <a:bodyPr wrap="square" rtlCol="0">
            <a:spAutoFit/>
          </a:bodyPr>
          <a:lstStyle/>
          <a:p>
            <a:pPr algn="just"/>
            <a:r>
              <a:rPr lang="es-ES" sz="1400" dirty="0"/>
              <a:t>Combina varios de los modelos anteriormente expuestos</a:t>
            </a:r>
            <a:endParaRPr lang="es-ES" sz="1400" b="1" dirty="0"/>
          </a:p>
        </p:txBody>
      </p:sp>
      <p:sp>
        <p:nvSpPr>
          <p:cNvPr id="124" name="CuadroTexto 123">
            <a:extLst>
              <a:ext uri="{FF2B5EF4-FFF2-40B4-BE49-F238E27FC236}">
                <a16:creationId xmlns:a16="http://schemas.microsoft.com/office/drawing/2014/main" id="{6A6C12CA-8EB6-4DDD-B27A-9E6ED44E85CB}"/>
              </a:ext>
            </a:extLst>
          </p:cNvPr>
          <p:cNvSpPr txBox="1"/>
          <p:nvPr/>
        </p:nvSpPr>
        <p:spPr>
          <a:xfrm>
            <a:off x="1907704" y="4665214"/>
            <a:ext cx="749806" cy="276999"/>
          </a:xfrm>
          <a:prstGeom prst="rect">
            <a:avLst/>
          </a:prstGeom>
          <a:noFill/>
        </p:spPr>
        <p:txBody>
          <a:bodyPr wrap="square" rtlCol="0">
            <a:spAutoFit/>
          </a:bodyPr>
          <a:lstStyle/>
          <a:p>
            <a:pPr algn="ctr"/>
            <a:r>
              <a:rPr lang="en-US" sz="1200" dirty="0"/>
              <a:t>Network</a:t>
            </a:r>
          </a:p>
        </p:txBody>
      </p:sp>
      <p:grpSp>
        <p:nvGrpSpPr>
          <p:cNvPr id="6" name="Grupo 5">
            <a:extLst>
              <a:ext uri="{FF2B5EF4-FFF2-40B4-BE49-F238E27FC236}">
                <a16:creationId xmlns:a16="http://schemas.microsoft.com/office/drawing/2014/main" id="{99D716C9-A6AF-4B15-845F-94B5AB9B16EF}"/>
              </a:ext>
            </a:extLst>
          </p:cNvPr>
          <p:cNvGrpSpPr/>
          <p:nvPr/>
        </p:nvGrpSpPr>
        <p:grpSpPr>
          <a:xfrm>
            <a:off x="136790" y="3048296"/>
            <a:ext cx="4325102" cy="3310254"/>
            <a:chOff x="136790" y="3048296"/>
            <a:chExt cx="4325102" cy="3310254"/>
          </a:xfrm>
        </p:grpSpPr>
        <p:grpSp>
          <p:nvGrpSpPr>
            <p:cNvPr id="114" name="Grupo 113">
              <a:extLst>
                <a:ext uri="{FF2B5EF4-FFF2-40B4-BE49-F238E27FC236}">
                  <a16:creationId xmlns:a16="http://schemas.microsoft.com/office/drawing/2014/main" id="{94C5355C-455D-4241-81AF-32D5017D13A2}"/>
                </a:ext>
              </a:extLst>
            </p:cNvPr>
            <p:cNvGrpSpPr>
              <a:grpSpLocks noChangeAspect="1"/>
            </p:cNvGrpSpPr>
            <p:nvPr/>
          </p:nvGrpSpPr>
          <p:grpSpPr>
            <a:xfrm>
              <a:off x="136790" y="3573016"/>
              <a:ext cx="4325102" cy="2785534"/>
              <a:chOff x="3480105" y="2492896"/>
              <a:chExt cx="5118085" cy="3237475"/>
            </a:xfrm>
          </p:grpSpPr>
          <p:grpSp>
            <p:nvGrpSpPr>
              <p:cNvPr id="46" name="Grupo 45">
                <a:extLst>
                  <a:ext uri="{FF2B5EF4-FFF2-40B4-BE49-F238E27FC236}">
                    <a16:creationId xmlns:a16="http://schemas.microsoft.com/office/drawing/2014/main" id="{E3C8DBAC-5880-43CA-8217-561E3CCAC94E}"/>
                  </a:ext>
                </a:extLst>
              </p:cNvPr>
              <p:cNvGrpSpPr/>
              <p:nvPr/>
            </p:nvGrpSpPr>
            <p:grpSpPr>
              <a:xfrm>
                <a:off x="3480105" y="2492896"/>
                <a:ext cx="2346686" cy="930057"/>
                <a:chOff x="1169150" y="4233787"/>
                <a:chExt cx="2346686" cy="930057"/>
              </a:xfrm>
            </p:grpSpPr>
            <p:grpSp>
              <p:nvGrpSpPr>
                <p:cNvPr id="44" name="Grupo 43">
                  <a:extLst>
                    <a:ext uri="{FF2B5EF4-FFF2-40B4-BE49-F238E27FC236}">
                      <a16:creationId xmlns:a16="http://schemas.microsoft.com/office/drawing/2014/main" id="{6C8F3E6D-03A9-447F-B68A-323E214E84FF}"/>
                    </a:ext>
                  </a:extLst>
                </p:cNvPr>
                <p:cNvGrpSpPr/>
                <p:nvPr/>
              </p:nvGrpSpPr>
              <p:grpSpPr>
                <a:xfrm>
                  <a:off x="1169150" y="4513822"/>
                  <a:ext cx="2346686" cy="650022"/>
                  <a:chOff x="1169150" y="4513822"/>
                  <a:chExt cx="2346686" cy="650022"/>
                </a:xfrm>
              </p:grpSpPr>
              <p:sp>
                <p:nvSpPr>
                  <p:cNvPr id="10" name="Rectángulo 9">
                    <a:extLst>
                      <a:ext uri="{FF2B5EF4-FFF2-40B4-BE49-F238E27FC236}">
                        <a16:creationId xmlns:a16="http://schemas.microsoft.com/office/drawing/2014/main" id="{BE49FE27-96A8-4E60-A8DD-B6D8ABBBA4E7}"/>
                      </a:ext>
                    </a:extLst>
                  </p:cNvPr>
                  <p:cNvSpPr/>
                  <p:nvPr/>
                </p:nvSpPr>
                <p:spPr>
                  <a:xfrm>
                    <a:off x="2363708" y="4513822"/>
                    <a:ext cx="1152128" cy="64633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adroTexto 13">
                    <a:extLst>
                      <a:ext uri="{FF2B5EF4-FFF2-40B4-BE49-F238E27FC236}">
                        <a16:creationId xmlns:a16="http://schemas.microsoft.com/office/drawing/2014/main" id="{C876E57E-51D7-4001-A17B-3C349E97F8DC}"/>
                      </a:ext>
                    </a:extLst>
                  </p:cNvPr>
                  <p:cNvSpPr txBox="1"/>
                  <p:nvPr/>
                </p:nvSpPr>
                <p:spPr>
                  <a:xfrm>
                    <a:off x="2555773" y="4671608"/>
                    <a:ext cx="872354" cy="302285"/>
                  </a:xfrm>
                  <a:prstGeom prst="rect">
                    <a:avLst/>
                  </a:prstGeom>
                  <a:noFill/>
                </p:spPr>
                <p:txBody>
                  <a:bodyPr wrap="square" rtlCol="0">
                    <a:spAutoFit/>
                  </a:bodyPr>
                  <a:lstStyle/>
                  <a:p>
                    <a:pPr algn="ctr"/>
                    <a:r>
                      <a:rPr lang="en-US" sz="1200" dirty="0"/>
                      <a:t>Memory</a:t>
                    </a:r>
                  </a:p>
                </p:txBody>
              </p:sp>
              <p:grpSp>
                <p:nvGrpSpPr>
                  <p:cNvPr id="3" name="Grupo 2">
                    <a:extLst>
                      <a:ext uri="{FF2B5EF4-FFF2-40B4-BE49-F238E27FC236}">
                        <a16:creationId xmlns:a16="http://schemas.microsoft.com/office/drawing/2014/main" id="{A26C5F2A-C136-4183-9ED3-820C2E6054A6}"/>
                      </a:ext>
                    </a:extLst>
                  </p:cNvPr>
                  <p:cNvGrpSpPr/>
                  <p:nvPr/>
                </p:nvGrpSpPr>
                <p:grpSpPr>
                  <a:xfrm>
                    <a:off x="1169150" y="4517338"/>
                    <a:ext cx="674135" cy="323166"/>
                    <a:chOff x="6165177" y="4656582"/>
                    <a:chExt cx="674135" cy="323166"/>
                  </a:xfrm>
                </p:grpSpPr>
                <p:sp>
                  <p:nvSpPr>
                    <p:cNvPr id="33" name="Rectángulo 32">
                      <a:extLst>
                        <a:ext uri="{FF2B5EF4-FFF2-40B4-BE49-F238E27FC236}">
                          <a16:creationId xmlns:a16="http://schemas.microsoft.com/office/drawing/2014/main" id="{3E5FD3F1-3EEF-431D-9DF6-05EEF61EEE5A}"/>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uadroTexto 24">
                      <a:extLst>
                        <a:ext uri="{FF2B5EF4-FFF2-40B4-BE49-F238E27FC236}">
                          <a16:creationId xmlns:a16="http://schemas.microsoft.com/office/drawing/2014/main" id="{3F0FFCB7-A5E7-49DE-BEE3-6C3128C421DD}"/>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35" name="Grupo 34">
                    <a:extLst>
                      <a:ext uri="{FF2B5EF4-FFF2-40B4-BE49-F238E27FC236}">
                        <a16:creationId xmlns:a16="http://schemas.microsoft.com/office/drawing/2014/main" id="{597E3E8D-7733-411D-BE36-BADEA5E003D9}"/>
                      </a:ext>
                    </a:extLst>
                  </p:cNvPr>
                  <p:cNvGrpSpPr/>
                  <p:nvPr/>
                </p:nvGrpSpPr>
                <p:grpSpPr>
                  <a:xfrm>
                    <a:off x="1747094" y="4513822"/>
                    <a:ext cx="674135" cy="323166"/>
                    <a:chOff x="6165177" y="4656582"/>
                    <a:chExt cx="674135" cy="323166"/>
                  </a:xfrm>
                </p:grpSpPr>
                <p:sp>
                  <p:nvSpPr>
                    <p:cNvPr id="36" name="Rectángulo 35">
                      <a:extLst>
                        <a:ext uri="{FF2B5EF4-FFF2-40B4-BE49-F238E27FC236}">
                          <a16:creationId xmlns:a16="http://schemas.microsoft.com/office/drawing/2014/main" id="{4304E18B-3F03-4736-93AE-E0775A52D5CE}"/>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uadroTexto 36">
                      <a:extLst>
                        <a:ext uri="{FF2B5EF4-FFF2-40B4-BE49-F238E27FC236}">
                          <a16:creationId xmlns:a16="http://schemas.microsoft.com/office/drawing/2014/main" id="{EA798DF1-899E-4439-BDC2-DAE0923B5B44}"/>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38" name="Grupo 37">
                    <a:extLst>
                      <a:ext uri="{FF2B5EF4-FFF2-40B4-BE49-F238E27FC236}">
                        <a16:creationId xmlns:a16="http://schemas.microsoft.com/office/drawing/2014/main" id="{8551357A-9A8B-41B2-9081-6C1F8D2C24CA}"/>
                      </a:ext>
                    </a:extLst>
                  </p:cNvPr>
                  <p:cNvGrpSpPr/>
                  <p:nvPr/>
                </p:nvGrpSpPr>
                <p:grpSpPr>
                  <a:xfrm>
                    <a:off x="1169385" y="4840678"/>
                    <a:ext cx="674135" cy="323166"/>
                    <a:chOff x="6165177" y="4656582"/>
                    <a:chExt cx="674135" cy="323166"/>
                  </a:xfrm>
                </p:grpSpPr>
                <p:sp>
                  <p:nvSpPr>
                    <p:cNvPr id="39" name="Rectángulo 38">
                      <a:extLst>
                        <a:ext uri="{FF2B5EF4-FFF2-40B4-BE49-F238E27FC236}">
                          <a16:creationId xmlns:a16="http://schemas.microsoft.com/office/drawing/2014/main" id="{FA65BC0C-A23A-4489-9D4B-89812D5776EB}"/>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CuadroTexto 39">
                      <a:extLst>
                        <a:ext uri="{FF2B5EF4-FFF2-40B4-BE49-F238E27FC236}">
                          <a16:creationId xmlns:a16="http://schemas.microsoft.com/office/drawing/2014/main" id="{49D1A526-5051-4659-9FBB-1219FB993DD1}"/>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41" name="Grupo 40">
                    <a:extLst>
                      <a:ext uri="{FF2B5EF4-FFF2-40B4-BE49-F238E27FC236}">
                        <a16:creationId xmlns:a16="http://schemas.microsoft.com/office/drawing/2014/main" id="{AC9965FA-48CC-4C32-B847-4EC531855BE8}"/>
                      </a:ext>
                    </a:extLst>
                  </p:cNvPr>
                  <p:cNvGrpSpPr/>
                  <p:nvPr/>
                </p:nvGrpSpPr>
                <p:grpSpPr>
                  <a:xfrm>
                    <a:off x="1747329" y="4837162"/>
                    <a:ext cx="674135" cy="323166"/>
                    <a:chOff x="6165177" y="4656582"/>
                    <a:chExt cx="674135" cy="323166"/>
                  </a:xfrm>
                </p:grpSpPr>
                <p:sp>
                  <p:nvSpPr>
                    <p:cNvPr id="42" name="Rectángulo 41">
                      <a:extLst>
                        <a:ext uri="{FF2B5EF4-FFF2-40B4-BE49-F238E27FC236}">
                          <a16:creationId xmlns:a16="http://schemas.microsoft.com/office/drawing/2014/main" id="{63F4FBD6-E579-423B-9BDE-C3C604FD3202}"/>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uadroTexto 42">
                      <a:extLst>
                        <a:ext uri="{FF2B5EF4-FFF2-40B4-BE49-F238E27FC236}">
                          <a16:creationId xmlns:a16="http://schemas.microsoft.com/office/drawing/2014/main" id="{E5720293-650D-456E-B80C-12ACF2E94B4C}"/>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sp>
              <p:nvSpPr>
                <p:cNvPr id="45" name="CuadroTexto 44">
                  <a:extLst>
                    <a:ext uri="{FF2B5EF4-FFF2-40B4-BE49-F238E27FC236}">
                      <a16:creationId xmlns:a16="http://schemas.microsoft.com/office/drawing/2014/main" id="{D510AC77-3FCC-453C-8498-7873357EF480}"/>
                    </a:ext>
                  </a:extLst>
                </p:cNvPr>
                <p:cNvSpPr txBox="1"/>
                <p:nvPr/>
              </p:nvSpPr>
              <p:spPr>
                <a:xfrm>
                  <a:off x="1217006" y="4233787"/>
                  <a:ext cx="2294598" cy="276999"/>
                </a:xfrm>
                <a:prstGeom prst="rect">
                  <a:avLst/>
                </a:prstGeom>
                <a:solidFill>
                  <a:schemeClr val="tx1"/>
                </a:solidFill>
              </p:spPr>
              <p:txBody>
                <a:bodyPr wrap="square" rtlCol="0">
                  <a:spAutoFit/>
                </a:bodyPr>
                <a:lstStyle/>
                <a:p>
                  <a:pPr algn="ctr"/>
                  <a:r>
                    <a:rPr lang="en-US" sz="1200" dirty="0">
                      <a:solidFill>
                        <a:schemeClr val="bg1"/>
                      </a:solidFill>
                    </a:rPr>
                    <a:t>OpenMP</a:t>
                  </a:r>
                </a:p>
              </p:txBody>
            </p:sp>
          </p:grpSp>
          <p:grpSp>
            <p:nvGrpSpPr>
              <p:cNvPr id="47" name="Grupo 46">
                <a:extLst>
                  <a:ext uri="{FF2B5EF4-FFF2-40B4-BE49-F238E27FC236}">
                    <a16:creationId xmlns:a16="http://schemas.microsoft.com/office/drawing/2014/main" id="{E4A5BEC7-78F1-4E91-87ED-E3CD0C09C913}"/>
                  </a:ext>
                </a:extLst>
              </p:cNvPr>
              <p:cNvGrpSpPr/>
              <p:nvPr/>
            </p:nvGrpSpPr>
            <p:grpSpPr>
              <a:xfrm>
                <a:off x="6206969" y="2496217"/>
                <a:ext cx="2346686" cy="930057"/>
                <a:chOff x="1169150" y="4233787"/>
                <a:chExt cx="2346686" cy="930057"/>
              </a:xfrm>
            </p:grpSpPr>
            <p:grpSp>
              <p:nvGrpSpPr>
                <p:cNvPr id="48" name="Grupo 47">
                  <a:extLst>
                    <a:ext uri="{FF2B5EF4-FFF2-40B4-BE49-F238E27FC236}">
                      <a16:creationId xmlns:a16="http://schemas.microsoft.com/office/drawing/2014/main" id="{94837678-722F-4724-B662-5BC3218A21F0}"/>
                    </a:ext>
                  </a:extLst>
                </p:cNvPr>
                <p:cNvGrpSpPr/>
                <p:nvPr/>
              </p:nvGrpSpPr>
              <p:grpSpPr>
                <a:xfrm>
                  <a:off x="1169150" y="4513822"/>
                  <a:ext cx="2346686" cy="650022"/>
                  <a:chOff x="1169150" y="4513822"/>
                  <a:chExt cx="2346686" cy="650022"/>
                </a:xfrm>
              </p:grpSpPr>
              <p:sp>
                <p:nvSpPr>
                  <p:cNvPr id="50" name="Rectángulo 49">
                    <a:extLst>
                      <a:ext uri="{FF2B5EF4-FFF2-40B4-BE49-F238E27FC236}">
                        <a16:creationId xmlns:a16="http://schemas.microsoft.com/office/drawing/2014/main" id="{C45ED657-0CCD-44E0-8555-A05047CB3883}"/>
                      </a:ext>
                    </a:extLst>
                  </p:cNvPr>
                  <p:cNvSpPr/>
                  <p:nvPr/>
                </p:nvSpPr>
                <p:spPr>
                  <a:xfrm>
                    <a:off x="2363708" y="4513822"/>
                    <a:ext cx="1152128" cy="64633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CuadroTexto 50">
                    <a:extLst>
                      <a:ext uri="{FF2B5EF4-FFF2-40B4-BE49-F238E27FC236}">
                        <a16:creationId xmlns:a16="http://schemas.microsoft.com/office/drawing/2014/main" id="{BB3552CE-6C8E-42AA-86A0-31F0FE8920A9}"/>
                      </a:ext>
                    </a:extLst>
                  </p:cNvPr>
                  <p:cNvSpPr txBox="1"/>
                  <p:nvPr/>
                </p:nvSpPr>
                <p:spPr>
                  <a:xfrm>
                    <a:off x="2555775" y="4671608"/>
                    <a:ext cx="911107" cy="321941"/>
                  </a:xfrm>
                  <a:prstGeom prst="rect">
                    <a:avLst/>
                  </a:prstGeom>
                  <a:noFill/>
                </p:spPr>
                <p:txBody>
                  <a:bodyPr wrap="square" rtlCol="0">
                    <a:spAutoFit/>
                  </a:bodyPr>
                  <a:lstStyle/>
                  <a:p>
                    <a:pPr algn="ctr"/>
                    <a:r>
                      <a:rPr lang="en-US" sz="1200" dirty="0"/>
                      <a:t>Memory</a:t>
                    </a:r>
                  </a:p>
                </p:txBody>
              </p:sp>
              <p:grpSp>
                <p:nvGrpSpPr>
                  <p:cNvPr id="52" name="Grupo 51">
                    <a:extLst>
                      <a:ext uri="{FF2B5EF4-FFF2-40B4-BE49-F238E27FC236}">
                        <a16:creationId xmlns:a16="http://schemas.microsoft.com/office/drawing/2014/main" id="{081981EC-EC61-465C-9319-C4CB9470D96D}"/>
                      </a:ext>
                    </a:extLst>
                  </p:cNvPr>
                  <p:cNvGrpSpPr/>
                  <p:nvPr/>
                </p:nvGrpSpPr>
                <p:grpSpPr>
                  <a:xfrm>
                    <a:off x="1169150" y="4517338"/>
                    <a:ext cx="674135" cy="323166"/>
                    <a:chOff x="6165177" y="4656582"/>
                    <a:chExt cx="674135" cy="323166"/>
                  </a:xfrm>
                </p:grpSpPr>
                <p:sp>
                  <p:nvSpPr>
                    <p:cNvPr id="62" name="Rectángulo 61">
                      <a:extLst>
                        <a:ext uri="{FF2B5EF4-FFF2-40B4-BE49-F238E27FC236}">
                          <a16:creationId xmlns:a16="http://schemas.microsoft.com/office/drawing/2014/main" id="{AD1D55F7-6681-4F87-8D95-37C735B91A38}"/>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CuadroTexto 62">
                      <a:extLst>
                        <a:ext uri="{FF2B5EF4-FFF2-40B4-BE49-F238E27FC236}">
                          <a16:creationId xmlns:a16="http://schemas.microsoft.com/office/drawing/2014/main" id="{6534927B-F27D-463A-B3FA-4AA551CC7B25}"/>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53" name="Grupo 52">
                    <a:extLst>
                      <a:ext uri="{FF2B5EF4-FFF2-40B4-BE49-F238E27FC236}">
                        <a16:creationId xmlns:a16="http://schemas.microsoft.com/office/drawing/2014/main" id="{8C23A65F-3032-478F-BA27-905849058131}"/>
                      </a:ext>
                    </a:extLst>
                  </p:cNvPr>
                  <p:cNvGrpSpPr/>
                  <p:nvPr/>
                </p:nvGrpSpPr>
                <p:grpSpPr>
                  <a:xfrm>
                    <a:off x="1747094" y="4513822"/>
                    <a:ext cx="674135" cy="323166"/>
                    <a:chOff x="6165177" y="4656582"/>
                    <a:chExt cx="674135" cy="323166"/>
                  </a:xfrm>
                </p:grpSpPr>
                <p:sp>
                  <p:nvSpPr>
                    <p:cNvPr id="60" name="Rectángulo 59">
                      <a:extLst>
                        <a:ext uri="{FF2B5EF4-FFF2-40B4-BE49-F238E27FC236}">
                          <a16:creationId xmlns:a16="http://schemas.microsoft.com/office/drawing/2014/main" id="{7C97B9D2-59C3-4877-AACC-21C89014A9D3}"/>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CuadroTexto 60">
                      <a:extLst>
                        <a:ext uri="{FF2B5EF4-FFF2-40B4-BE49-F238E27FC236}">
                          <a16:creationId xmlns:a16="http://schemas.microsoft.com/office/drawing/2014/main" id="{9B07E414-8DAA-47E7-A741-F5F6F84A3D96}"/>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54" name="Grupo 53">
                    <a:extLst>
                      <a:ext uri="{FF2B5EF4-FFF2-40B4-BE49-F238E27FC236}">
                        <a16:creationId xmlns:a16="http://schemas.microsoft.com/office/drawing/2014/main" id="{6313A697-05AD-4FC4-9C1E-E9E21BDFDF77}"/>
                      </a:ext>
                    </a:extLst>
                  </p:cNvPr>
                  <p:cNvGrpSpPr/>
                  <p:nvPr/>
                </p:nvGrpSpPr>
                <p:grpSpPr>
                  <a:xfrm>
                    <a:off x="1169385" y="4840678"/>
                    <a:ext cx="674135" cy="323166"/>
                    <a:chOff x="6165177" y="4656582"/>
                    <a:chExt cx="674135" cy="323166"/>
                  </a:xfrm>
                </p:grpSpPr>
                <p:sp>
                  <p:nvSpPr>
                    <p:cNvPr id="58" name="Rectángulo 57">
                      <a:extLst>
                        <a:ext uri="{FF2B5EF4-FFF2-40B4-BE49-F238E27FC236}">
                          <a16:creationId xmlns:a16="http://schemas.microsoft.com/office/drawing/2014/main" id="{4E0A0C5F-CA6B-422A-A71D-EA72049988E6}"/>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CuadroTexto 58">
                      <a:extLst>
                        <a:ext uri="{FF2B5EF4-FFF2-40B4-BE49-F238E27FC236}">
                          <a16:creationId xmlns:a16="http://schemas.microsoft.com/office/drawing/2014/main" id="{87484CFD-64AA-4332-B6FE-02E9264565DC}"/>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55" name="Grupo 54">
                    <a:extLst>
                      <a:ext uri="{FF2B5EF4-FFF2-40B4-BE49-F238E27FC236}">
                        <a16:creationId xmlns:a16="http://schemas.microsoft.com/office/drawing/2014/main" id="{A8ED1573-E64C-4227-873B-2231E865ECDA}"/>
                      </a:ext>
                    </a:extLst>
                  </p:cNvPr>
                  <p:cNvGrpSpPr/>
                  <p:nvPr/>
                </p:nvGrpSpPr>
                <p:grpSpPr>
                  <a:xfrm>
                    <a:off x="1747329" y="4837162"/>
                    <a:ext cx="674135" cy="323166"/>
                    <a:chOff x="6165177" y="4656582"/>
                    <a:chExt cx="674135" cy="323166"/>
                  </a:xfrm>
                </p:grpSpPr>
                <p:sp>
                  <p:nvSpPr>
                    <p:cNvPr id="56" name="Rectángulo 55">
                      <a:extLst>
                        <a:ext uri="{FF2B5EF4-FFF2-40B4-BE49-F238E27FC236}">
                          <a16:creationId xmlns:a16="http://schemas.microsoft.com/office/drawing/2014/main" id="{03F4118A-5274-4DDC-90EE-715924D07F99}"/>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CuadroTexto 56">
                      <a:extLst>
                        <a:ext uri="{FF2B5EF4-FFF2-40B4-BE49-F238E27FC236}">
                          <a16:creationId xmlns:a16="http://schemas.microsoft.com/office/drawing/2014/main" id="{724E8262-3F27-4273-A670-0D8BA4F9E139}"/>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sp>
              <p:nvSpPr>
                <p:cNvPr id="49" name="CuadroTexto 48">
                  <a:extLst>
                    <a:ext uri="{FF2B5EF4-FFF2-40B4-BE49-F238E27FC236}">
                      <a16:creationId xmlns:a16="http://schemas.microsoft.com/office/drawing/2014/main" id="{42E641E9-135F-4746-A928-8C5665A149BF}"/>
                    </a:ext>
                  </a:extLst>
                </p:cNvPr>
                <p:cNvSpPr txBox="1"/>
                <p:nvPr/>
              </p:nvSpPr>
              <p:spPr>
                <a:xfrm>
                  <a:off x="1217006" y="4233787"/>
                  <a:ext cx="2294598" cy="276999"/>
                </a:xfrm>
                <a:prstGeom prst="rect">
                  <a:avLst/>
                </a:prstGeom>
                <a:solidFill>
                  <a:schemeClr val="tx1"/>
                </a:solidFill>
              </p:spPr>
              <p:txBody>
                <a:bodyPr wrap="square" rtlCol="0">
                  <a:spAutoFit/>
                </a:bodyPr>
                <a:lstStyle/>
                <a:p>
                  <a:pPr algn="ctr"/>
                  <a:r>
                    <a:rPr lang="en-US" sz="1200" dirty="0">
                      <a:solidFill>
                        <a:schemeClr val="bg1"/>
                      </a:solidFill>
                    </a:rPr>
                    <a:t>OpenMP</a:t>
                  </a:r>
                </a:p>
              </p:txBody>
            </p:sp>
          </p:grpSp>
          <p:grpSp>
            <p:nvGrpSpPr>
              <p:cNvPr id="64" name="Grupo 63">
                <a:extLst>
                  <a:ext uri="{FF2B5EF4-FFF2-40B4-BE49-F238E27FC236}">
                    <a16:creationId xmlns:a16="http://schemas.microsoft.com/office/drawing/2014/main" id="{6A0A9AE1-1023-4F38-8635-1E19B3D36A93}"/>
                  </a:ext>
                </a:extLst>
              </p:cNvPr>
              <p:cNvGrpSpPr/>
              <p:nvPr/>
            </p:nvGrpSpPr>
            <p:grpSpPr>
              <a:xfrm>
                <a:off x="3563888" y="4800314"/>
                <a:ext cx="2346686" cy="930057"/>
                <a:chOff x="1169150" y="4233787"/>
                <a:chExt cx="2346686" cy="930057"/>
              </a:xfrm>
            </p:grpSpPr>
            <p:grpSp>
              <p:nvGrpSpPr>
                <p:cNvPr id="65" name="Grupo 64">
                  <a:extLst>
                    <a:ext uri="{FF2B5EF4-FFF2-40B4-BE49-F238E27FC236}">
                      <a16:creationId xmlns:a16="http://schemas.microsoft.com/office/drawing/2014/main" id="{59A88313-7234-4BC8-9102-360A401AB13C}"/>
                    </a:ext>
                  </a:extLst>
                </p:cNvPr>
                <p:cNvGrpSpPr/>
                <p:nvPr/>
              </p:nvGrpSpPr>
              <p:grpSpPr>
                <a:xfrm>
                  <a:off x="1169150" y="4513822"/>
                  <a:ext cx="2346686" cy="650022"/>
                  <a:chOff x="1169150" y="4513822"/>
                  <a:chExt cx="2346686" cy="650022"/>
                </a:xfrm>
              </p:grpSpPr>
              <p:sp>
                <p:nvSpPr>
                  <p:cNvPr id="67" name="Rectángulo 66">
                    <a:extLst>
                      <a:ext uri="{FF2B5EF4-FFF2-40B4-BE49-F238E27FC236}">
                        <a16:creationId xmlns:a16="http://schemas.microsoft.com/office/drawing/2014/main" id="{A7F15058-6AD2-4008-BAF1-F0EE340D021B}"/>
                      </a:ext>
                    </a:extLst>
                  </p:cNvPr>
                  <p:cNvSpPr/>
                  <p:nvPr/>
                </p:nvSpPr>
                <p:spPr>
                  <a:xfrm>
                    <a:off x="2363708" y="4513822"/>
                    <a:ext cx="1152128" cy="64633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uadroTexto 67">
                    <a:extLst>
                      <a:ext uri="{FF2B5EF4-FFF2-40B4-BE49-F238E27FC236}">
                        <a16:creationId xmlns:a16="http://schemas.microsoft.com/office/drawing/2014/main" id="{B348E182-D92D-4929-B841-3AECDFD6B8E7}"/>
                      </a:ext>
                    </a:extLst>
                  </p:cNvPr>
                  <p:cNvSpPr txBox="1"/>
                  <p:nvPr/>
                </p:nvSpPr>
                <p:spPr>
                  <a:xfrm>
                    <a:off x="2555773" y="4671608"/>
                    <a:ext cx="872047" cy="302285"/>
                  </a:xfrm>
                  <a:prstGeom prst="rect">
                    <a:avLst/>
                  </a:prstGeom>
                  <a:noFill/>
                </p:spPr>
                <p:txBody>
                  <a:bodyPr wrap="square" rtlCol="0">
                    <a:spAutoFit/>
                  </a:bodyPr>
                  <a:lstStyle/>
                  <a:p>
                    <a:pPr algn="ctr"/>
                    <a:r>
                      <a:rPr lang="en-US" sz="1200" dirty="0"/>
                      <a:t>Memory</a:t>
                    </a:r>
                  </a:p>
                </p:txBody>
              </p:sp>
              <p:grpSp>
                <p:nvGrpSpPr>
                  <p:cNvPr id="69" name="Grupo 68">
                    <a:extLst>
                      <a:ext uri="{FF2B5EF4-FFF2-40B4-BE49-F238E27FC236}">
                        <a16:creationId xmlns:a16="http://schemas.microsoft.com/office/drawing/2014/main" id="{A4E76B3E-5AB6-4580-B562-54608D584451}"/>
                      </a:ext>
                    </a:extLst>
                  </p:cNvPr>
                  <p:cNvGrpSpPr/>
                  <p:nvPr/>
                </p:nvGrpSpPr>
                <p:grpSpPr>
                  <a:xfrm>
                    <a:off x="1169150" y="4517338"/>
                    <a:ext cx="674135" cy="323166"/>
                    <a:chOff x="6165177" y="4656582"/>
                    <a:chExt cx="674135" cy="323166"/>
                  </a:xfrm>
                </p:grpSpPr>
                <p:sp>
                  <p:nvSpPr>
                    <p:cNvPr id="79" name="Rectángulo 78">
                      <a:extLst>
                        <a:ext uri="{FF2B5EF4-FFF2-40B4-BE49-F238E27FC236}">
                          <a16:creationId xmlns:a16="http://schemas.microsoft.com/office/drawing/2014/main" id="{A65F62F4-E1C4-4A42-BA61-A49D48FA8D73}"/>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CuadroTexto 79">
                      <a:extLst>
                        <a:ext uri="{FF2B5EF4-FFF2-40B4-BE49-F238E27FC236}">
                          <a16:creationId xmlns:a16="http://schemas.microsoft.com/office/drawing/2014/main" id="{7AB5A98A-EB83-431B-8C1B-78364D15F751}"/>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70" name="Grupo 69">
                    <a:extLst>
                      <a:ext uri="{FF2B5EF4-FFF2-40B4-BE49-F238E27FC236}">
                        <a16:creationId xmlns:a16="http://schemas.microsoft.com/office/drawing/2014/main" id="{0483069C-D3BE-4245-8008-E4431DFC92AF}"/>
                      </a:ext>
                    </a:extLst>
                  </p:cNvPr>
                  <p:cNvGrpSpPr/>
                  <p:nvPr/>
                </p:nvGrpSpPr>
                <p:grpSpPr>
                  <a:xfrm>
                    <a:off x="1747094" y="4513822"/>
                    <a:ext cx="674135" cy="323166"/>
                    <a:chOff x="6165177" y="4656582"/>
                    <a:chExt cx="674135" cy="323166"/>
                  </a:xfrm>
                </p:grpSpPr>
                <p:sp>
                  <p:nvSpPr>
                    <p:cNvPr id="77" name="Rectángulo 76">
                      <a:extLst>
                        <a:ext uri="{FF2B5EF4-FFF2-40B4-BE49-F238E27FC236}">
                          <a16:creationId xmlns:a16="http://schemas.microsoft.com/office/drawing/2014/main" id="{61177942-2BCF-44E5-A5FB-3C143E9601E0}"/>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uadroTexto 77">
                      <a:extLst>
                        <a:ext uri="{FF2B5EF4-FFF2-40B4-BE49-F238E27FC236}">
                          <a16:creationId xmlns:a16="http://schemas.microsoft.com/office/drawing/2014/main" id="{B8C2A265-0317-4542-998C-9D611A6B0586}"/>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71" name="Grupo 70">
                    <a:extLst>
                      <a:ext uri="{FF2B5EF4-FFF2-40B4-BE49-F238E27FC236}">
                        <a16:creationId xmlns:a16="http://schemas.microsoft.com/office/drawing/2014/main" id="{B4B43C42-81A2-4E31-8144-FF020AFD97EE}"/>
                      </a:ext>
                    </a:extLst>
                  </p:cNvPr>
                  <p:cNvGrpSpPr/>
                  <p:nvPr/>
                </p:nvGrpSpPr>
                <p:grpSpPr>
                  <a:xfrm>
                    <a:off x="1169385" y="4840678"/>
                    <a:ext cx="674135" cy="323166"/>
                    <a:chOff x="6165177" y="4656582"/>
                    <a:chExt cx="674135" cy="323166"/>
                  </a:xfrm>
                </p:grpSpPr>
                <p:sp>
                  <p:nvSpPr>
                    <p:cNvPr id="75" name="Rectángulo 74">
                      <a:extLst>
                        <a:ext uri="{FF2B5EF4-FFF2-40B4-BE49-F238E27FC236}">
                          <a16:creationId xmlns:a16="http://schemas.microsoft.com/office/drawing/2014/main" id="{80F5F1FC-2D6D-4032-AB67-0A6168B73033}"/>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CuadroTexto 75">
                      <a:extLst>
                        <a:ext uri="{FF2B5EF4-FFF2-40B4-BE49-F238E27FC236}">
                          <a16:creationId xmlns:a16="http://schemas.microsoft.com/office/drawing/2014/main" id="{C48B33E2-9A9C-4D32-97BE-4046CB06C2FC}"/>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72" name="Grupo 71">
                    <a:extLst>
                      <a:ext uri="{FF2B5EF4-FFF2-40B4-BE49-F238E27FC236}">
                        <a16:creationId xmlns:a16="http://schemas.microsoft.com/office/drawing/2014/main" id="{DFD3DB92-42F3-4F29-B7D5-491EC952B01E}"/>
                      </a:ext>
                    </a:extLst>
                  </p:cNvPr>
                  <p:cNvGrpSpPr/>
                  <p:nvPr/>
                </p:nvGrpSpPr>
                <p:grpSpPr>
                  <a:xfrm>
                    <a:off x="1747329" y="4837162"/>
                    <a:ext cx="674135" cy="323166"/>
                    <a:chOff x="6165177" y="4656582"/>
                    <a:chExt cx="674135" cy="323166"/>
                  </a:xfrm>
                </p:grpSpPr>
                <p:sp>
                  <p:nvSpPr>
                    <p:cNvPr id="73" name="Rectángulo 72">
                      <a:extLst>
                        <a:ext uri="{FF2B5EF4-FFF2-40B4-BE49-F238E27FC236}">
                          <a16:creationId xmlns:a16="http://schemas.microsoft.com/office/drawing/2014/main" id="{6948F87C-E8CE-41FF-A8B3-DED414CBB142}"/>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CuadroTexto 73">
                      <a:extLst>
                        <a:ext uri="{FF2B5EF4-FFF2-40B4-BE49-F238E27FC236}">
                          <a16:creationId xmlns:a16="http://schemas.microsoft.com/office/drawing/2014/main" id="{E627FBFB-29BD-4CEF-B5A9-88CACEDE0ABB}"/>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sp>
              <p:nvSpPr>
                <p:cNvPr id="66" name="CuadroTexto 65">
                  <a:extLst>
                    <a:ext uri="{FF2B5EF4-FFF2-40B4-BE49-F238E27FC236}">
                      <a16:creationId xmlns:a16="http://schemas.microsoft.com/office/drawing/2014/main" id="{F6600ADC-59A4-4D9B-8848-7555AA8591EE}"/>
                    </a:ext>
                  </a:extLst>
                </p:cNvPr>
                <p:cNvSpPr txBox="1"/>
                <p:nvPr/>
              </p:nvSpPr>
              <p:spPr>
                <a:xfrm>
                  <a:off x="1217006" y="4233787"/>
                  <a:ext cx="2294598" cy="276999"/>
                </a:xfrm>
                <a:prstGeom prst="rect">
                  <a:avLst/>
                </a:prstGeom>
                <a:solidFill>
                  <a:schemeClr val="tx1"/>
                </a:solidFill>
              </p:spPr>
              <p:txBody>
                <a:bodyPr wrap="square" rtlCol="0">
                  <a:spAutoFit/>
                </a:bodyPr>
                <a:lstStyle/>
                <a:p>
                  <a:pPr algn="ctr"/>
                  <a:r>
                    <a:rPr lang="en-US" sz="1200" dirty="0">
                      <a:solidFill>
                        <a:schemeClr val="bg1"/>
                      </a:solidFill>
                    </a:rPr>
                    <a:t>OpenMP</a:t>
                  </a:r>
                </a:p>
              </p:txBody>
            </p:sp>
          </p:grpSp>
          <p:grpSp>
            <p:nvGrpSpPr>
              <p:cNvPr id="81" name="Grupo 80">
                <a:extLst>
                  <a:ext uri="{FF2B5EF4-FFF2-40B4-BE49-F238E27FC236}">
                    <a16:creationId xmlns:a16="http://schemas.microsoft.com/office/drawing/2014/main" id="{BB2D699E-14D7-40AC-A0D6-403130D819AF}"/>
                  </a:ext>
                </a:extLst>
              </p:cNvPr>
              <p:cNvGrpSpPr/>
              <p:nvPr/>
            </p:nvGrpSpPr>
            <p:grpSpPr>
              <a:xfrm>
                <a:off x="6251504" y="4797152"/>
                <a:ext cx="2346686" cy="930057"/>
                <a:chOff x="1169150" y="4233787"/>
                <a:chExt cx="2346686" cy="930057"/>
              </a:xfrm>
            </p:grpSpPr>
            <p:grpSp>
              <p:nvGrpSpPr>
                <p:cNvPr id="82" name="Grupo 81">
                  <a:extLst>
                    <a:ext uri="{FF2B5EF4-FFF2-40B4-BE49-F238E27FC236}">
                      <a16:creationId xmlns:a16="http://schemas.microsoft.com/office/drawing/2014/main" id="{01659D18-07E7-4CD0-AD05-73F3A34A0EC2}"/>
                    </a:ext>
                  </a:extLst>
                </p:cNvPr>
                <p:cNvGrpSpPr/>
                <p:nvPr/>
              </p:nvGrpSpPr>
              <p:grpSpPr>
                <a:xfrm>
                  <a:off x="1169150" y="4513822"/>
                  <a:ext cx="2346686" cy="650022"/>
                  <a:chOff x="1169150" y="4513822"/>
                  <a:chExt cx="2346686" cy="650022"/>
                </a:xfrm>
              </p:grpSpPr>
              <p:sp>
                <p:nvSpPr>
                  <p:cNvPr id="84" name="Rectángulo 83">
                    <a:extLst>
                      <a:ext uri="{FF2B5EF4-FFF2-40B4-BE49-F238E27FC236}">
                        <a16:creationId xmlns:a16="http://schemas.microsoft.com/office/drawing/2014/main" id="{4CE569DB-ED05-408C-81C9-F5E2ADC05962}"/>
                      </a:ext>
                    </a:extLst>
                  </p:cNvPr>
                  <p:cNvSpPr/>
                  <p:nvPr/>
                </p:nvSpPr>
                <p:spPr>
                  <a:xfrm>
                    <a:off x="2363708" y="4513822"/>
                    <a:ext cx="1152128" cy="64633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CuadroTexto 84">
                    <a:extLst>
                      <a:ext uri="{FF2B5EF4-FFF2-40B4-BE49-F238E27FC236}">
                        <a16:creationId xmlns:a16="http://schemas.microsoft.com/office/drawing/2014/main" id="{60DE8F1E-C687-4282-8F52-E0D9090169C4}"/>
                      </a:ext>
                    </a:extLst>
                  </p:cNvPr>
                  <p:cNvSpPr txBox="1"/>
                  <p:nvPr/>
                </p:nvSpPr>
                <p:spPr>
                  <a:xfrm>
                    <a:off x="2555774" y="4671608"/>
                    <a:ext cx="890804" cy="321941"/>
                  </a:xfrm>
                  <a:prstGeom prst="rect">
                    <a:avLst/>
                  </a:prstGeom>
                  <a:noFill/>
                </p:spPr>
                <p:txBody>
                  <a:bodyPr wrap="square" rtlCol="0">
                    <a:spAutoFit/>
                  </a:bodyPr>
                  <a:lstStyle/>
                  <a:p>
                    <a:pPr algn="ctr"/>
                    <a:r>
                      <a:rPr lang="en-US" sz="1200" dirty="0"/>
                      <a:t>Memory</a:t>
                    </a:r>
                  </a:p>
                </p:txBody>
              </p:sp>
              <p:grpSp>
                <p:nvGrpSpPr>
                  <p:cNvPr id="86" name="Grupo 85">
                    <a:extLst>
                      <a:ext uri="{FF2B5EF4-FFF2-40B4-BE49-F238E27FC236}">
                        <a16:creationId xmlns:a16="http://schemas.microsoft.com/office/drawing/2014/main" id="{77BD3F61-E934-446E-9083-E5B60A322C8F}"/>
                      </a:ext>
                    </a:extLst>
                  </p:cNvPr>
                  <p:cNvGrpSpPr/>
                  <p:nvPr/>
                </p:nvGrpSpPr>
                <p:grpSpPr>
                  <a:xfrm>
                    <a:off x="1169150" y="4517338"/>
                    <a:ext cx="674135" cy="323166"/>
                    <a:chOff x="6165177" y="4656582"/>
                    <a:chExt cx="674135" cy="323166"/>
                  </a:xfrm>
                </p:grpSpPr>
                <p:sp>
                  <p:nvSpPr>
                    <p:cNvPr id="96" name="Rectángulo 95">
                      <a:extLst>
                        <a:ext uri="{FF2B5EF4-FFF2-40B4-BE49-F238E27FC236}">
                          <a16:creationId xmlns:a16="http://schemas.microsoft.com/office/drawing/2014/main" id="{FAD55FA3-923C-48F2-AF0C-B3A9B502749E}"/>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adroTexto 96">
                      <a:extLst>
                        <a:ext uri="{FF2B5EF4-FFF2-40B4-BE49-F238E27FC236}">
                          <a16:creationId xmlns:a16="http://schemas.microsoft.com/office/drawing/2014/main" id="{2393A49C-1344-41FE-8FB5-BB7F311FB136}"/>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87" name="Grupo 86">
                    <a:extLst>
                      <a:ext uri="{FF2B5EF4-FFF2-40B4-BE49-F238E27FC236}">
                        <a16:creationId xmlns:a16="http://schemas.microsoft.com/office/drawing/2014/main" id="{5C5FBEBD-9729-44F8-8A70-8A040FC46F42}"/>
                      </a:ext>
                    </a:extLst>
                  </p:cNvPr>
                  <p:cNvGrpSpPr/>
                  <p:nvPr/>
                </p:nvGrpSpPr>
                <p:grpSpPr>
                  <a:xfrm>
                    <a:off x="1747094" y="4513822"/>
                    <a:ext cx="674135" cy="323166"/>
                    <a:chOff x="6165177" y="4656582"/>
                    <a:chExt cx="674135" cy="323166"/>
                  </a:xfrm>
                </p:grpSpPr>
                <p:sp>
                  <p:nvSpPr>
                    <p:cNvPr id="94" name="Rectángulo 93">
                      <a:extLst>
                        <a:ext uri="{FF2B5EF4-FFF2-40B4-BE49-F238E27FC236}">
                          <a16:creationId xmlns:a16="http://schemas.microsoft.com/office/drawing/2014/main" id="{3AC1FADF-184C-46DF-AEA5-7B9D44B0C248}"/>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adroTexto 94">
                      <a:extLst>
                        <a:ext uri="{FF2B5EF4-FFF2-40B4-BE49-F238E27FC236}">
                          <a16:creationId xmlns:a16="http://schemas.microsoft.com/office/drawing/2014/main" id="{49D8AC5D-A188-4DCC-8B3D-97379298DA44}"/>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88" name="Grupo 87">
                    <a:extLst>
                      <a:ext uri="{FF2B5EF4-FFF2-40B4-BE49-F238E27FC236}">
                        <a16:creationId xmlns:a16="http://schemas.microsoft.com/office/drawing/2014/main" id="{4D00683D-7CEB-42D3-8CC3-22B475015513}"/>
                      </a:ext>
                    </a:extLst>
                  </p:cNvPr>
                  <p:cNvGrpSpPr/>
                  <p:nvPr/>
                </p:nvGrpSpPr>
                <p:grpSpPr>
                  <a:xfrm>
                    <a:off x="1169385" y="4840678"/>
                    <a:ext cx="674135" cy="323166"/>
                    <a:chOff x="6165177" y="4656582"/>
                    <a:chExt cx="674135" cy="323166"/>
                  </a:xfrm>
                </p:grpSpPr>
                <p:sp>
                  <p:nvSpPr>
                    <p:cNvPr id="92" name="Rectángulo 91">
                      <a:extLst>
                        <a:ext uri="{FF2B5EF4-FFF2-40B4-BE49-F238E27FC236}">
                          <a16:creationId xmlns:a16="http://schemas.microsoft.com/office/drawing/2014/main" id="{F8231FA1-9D35-4363-B13A-579203B03434}"/>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CuadroTexto 92">
                      <a:extLst>
                        <a:ext uri="{FF2B5EF4-FFF2-40B4-BE49-F238E27FC236}">
                          <a16:creationId xmlns:a16="http://schemas.microsoft.com/office/drawing/2014/main" id="{6E4CB2B7-5ED9-4D6D-9760-813E5BE25BFF}"/>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89" name="Grupo 88">
                    <a:extLst>
                      <a:ext uri="{FF2B5EF4-FFF2-40B4-BE49-F238E27FC236}">
                        <a16:creationId xmlns:a16="http://schemas.microsoft.com/office/drawing/2014/main" id="{F6334666-1C8C-40A9-BE5B-212AB3C5401F}"/>
                      </a:ext>
                    </a:extLst>
                  </p:cNvPr>
                  <p:cNvGrpSpPr/>
                  <p:nvPr/>
                </p:nvGrpSpPr>
                <p:grpSpPr>
                  <a:xfrm>
                    <a:off x="1747329" y="4837162"/>
                    <a:ext cx="674135" cy="323166"/>
                    <a:chOff x="6165177" y="4656582"/>
                    <a:chExt cx="674135" cy="323166"/>
                  </a:xfrm>
                </p:grpSpPr>
                <p:sp>
                  <p:nvSpPr>
                    <p:cNvPr id="90" name="Rectángulo 89">
                      <a:extLst>
                        <a:ext uri="{FF2B5EF4-FFF2-40B4-BE49-F238E27FC236}">
                          <a16:creationId xmlns:a16="http://schemas.microsoft.com/office/drawing/2014/main" id="{0058562A-8B53-4113-AC47-1AD54CBDB763}"/>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CuadroTexto 90">
                      <a:extLst>
                        <a:ext uri="{FF2B5EF4-FFF2-40B4-BE49-F238E27FC236}">
                          <a16:creationId xmlns:a16="http://schemas.microsoft.com/office/drawing/2014/main" id="{EADC4E9F-8B1D-4540-BA22-202971DF385C}"/>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sp>
              <p:nvSpPr>
                <p:cNvPr id="83" name="CuadroTexto 82">
                  <a:extLst>
                    <a:ext uri="{FF2B5EF4-FFF2-40B4-BE49-F238E27FC236}">
                      <a16:creationId xmlns:a16="http://schemas.microsoft.com/office/drawing/2014/main" id="{02DB35C1-68FC-4C23-9C45-9A9BC029329B}"/>
                    </a:ext>
                  </a:extLst>
                </p:cNvPr>
                <p:cNvSpPr txBox="1"/>
                <p:nvPr/>
              </p:nvSpPr>
              <p:spPr>
                <a:xfrm>
                  <a:off x="1217006" y="4233787"/>
                  <a:ext cx="2294598" cy="276999"/>
                </a:xfrm>
                <a:prstGeom prst="rect">
                  <a:avLst/>
                </a:prstGeom>
                <a:solidFill>
                  <a:schemeClr val="tx1"/>
                </a:solidFill>
              </p:spPr>
              <p:txBody>
                <a:bodyPr wrap="square" rtlCol="0">
                  <a:spAutoFit/>
                </a:bodyPr>
                <a:lstStyle/>
                <a:p>
                  <a:pPr algn="ctr"/>
                  <a:r>
                    <a:rPr lang="en-US" sz="1200" dirty="0">
                      <a:solidFill>
                        <a:schemeClr val="bg1"/>
                      </a:solidFill>
                    </a:rPr>
                    <a:t>OpenMP</a:t>
                  </a:r>
                </a:p>
              </p:txBody>
            </p:sp>
          </p:grpSp>
          <p:sp>
            <p:nvSpPr>
              <p:cNvPr id="99" name="Flecha: a la izquierda y derecha 98">
                <a:extLst>
                  <a:ext uri="{FF2B5EF4-FFF2-40B4-BE49-F238E27FC236}">
                    <a16:creationId xmlns:a16="http://schemas.microsoft.com/office/drawing/2014/main" id="{93D755FC-0F7C-4E7E-A21F-8805BB729D4E}"/>
                  </a:ext>
                </a:extLst>
              </p:cNvPr>
              <p:cNvSpPr/>
              <p:nvPr/>
            </p:nvSpPr>
            <p:spPr>
              <a:xfrm>
                <a:off x="3524640" y="3993299"/>
                <a:ext cx="4980060" cy="275764"/>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Elipse 99">
                <a:extLst>
                  <a:ext uri="{FF2B5EF4-FFF2-40B4-BE49-F238E27FC236}">
                    <a16:creationId xmlns:a16="http://schemas.microsoft.com/office/drawing/2014/main" id="{93C5FE97-CFFA-4CFF-952C-10D1A1646859}"/>
                  </a:ext>
                </a:extLst>
              </p:cNvPr>
              <p:cNvSpPr/>
              <p:nvPr/>
            </p:nvSpPr>
            <p:spPr>
              <a:xfrm>
                <a:off x="4411701" y="3569248"/>
                <a:ext cx="576060" cy="3366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t>MPI</a:t>
                </a:r>
              </a:p>
            </p:txBody>
          </p:sp>
          <p:cxnSp>
            <p:nvCxnSpPr>
              <p:cNvPr id="102" name="Conector recto 101">
                <a:extLst>
                  <a:ext uri="{FF2B5EF4-FFF2-40B4-BE49-F238E27FC236}">
                    <a16:creationId xmlns:a16="http://schemas.microsoft.com/office/drawing/2014/main" id="{58CAC2D1-8216-471C-9E53-C071CD115088}"/>
                  </a:ext>
                </a:extLst>
              </p:cNvPr>
              <p:cNvCxnSpPr>
                <a:cxnSpLocks/>
                <a:stCxn id="100" idx="0"/>
              </p:cNvCxnSpPr>
              <p:nvPr/>
            </p:nvCxnSpPr>
            <p:spPr>
              <a:xfrm flipV="1">
                <a:off x="4699732" y="3384007"/>
                <a:ext cx="0" cy="1852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Conector recto 103">
                <a:extLst>
                  <a:ext uri="{FF2B5EF4-FFF2-40B4-BE49-F238E27FC236}">
                    <a16:creationId xmlns:a16="http://schemas.microsoft.com/office/drawing/2014/main" id="{B8AB6492-5072-47C9-BF3B-B3D15DB0865C}"/>
                  </a:ext>
                </a:extLst>
              </p:cNvPr>
              <p:cNvCxnSpPr>
                <a:cxnSpLocks/>
              </p:cNvCxnSpPr>
              <p:nvPr/>
            </p:nvCxnSpPr>
            <p:spPr>
              <a:xfrm flipV="1">
                <a:off x="4698600" y="3850886"/>
                <a:ext cx="0" cy="1852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Elipse 104">
                <a:extLst>
                  <a:ext uri="{FF2B5EF4-FFF2-40B4-BE49-F238E27FC236}">
                    <a16:creationId xmlns:a16="http://schemas.microsoft.com/office/drawing/2014/main" id="{04942B42-E2B9-413E-9E54-269BD9508775}"/>
                  </a:ext>
                </a:extLst>
              </p:cNvPr>
              <p:cNvSpPr/>
              <p:nvPr/>
            </p:nvSpPr>
            <p:spPr>
              <a:xfrm>
                <a:off x="7046797" y="3569530"/>
                <a:ext cx="692476" cy="3366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t>MPI</a:t>
                </a:r>
              </a:p>
            </p:txBody>
          </p:sp>
          <p:cxnSp>
            <p:nvCxnSpPr>
              <p:cNvPr id="106" name="Conector recto 105">
                <a:extLst>
                  <a:ext uri="{FF2B5EF4-FFF2-40B4-BE49-F238E27FC236}">
                    <a16:creationId xmlns:a16="http://schemas.microsoft.com/office/drawing/2014/main" id="{832F1BC4-60D3-4677-BDC3-7197B29A74CA}"/>
                  </a:ext>
                </a:extLst>
              </p:cNvPr>
              <p:cNvCxnSpPr>
                <a:cxnSpLocks/>
                <a:stCxn id="105" idx="0"/>
              </p:cNvCxnSpPr>
              <p:nvPr/>
            </p:nvCxnSpPr>
            <p:spPr>
              <a:xfrm flipV="1">
                <a:off x="7393036" y="3393212"/>
                <a:ext cx="0" cy="1763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Conector recto 106">
                <a:extLst>
                  <a:ext uri="{FF2B5EF4-FFF2-40B4-BE49-F238E27FC236}">
                    <a16:creationId xmlns:a16="http://schemas.microsoft.com/office/drawing/2014/main" id="{CD8AF3B1-072D-4906-81C3-D9BCA5C89DCE}"/>
                  </a:ext>
                </a:extLst>
              </p:cNvPr>
              <p:cNvCxnSpPr>
                <a:cxnSpLocks/>
              </p:cNvCxnSpPr>
              <p:nvPr/>
            </p:nvCxnSpPr>
            <p:spPr>
              <a:xfrm flipV="1">
                <a:off x="7400784" y="3851168"/>
                <a:ext cx="0" cy="1852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Elipse 107">
                <a:extLst>
                  <a:ext uri="{FF2B5EF4-FFF2-40B4-BE49-F238E27FC236}">
                    <a16:creationId xmlns:a16="http://schemas.microsoft.com/office/drawing/2014/main" id="{C734F94D-A0B8-4941-8472-A227CCD3683B}"/>
                  </a:ext>
                </a:extLst>
              </p:cNvPr>
              <p:cNvSpPr/>
              <p:nvPr/>
            </p:nvSpPr>
            <p:spPr>
              <a:xfrm>
                <a:off x="4395957" y="4357567"/>
                <a:ext cx="588224" cy="3366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t>MPI</a:t>
                </a:r>
              </a:p>
            </p:txBody>
          </p:sp>
          <p:cxnSp>
            <p:nvCxnSpPr>
              <p:cNvPr id="109" name="Conector recto 108">
                <a:extLst>
                  <a:ext uri="{FF2B5EF4-FFF2-40B4-BE49-F238E27FC236}">
                    <a16:creationId xmlns:a16="http://schemas.microsoft.com/office/drawing/2014/main" id="{D2E222E9-559A-425B-AF2A-1F83742983DA}"/>
                  </a:ext>
                </a:extLst>
              </p:cNvPr>
              <p:cNvCxnSpPr>
                <a:cxnSpLocks/>
                <a:stCxn id="108" idx="0"/>
              </p:cNvCxnSpPr>
              <p:nvPr/>
            </p:nvCxnSpPr>
            <p:spPr>
              <a:xfrm flipV="1">
                <a:off x="4690070" y="4172326"/>
                <a:ext cx="0" cy="1852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Conector recto 109">
                <a:extLst>
                  <a:ext uri="{FF2B5EF4-FFF2-40B4-BE49-F238E27FC236}">
                    <a16:creationId xmlns:a16="http://schemas.microsoft.com/office/drawing/2014/main" id="{9C0295D2-A90D-414F-BA2C-47E408B2766A}"/>
                  </a:ext>
                </a:extLst>
              </p:cNvPr>
              <p:cNvCxnSpPr>
                <a:cxnSpLocks/>
              </p:cNvCxnSpPr>
              <p:nvPr/>
            </p:nvCxnSpPr>
            <p:spPr>
              <a:xfrm flipV="1">
                <a:off x="4699480" y="4639206"/>
                <a:ext cx="0" cy="1852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Elipse 110">
                <a:extLst>
                  <a:ext uri="{FF2B5EF4-FFF2-40B4-BE49-F238E27FC236}">
                    <a16:creationId xmlns:a16="http://schemas.microsoft.com/office/drawing/2014/main" id="{E3C35273-9BCE-4E78-8F1B-F14FB2825395}"/>
                  </a:ext>
                </a:extLst>
              </p:cNvPr>
              <p:cNvSpPr/>
              <p:nvPr/>
            </p:nvSpPr>
            <p:spPr>
              <a:xfrm>
                <a:off x="7116222" y="4385858"/>
                <a:ext cx="588224" cy="3366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t>MPI</a:t>
                </a:r>
              </a:p>
            </p:txBody>
          </p:sp>
          <p:cxnSp>
            <p:nvCxnSpPr>
              <p:cNvPr id="112" name="Conector recto 111">
                <a:extLst>
                  <a:ext uri="{FF2B5EF4-FFF2-40B4-BE49-F238E27FC236}">
                    <a16:creationId xmlns:a16="http://schemas.microsoft.com/office/drawing/2014/main" id="{B092F0AF-F3D1-4B2B-8814-4A3212A2C7AF}"/>
                  </a:ext>
                </a:extLst>
              </p:cNvPr>
              <p:cNvCxnSpPr>
                <a:cxnSpLocks/>
                <a:stCxn id="111" idx="0"/>
              </p:cNvCxnSpPr>
              <p:nvPr/>
            </p:nvCxnSpPr>
            <p:spPr>
              <a:xfrm flipV="1">
                <a:off x="7410335" y="4200616"/>
                <a:ext cx="0" cy="1852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Conector recto 112">
                <a:extLst>
                  <a:ext uri="{FF2B5EF4-FFF2-40B4-BE49-F238E27FC236}">
                    <a16:creationId xmlns:a16="http://schemas.microsoft.com/office/drawing/2014/main" id="{683EE838-13BB-4CFE-B131-C69F1FBD0DA8}"/>
                  </a:ext>
                </a:extLst>
              </p:cNvPr>
              <p:cNvCxnSpPr>
                <a:cxnSpLocks/>
              </p:cNvCxnSpPr>
              <p:nvPr/>
            </p:nvCxnSpPr>
            <p:spPr>
              <a:xfrm flipV="1">
                <a:off x="7425024" y="4667496"/>
                <a:ext cx="0" cy="1852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9" name="CuadroTexto 388">
              <a:extLst>
                <a:ext uri="{FF2B5EF4-FFF2-40B4-BE49-F238E27FC236}">
                  <a16:creationId xmlns:a16="http://schemas.microsoft.com/office/drawing/2014/main" id="{21AB2C57-6FE7-4E53-BBBE-9A92FBB9E76D}"/>
                </a:ext>
              </a:extLst>
            </p:cNvPr>
            <p:cNvSpPr txBox="1"/>
            <p:nvPr/>
          </p:nvSpPr>
          <p:spPr>
            <a:xfrm>
              <a:off x="959142" y="3048296"/>
              <a:ext cx="3108802" cy="338554"/>
            </a:xfrm>
            <a:prstGeom prst="rect">
              <a:avLst/>
            </a:prstGeom>
            <a:noFill/>
          </p:spPr>
          <p:txBody>
            <a:bodyPr wrap="square" rtlCol="0">
              <a:spAutoFit/>
            </a:bodyPr>
            <a:lstStyle/>
            <a:p>
              <a:r>
                <a:rPr lang="es-ES" sz="1600" b="1" dirty="0"/>
                <a:t>Modelo Híbrido </a:t>
              </a:r>
              <a:r>
                <a:rPr lang="es-ES" sz="1600" b="1" dirty="0" err="1"/>
                <a:t>OpenMP</a:t>
              </a:r>
              <a:r>
                <a:rPr lang="es-ES" sz="1600" b="1" dirty="0"/>
                <a:t>/MPI</a:t>
              </a:r>
            </a:p>
          </p:txBody>
        </p:sp>
      </p:grpSp>
      <p:grpSp>
        <p:nvGrpSpPr>
          <p:cNvPr id="2" name="Grupo 1">
            <a:extLst>
              <a:ext uri="{FF2B5EF4-FFF2-40B4-BE49-F238E27FC236}">
                <a16:creationId xmlns:a16="http://schemas.microsoft.com/office/drawing/2014/main" id="{DF535239-218A-4413-A4EE-9EC85CA4FB4A}"/>
              </a:ext>
            </a:extLst>
          </p:cNvPr>
          <p:cNvGrpSpPr/>
          <p:nvPr/>
        </p:nvGrpSpPr>
        <p:grpSpPr>
          <a:xfrm>
            <a:off x="4716016" y="3055243"/>
            <a:ext cx="4287467" cy="3182069"/>
            <a:chOff x="4677021" y="3055243"/>
            <a:chExt cx="4287467" cy="3182069"/>
          </a:xfrm>
        </p:grpSpPr>
        <p:grpSp>
          <p:nvGrpSpPr>
            <p:cNvPr id="388" name="Grupo 387">
              <a:extLst>
                <a:ext uri="{FF2B5EF4-FFF2-40B4-BE49-F238E27FC236}">
                  <a16:creationId xmlns:a16="http://schemas.microsoft.com/office/drawing/2014/main" id="{20FF7C1D-942A-4F18-88B5-F5533A30B10C}"/>
                </a:ext>
              </a:extLst>
            </p:cNvPr>
            <p:cNvGrpSpPr/>
            <p:nvPr/>
          </p:nvGrpSpPr>
          <p:grpSpPr>
            <a:xfrm>
              <a:off x="4677021" y="3717032"/>
              <a:ext cx="4287467" cy="2520280"/>
              <a:chOff x="4567378" y="3284984"/>
              <a:chExt cx="4287467" cy="2520280"/>
            </a:xfrm>
          </p:grpSpPr>
          <p:grpSp>
            <p:nvGrpSpPr>
              <p:cNvPr id="357" name="Grupo 356">
                <a:extLst>
                  <a:ext uri="{FF2B5EF4-FFF2-40B4-BE49-F238E27FC236}">
                    <a16:creationId xmlns:a16="http://schemas.microsoft.com/office/drawing/2014/main" id="{9BC519F6-DC17-4537-A630-730E0952F373}"/>
                  </a:ext>
                </a:extLst>
              </p:cNvPr>
              <p:cNvGrpSpPr/>
              <p:nvPr/>
            </p:nvGrpSpPr>
            <p:grpSpPr>
              <a:xfrm>
                <a:off x="4567378" y="4517987"/>
                <a:ext cx="1983096" cy="559281"/>
                <a:chOff x="1169150" y="4513822"/>
                <a:chExt cx="2346686" cy="650022"/>
              </a:xfrm>
            </p:grpSpPr>
            <p:sp>
              <p:nvSpPr>
                <p:cNvPr id="359" name="Rectángulo 358">
                  <a:extLst>
                    <a:ext uri="{FF2B5EF4-FFF2-40B4-BE49-F238E27FC236}">
                      <a16:creationId xmlns:a16="http://schemas.microsoft.com/office/drawing/2014/main" id="{18C1AC40-F1E7-4A28-8A7D-29B55F9CECB8}"/>
                    </a:ext>
                  </a:extLst>
                </p:cNvPr>
                <p:cNvSpPr/>
                <p:nvPr/>
              </p:nvSpPr>
              <p:spPr>
                <a:xfrm>
                  <a:off x="2363708" y="4513822"/>
                  <a:ext cx="1152128" cy="64633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CuadroTexto 359">
                  <a:extLst>
                    <a:ext uri="{FF2B5EF4-FFF2-40B4-BE49-F238E27FC236}">
                      <a16:creationId xmlns:a16="http://schemas.microsoft.com/office/drawing/2014/main" id="{FCAE8D77-F070-46DB-A374-0B83C4713BF6}"/>
                    </a:ext>
                  </a:extLst>
                </p:cNvPr>
                <p:cNvSpPr txBox="1"/>
                <p:nvPr/>
              </p:nvSpPr>
              <p:spPr>
                <a:xfrm>
                  <a:off x="2555773" y="4671608"/>
                  <a:ext cx="872354" cy="302285"/>
                </a:xfrm>
                <a:prstGeom prst="rect">
                  <a:avLst/>
                </a:prstGeom>
                <a:noFill/>
              </p:spPr>
              <p:txBody>
                <a:bodyPr wrap="square" rtlCol="0">
                  <a:spAutoFit/>
                </a:bodyPr>
                <a:lstStyle/>
                <a:p>
                  <a:pPr algn="ctr"/>
                  <a:r>
                    <a:rPr lang="en-US" sz="1200" dirty="0"/>
                    <a:t>Memory</a:t>
                  </a:r>
                </a:p>
              </p:txBody>
            </p:sp>
            <p:grpSp>
              <p:nvGrpSpPr>
                <p:cNvPr id="361" name="Grupo 360">
                  <a:extLst>
                    <a:ext uri="{FF2B5EF4-FFF2-40B4-BE49-F238E27FC236}">
                      <a16:creationId xmlns:a16="http://schemas.microsoft.com/office/drawing/2014/main" id="{C33C9C09-FD17-4FE9-B43E-8439BD129DF6}"/>
                    </a:ext>
                  </a:extLst>
                </p:cNvPr>
                <p:cNvGrpSpPr/>
                <p:nvPr/>
              </p:nvGrpSpPr>
              <p:grpSpPr>
                <a:xfrm>
                  <a:off x="1169150" y="4517338"/>
                  <a:ext cx="674135" cy="323166"/>
                  <a:chOff x="6165177" y="4656582"/>
                  <a:chExt cx="674135" cy="323166"/>
                </a:xfrm>
              </p:grpSpPr>
              <p:sp>
                <p:nvSpPr>
                  <p:cNvPr id="371" name="Rectángulo 370">
                    <a:extLst>
                      <a:ext uri="{FF2B5EF4-FFF2-40B4-BE49-F238E27FC236}">
                        <a16:creationId xmlns:a16="http://schemas.microsoft.com/office/drawing/2014/main" id="{1F19C604-EF5F-4285-A7DA-961F748B1294}"/>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CuadroTexto 371">
                    <a:extLst>
                      <a:ext uri="{FF2B5EF4-FFF2-40B4-BE49-F238E27FC236}">
                        <a16:creationId xmlns:a16="http://schemas.microsoft.com/office/drawing/2014/main" id="{68290010-8110-4D47-97C9-BE2A20358CE9}"/>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362" name="Grupo 361">
                  <a:extLst>
                    <a:ext uri="{FF2B5EF4-FFF2-40B4-BE49-F238E27FC236}">
                      <a16:creationId xmlns:a16="http://schemas.microsoft.com/office/drawing/2014/main" id="{36470C1D-77E5-4384-8113-07190F600C16}"/>
                    </a:ext>
                  </a:extLst>
                </p:cNvPr>
                <p:cNvGrpSpPr/>
                <p:nvPr/>
              </p:nvGrpSpPr>
              <p:grpSpPr>
                <a:xfrm>
                  <a:off x="1747094" y="4513822"/>
                  <a:ext cx="674135" cy="323166"/>
                  <a:chOff x="6165177" y="4656582"/>
                  <a:chExt cx="674135" cy="323166"/>
                </a:xfrm>
              </p:grpSpPr>
              <p:sp>
                <p:nvSpPr>
                  <p:cNvPr id="369" name="Rectángulo 368">
                    <a:extLst>
                      <a:ext uri="{FF2B5EF4-FFF2-40B4-BE49-F238E27FC236}">
                        <a16:creationId xmlns:a16="http://schemas.microsoft.com/office/drawing/2014/main" id="{011A0C1A-7F89-431A-9AE6-9B66EB6AC1FA}"/>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CuadroTexto 369">
                    <a:extLst>
                      <a:ext uri="{FF2B5EF4-FFF2-40B4-BE49-F238E27FC236}">
                        <a16:creationId xmlns:a16="http://schemas.microsoft.com/office/drawing/2014/main" id="{047DF28E-B3E4-4755-B6A7-CAD0D22F97F1}"/>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363" name="Grupo 362">
                  <a:extLst>
                    <a:ext uri="{FF2B5EF4-FFF2-40B4-BE49-F238E27FC236}">
                      <a16:creationId xmlns:a16="http://schemas.microsoft.com/office/drawing/2014/main" id="{CF6C6B01-4218-4CF4-AE2C-ADA13CBE33B3}"/>
                    </a:ext>
                  </a:extLst>
                </p:cNvPr>
                <p:cNvGrpSpPr/>
                <p:nvPr/>
              </p:nvGrpSpPr>
              <p:grpSpPr>
                <a:xfrm>
                  <a:off x="1169385" y="4840678"/>
                  <a:ext cx="674135" cy="323166"/>
                  <a:chOff x="6165177" y="4656582"/>
                  <a:chExt cx="674135" cy="323166"/>
                </a:xfrm>
              </p:grpSpPr>
              <p:sp>
                <p:nvSpPr>
                  <p:cNvPr id="367" name="Rectángulo 366">
                    <a:extLst>
                      <a:ext uri="{FF2B5EF4-FFF2-40B4-BE49-F238E27FC236}">
                        <a16:creationId xmlns:a16="http://schemas.microsoft.com/office/drawing/2014/main" id="{D64DAA05-743C-4ABD-A7F9-7946358DAE3A}"/>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CuadroTexto 367">
                    <a:extLst>
                      <a:ext uri="{FF2B5EF4-FFF2-40B4-BE49-F238E27FC236}">
                        <a16:creationId xmlns:a16="http://schemas.microsoft.com/office/drawing/2014/main" id="{B2F80F14-F94A-4E90-BC46-183DA26B7D8C}"/>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364" name="Grupo 363">
                  <a:extLst>
                    <a:ext uri="{FF2B5EF4-FFF2-40B4-BE49-F238E27FC236}">
                      <a16:creationId xmlns:a16="http://schemas.microsoft.com/office/drawing/2014/main" id="{EF8AC554-1A8E-4C96-B18E-C8B5756C563C}"/>
                    </a:ext>
                  </a:extLst>
                </p:cNvPr>
                <p:cNvGrpSpPr/>
                <p:nvPr/>
              </p:nvGrpSpPr>
              <p:grpSpPr>
                <a:xfrm>
                  <a:off x="1747329" y="4837162"/>
                  <a:ext cx="674135" cy="323166"/>
                  <a:chOff x="6165177" y="4656582"/>
                  <a:chExt cx="674135" cy="323166"/>
                </a:xfrm>
              </p:grpSpPr>
              <p:sp>
                <p:nvSpPr>
                  <p:cNvPr id="365" name="Rectángulo 364">
                    <a:extLst>
                      <a:ext uri="{FF2B5EF4-FFF2-40B4-BE49-F238E27FC236}">
                        <a16:creationId xmlns:a16="http://schemas.microsoft.com/office/drawing/2014/main" id="{9DA8DAD6-4FB9-4DD5-B2BB-8D588C7D8610}"/>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CuadroTexto 365">
                    <a:extLst>
                      <a:ext uri="{FF2B5EF4-FFF2-40B4-BE49-F238E27FC236}">
                        <a16:creationId xmlns:a16="http://schemas.microsoft.com/office/drawing/2014/main" id="{26649D37-4A82-49E9-B17A-8BCD846DF7F0}"/>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grpSp>
            <p:nvGrpSpPr>
              <p:cNvPr id="341" name="Grupo 340">
                <a:extLst>
                  <a:ext uri="{FF2B5EF4-FFF2-40B4-BE49-F238E27FC236}">
                    <a16:creationId xmlns:a16="http://schemas.microsoft.com/office/drawing/2014/main" id="{C8A5D97F-C345-4FEB-B70F-D545EC4EA9A4}"/>
                  </a:ext>
                </a:extLst>
              </p:cNvPr>
              <p:cNvGrpSpPr/>
              <p:nvPr/>
            </p:nvGrpSpPr>
            <p:grpSpPr>
              <a:xfrm>
                <a:off x="6871749" y="4520844"/>
                <a:ext cx="1983096" cy="559281"/>
                <a:chOff x="1169150" y="4513822"/>
                <a:chExt cx="2346686" cy="650022"/>
              </a:xfrm>
            </p:grpSpPr>
            <p:sp>
              <p:nvSpPr>
                <p:cNvPr id="343" name="Rectángulo 342">
                  <a:extLst>
                    <a:ext uri="{FF2B5EF4-FFF2-40B4-BE49-F238E27FC236}">
                      <a16:creationId xmlns:a16="http://schemas.microsoft.com/office/drawing/2014/main" id="{8E2E825C-625E-492B-AA1E-71B2BAA40B36}"/>
                    </a:ext>
                  </a:extLst>
                </p:cNvPr>
                <p:cNvSpPr/>
                <p:nvPr/>
              </p:nvSpPr>
              <p:spPr>
                <a:xfrm>
                  <a:off x="2363708" y="4513822"/>
                  <a:ext cx="1152128" cy="64633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CuadroTexto 343">
                  <a:extLst>
                    <a:ext uri="{FF2B5EF4-FFF2-40B4-BE49-F238E27FC236}">
                      <a16:creationId xmlns:a16="http://schemas.microsoft.com/office/drawing/2014/main" id="{324CFC3E-B5DA-4944-BC32-2247206F5BEE}"/>
                    </a:ext>
                  </a:extLst>
                </p:cNvPr>
                <p:cNvSpPr txBox="1"/>
                <p:nvPr/>
              </p:nvSpPr>
              <p:spPr>
                <a:xfrm>
                  <a:off x="2555775" y="4671608"/>
                  <a:ext cx="911107" cy="321941"/>
                </a:xfrm>
                <a:prstGeom prst="rect">
                  <a:avLst/>
                </a:prstGeom>
                <a:noFill/>
              </p:spPr>
              <p:txBody>
                <a:bodyPr wrap="square" rtlCol="0">
                  <a:spAutoFit/>
                </a:bodyPr>
                <a:lstStyle/>
                <a:p>
                  <a:pPr algn="ctr"/>
                  <a:r>
                    <a:rPr lang="en-US" sz="1200" dirty="0"/>
                    <a:t>Memory</a:t>
                  </a:r>
                </a:p>
              </p:txBody>
            </p:sp>
            <p:grpSp>
              <p:nvGrpSpPr>
                <p:cNvPr id="345" name="Grupo 344">
                  <a:extLst>
                    <a:ext uri="{FF2B5EF4-FFF2-40B4-BE49-F238E27FC236}">
                      <a16:creationId xmlns:a16="http://schemas.microsoft.com/office/drawing/2014/main" id="{D96896E6-CB04-4343-8F32-D67C6986B3BC}"/>
                    </a:ext>
                  </a:extLst>
                </p:cNvPr>
                <p:cNvGrpSpPr/>
                <p:nvPr/>
              </p:nvGrpSpPr>
              <p:grpSpPr>
                <a:xfrm>
                  <a:off x="1169150" y="4517338"/>
                  <a:ext cx="674135" cy="323166"/>
                  <a:chOff x="6165177" y="4656582"/>
                  <a:chExt cx="674135" cy="323166"/>
                </a:xfrm>
              </p:grpSpPr>
              <p:sp>
                <p:nvSpPr>
                  <p:cNvPr id="355" name="Rectángulo 354">
                    <a:extLst>
                      <a:ext uri="{FF2B5EF4-FFF2-40B4-BE49-F238E27FC236}">
                        <a16:creationId xmlns:a16="http://schemas.microsoft.com/office/drawing/2014/main" id="{F0D5BA79-ABFD-4D25-B61E-7C36739F4683}"/>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CuadroTexto 355">
                    <a:extLst>
                      <a:ext uri="{FF2B5EF4-FFF2-40B4-BE49-F238E27FC236}">
                        <a16:creationId xmlns:a16="http://schemas.microsoft.com/office/drawing/2014/main" id="{0159CB43-942B-41B7-957E-E6A907C441BA}"/>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346" name="Grupo 345">
                  <a:extLst>
                    <a:ext uri="{FF2B5EF4-FFF2-40B4-BE49-F238E27FC236}">
                      <a16:creationId xmlns:a16="http://schemas.microsoft.com/office/drawing/2014/main" id="{2ACF1A2C-D0B5-4901-AEAE-0AEF3EA1778D}"/>
                    </a:ext>
                  </a:extLst>
                </p:cNvPr>
                <p:cNvGrpSpPr/>
                <p:nvPr/>
              </p:nvGrpSpPr>
              <p:grpSpPr>
                <a:xfrm>
                  <a:off x="1747094" y="4513822"/>
                  <a:ext cx="674135" cy="323166"/>
                  <a:chOff x="6165177" y="4656582"/>
                  <a:chExt cx="674135" cy="323166"/>
                </a:xfrm>
              </p:grpSpPr>
              <p:sp>
                <p:nvSpPr>
                  <p:cNvPr id="353" name="Rectángulo 352">
                    <a:extLst>
                      <a:ext uri="{FF2B5EF4-FFF2-40B4-BE49-F238E27FC236}">
                        <a16:creationId xmlns:a16="http://schemas.microsoft.com/office/drawing/2014/main" id="{81F88D50-8C26-462C-8EB9-1FA7B9F0D221}"/>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CuadroTexto 353">
                    <a:extLst>
                      <a:ext uri="{FF2B5EF4-FFF2-40B4-BE49-F238E27FC236}">
                        <a16:creationId xmlns:a16="http://schemas.microsoft.com/office/drawing/2014/main" id="{A70EFF6F-4DA2-40A3-B724-C1E0E0C17245}"/>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347" name="Grupo 346">
                  <a:extLst>
                    <a:ext uri="{FF2B5EF4-FFF2-40B4-BE49-F238E27FC236}">
                      <a16:creationId xmlns:a16="http://schemas.microsoft.com/office/drawing/2014/main" id="{C82FA1BE-4B70-4C58-9320-6664194D41D1}"/>
                    </a:ext>
                  </a:extLst>
                </p:cNvPr>
                <p:cNvGrpSpPr/>
                <p:nvPr/>
              </p:nvGrpSpPr>
              <p:grpSpPr>
                <a:xfrm>
                  <a:off x="1169385" y="4840678"/>
                  <a:ext cx="674135" cy="323166"/>
                  <a:chOff x="6165177" y="4656582"/>
                  <a:chExt cx="674135" cy="323166"/>
                </a:xfrm>
              </p:grpSpPr>
              <p:sp>
                <p:nvSpPr>
                  <p:cNvPr id="351" name="Rectángulo 350">
                    <a:extLst>
                      <a:ext uri="{FF2B5EF4-FFF2-40B4-BE49-F238E27FC236}">
                        <a16:creationId xmlns:a16="http://schemas.microsoft.com/office/drawing/2014/main" id="{D96105CD-73EC-444A-8F17-C87AECDB55B7}"/>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CuadroTexto 351">
                    <a:extLst>
                      <a:ext uri="{FF2B5EF4-FFF2-40B4-BE49-F238E27FC236}">
                        <a16:creationId xmlns:a16="http://schemas.microsoft.com/office/drawing/2014/main" id="{0F253A52-C36C-4A09-B8C5-958288E59A22}"/>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nvGrpSpPr>
                <p:cNvPr id="348" name="Grupo 347">
                  <a:extLst>
                    <a:ext uri="{FF2B5EF4-FFF2-40B4-BE49-F238E27FC236}">
                      <a16:creationId xmlns:a16="http://schemas.microsoft.com/office/drawing/2014/main" id="{C9AE8A68-E1F4-46D1-9DE1-E4BA22CD44DD}"/>
                    </a:ext>
                  </a:extLst>
                </p:cNvPr>
                <p:cNvGrpSpPr/>
                <p:nvPr/>
              </p:nvGrpSpPr>
              <p:grpSpPr>
                <a:xfrm>
                  <a:off x="1747329" y="4837162"/>
                  <a:ext cx="674135" cy="323166"/>
                  <a:chOff x="6165177" y="4656582"/>
                  <a:chExt cx="674135" cy="323166"/>
                </a:xfrm>
              </p:grpSpPr>
              <p:sp>
                <p:nvSpPr>
                  <p:cNvPr id="349" name="Rectángulo 348">
                    <a:extLst>
                      <a:ext uri="{FF2B5EF4-FFF2-40B4-BE49-F238E27FC236}">
                        <a16:creationId xmlns:a16="http://schemas.microsoft.com/office/drawing/2014/main" id="{30AA00C6-933A-4153-B790-84565B17E790}"/>
                      </a:ext>
                    </a:extLst>
                  </p:cNvPr>
                  <p:cNvSpPr>
                    <a:spLocks noChangeAspect="1"/>
                  </p:cNvSpPr>
                  <p:nvPr/>
                </p:nvSpPr>
                <p:spPr>
                  <a:xfrm>
                    <a:off x="6209712" y="4656582"/>
                    <a:ext cx="576064" cy="32316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CuadroTexto 349">
                    <a:extLst>
                      <a:ext uri="{FF2B5EF4-FFF2-40B4-BE49-F238E27FC236}">
                        <a16:creationId xmlns:a16="http://schemas.microsoft.com/office/drawing/2014/main" id="{8E6E19B5-52C8-4886-94DE-0E7C1D982BFA}"/>
                      </a:ext>
                    </a:extLst>
                  </p:cNvPr>
                  <p:cNvSpPr txBox="1"/>
                  <p:nvPr/>
                </p:nvSpPr>
                <p:spPr>
                  <a:xfrm>
                    <a:off x="6165177" y="4673203"/>
                    <a:ext cx="674135" cy="276999"/>
                  </a:xfrm>
                  <a:prstGeom prst="rect">
                    <a:avLst/>
                  </a:prstGeom>
                  <a:noFill/>
                </p:spPr>
                <p:txBody>
                  <a:bodyPr wrap="square" rtlCol="0">
                    <a:spAutoFit/>
                  </a:bodyPr>
                  <a:lstStyle/>
                  <a:p>
                    <a:pPr algn="ctr"/>
                    <a:r>
                      <a:rPr lang="en-US" sz="1200" dirty="0" err="1"/>
                      <a:t>cpu</a:t>
                    </a:r>
                    <a:endParaRPr lang="en-US" sz="1200" dirty="0"/>
                  </a:p>
                </p:txBody>
              </p:sp>
            </p:grpSp>
          </p:grpSp>
          <p:sp>
            <p:nvSpPr>
              <p:cNvPr id="296" name="Flecha: a la izquierda y derecha 295">
                <a:extLst>
                  <a:ext uri="{FF2B5EF4-FFF2-40B4-BE49-F238E27FC236}">
                    <a16:creationId xmlns:a16="http://schemas.microsoft.com/office/drawing/2014/main" id="{4EE26DA0-B1B7-4C70-9397-3B2C161BA719}"/>
                  </a:ext>
                </a:extLst>
              </p:cNvPr>
              <p:cNvSpPr/>
              <p:nvPr/>
            </p:nvSpPr>
            <p:spPr>
              <a:xfrm>
                <a:off x="4605013" y="5567996"/>
                <a:ext cx="4208462" cy="237268"/>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Elipse 296">
                <a:extLst>
                  <a:ext uri="{FF2B5EF4-FFF2-40B4-BE49-F238E27FC236}">
                    <a16:creationId xmlns:a16="http://schemas.microsoft.com/office/drawing/2014/main" id="{26B0BD7D-5E3B-4B00-BE3F-6617F97E0118}"/>
                  </a:ext>
                </a:extLst>
              </p:cNvPr>
              <p:cNvSpPr/>
              <p:nvPr/>
            </p:nvSpPr>
            <p:spPr>
              <a:xfrm>
                <a:off x="5354635" y="5203141"/>
                <a:ext cx="486807" cy="2896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t>MPI</a:t>
                </a:r>
              </a:p>
            </p:txBody>
          </p:sp>
          <p:cxnSp>
            <p:nvCxnSpPr>
              <p:cNvPr id="298" name="Conector recto 297">
                <a:extLst>
                  <a:ext uri="{FF2B5EF4-FFF2-40B4-BE49-F238E27FC236}">
                    <a16:creationId xmlns:a16="http://schemas.microsoft.com/office/drawing/2014/main" id="{71BCE73E-C86F-466D-8E74-228737827FE6}"/>
                  </a:ext>
                </a:extLst>
              </p:cNvPr>
              <p:cNvCxnSpPr>
                <a:cxnSpLocks/>
                <a:stCxn id="297" idx="0"/>
              </p:cNvCxnSpPr>
              <p:nvPr/>
            </p:nvCxnSpPr>
            <p:spPr>
              <a:xfrm flipV="1">
                <a:off x="5598039" y="5043759"/>
                <a:ext cx="0" cy="1593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Conector recto 298">
                <a:extLst>
                  <a:ext uri="{FF2B5EF4-FFF2-40B4-BE49-F238E27FC236}">
                    <a16:creationId xmlns:a16="http://schemas.microsoft.com/office/drawing/2014/main" id="{AE0568EB-9D1D-4C71-8564-CC5CB983F52F}"/>
                  </a:ext>
                </a:extLst>
              </p:cNvPr>
              <p:cNvCxnSpPr>
                <a:cxnSpLocks/>
              </p:cNvCxnSpPr>
              <p:nvPr/>
            </p:nvCxnSpPr>
            <p:spPr>
              <a:xfrm flipV="1">
                <a:off x="5597083" y="5445463"/>
                <a:ext cx="0" cy="1593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0" name="Elipse 299">
                <a:extLst>
                  <a:ext uri="{FF2B5EF4-FFF2-40B4-BE49-F238E27FC236}">
                    <a16:creationId xmlns:a16="http://schemas.microsoft.com/office/drawing/2014/main" id="{67BDE523-9174-4303-852B-8B6320C932BC}"/>
                  </a:ext>
                </a:extLst>
              </p:cNvPr>
              <p:cNvSpPr/>
              <p:nvPr/>
            </p:nvSpPr>
            <p:spPr>
              <a:xfrm>
                <a:off x="7581456" y="5203383"/>
                <a:ext cx="585186" cy="2896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t>MPI</a:t>
                </a:r>
              </a:p>
            </p:txBody>
          </p:sp>
          <p:cxnSp>
            <p:nvCxnSpPr>
              <p:cNvPr id="301" name="Conector recto 300">
                <a:extLst>
                  <a:ext uri="{FF2B5EF4-FFF2-40B4-BE49-F238E27FC236}">
                    <a16:creationId xmlns:a16="http://schemas.microsoft.com/office/drawing/2014/main" id="{1D0DC2BA-E18A-4CC4-967D-246776FC5FD3}"/>
                  </a:ext>
                </a:extLst>
              </p:cNvPr>
              <p:cNvCxnSpPr>
                <a:cxnSpLocks/>
                <a:stCxn id="300" idx="0"/>
              </p:cNvCxnSpPr>
              <p:nvPr/>
            </p:nvCxnSpPr>
            <p:spPr>
              <a:xfrm flipV="1">
                <a:off x="7874049" y="5051679"/>
                <a:ext cx="0" cy="1517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2" name="Conector recto 301">
                <a:extLst>
                  <a:ext uri="{FF2B5EF4-FFF2-40B4-BE49-F238E27FC236}">
                    <a16:creationId xmlns:a16="http://schemas.microsoft.com/office/drawing/2014/main" id="{C9881977-BC98-4B39-805D-FD26C104F8BD}"/>
                  </a:ext>
                </a:extLst>
              </p:cNvPr>
              <p:cNvCxnSpPr>
                <a:cxnSpLocks/>
              </p:cNvCxnSpPr>
              <p:nvPr/>
            </p:nvCxnSpPr>
            <p:spPr>
              <a:xfrm flipV="1">
                <a:off x="7880597" y="5445706"/>
                <a:ext cx="0" cy="1593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73" name="CuadroTexto 372">
                <a:extLst>
                  <a:ext uri="{FF2B5EF4-FFF2-40B4-BE49-F238E27FC236}">
                    <a16:creationId xmlns:a16="http://schemas.microsoft.com/office/drawing/2014/main" id="{B2316CC1-864C-41F1-9113-EAF0A1CB7764}"/>
                  </a:ext>
                </a:extLst>
              </p:cNvPr>
              <p:cNvSpPr txBox="1"/>
              <p:nvPr/>
            </p:nvSpPr>
            <p:spPr>
              <a:xfrm>
                <a:off x="6334565" y="5369242"/>
                <a:ext cx="749806" cy="276999"/>
              </a:xfrm>
              <a:prstGeom prst="rect">
                <a:avLst/>
              </a:prstGeom>
              <a:noFill/>
            </p:spPr>
            <p:txBody>
              <a:bodyPr wrap="square" rtlCol="0">
                <a:spAutoFit/>
              </a:bodyPr>
              <a:lstStyle/>
              <a:p>
                <a:pPr algn="ctr"/>
                <a:r>
                  <a:rPr lang="en-US" sz="1200" dirty="0"/>
                  <a:t>Network</a:t>
                </a:r>
              </a:p>
            </p:txBody>
          </p:sp>
          <p:sp>
            <p:nvSpPr>
              <p:cNvPr id="374" name="Elipse 373">
                <a:extLst>
                  <a:ext uri="{FF2B5EF4-FFF2-40B4-BE49-F238E27FC236}">
                    <a16:creationId xmlns:a16="http://schemas.microsoft.com/office/drawing/2014/main" id="{BDE22790-F280-42FE-9AB5-9F4A93743DBC}"/>
                  </a:ext>
                </a:extLst>
              </p:cNvPr>
              <p:cNvSpPr/>
              <p:nvPr/>
            </p:nvSpPr>
            <p:spPr>
              <a:xfrm>
                <a:off x="5023098" y="3935179"/>
                <a:ext cx="1195478" cy="2896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t>CUDA</a:t>
                </a:r>
              </a:p>
            </p:txBody>
          </p:sp>
          <p:sp>
            <p:nvSpPr>
              <p:cNvPr id="375" name="Rectángulo 374">
                <a:extLst>
                  <a:ext uri="{FF2B5EF4-FFF2-40B4-BE49-F238E27FC236}">
                    <a16:creationId xmlns:a16="http://schemas.microsoft.com/office/drawing/2014/main" id="{36E13AFB-FA4F-46D5-9EA3-6858CB847C02}"/>
                  </a:ext>
                </a:extLst>
              </p:cNvPr>
              <p:cNvSpPr/>
              <p:nvPr/>
            </p:nvSpPr>
            <p:spPr>
              <a:xfrm>
                <a:off x="5153981" y="3284984"/>
                <a:ext cx="973620" cy="30777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CuadroTexto 375">
                <a:extLst>
                  <a:ext uri="{FF2B5EF4-FFF2-40B4-BE49-F238E27FC236}">
                    <a16:creationId xmlns:a16="http://schemas.microsoft.com/office/drawing/2014/main" id="{5AA59CE5-BF49-4B25-A80B-30135CF2BD03}"/>
                  </a:ext>
                </a:extLst>
              </p:cNvPr>
              <p:cNvSpPr txBox="1"/>
              <p:nvPr/>
            </p:nvSpPr>
            <p:spPr>
              <a:xfrm>
                <a:off x="5251369" y="3315762"/>
                <a:ext cx="737194" cy="276999"/>
              </a:xfrm>
              <a:prstGeom prst="rect">
                <a:avLst/>
              </a:prstGeom>
              <a:noFill/>
            </p:spPr>
            <p:txBody>
              <a:bodyPr wrap="square" rtlCol="0">
                <a:spAutoFit/>
              </a:bodyPr>
              <a:lstStyle/>
              <a:p>
                <a:pPr algn="ctr"/>
                <a:r>
                  <a:rPr lang="en-US" sz="1200" dirty="0"/>
                  <a:t>GPU</a:t>
                </a:r>
              </a:p>
            </p:txBody>
          </p:sp>
          <p:cxnSp>
            <p:nvCxnSpPr>
              <p:cNvPr id="377" name="Conector recto 376">
                <a:extLst>
                  <a:ext uri="{FF2B5EF4-FFF2-40B4-BE49-F238E27FC236}">
                    <a16:creationId xmlns:a16="http://schemas.microsoft.com/office/drawing/2014/main" id="{964C68B0-BFC3-4DBD-BAAD-2B82AD4C786B}"/>
                  </a:ext>
                </a:extLst>
              </p:cNvPr>
              <p:cNvCxnSpPr>
                <a:cxnSpLocks/>
                <a:stCxn id="374" idx="0"/>
                <a:endCxn id="376" idx="2"/>
              </p:cNvCxnSpPr>
              <p:nvPr/>
            </p:nvCxnSpPr>
            <p:spPr>
              <a:xfrm flipH="1" flipV="1">
                <a:off x="5619966" y="3592761"/>
                <a:ext cx="871" cy="3424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0" name="Conector recto 379">
                <a:extLst>
                  <a:ext uri="{FF2B5EF4-FFF2-40B4-BE49-F238E27FC236}">
                    <a16:creationId xmlns:a16="http://schemas.microsoft.com/office/drawing/2014/main" id="{452E1113-7C81-4CC7-80D7-AC0C4C30F689}"/>
                  </a:ext>
                </a:extLst>
              </p:cNvPr>
              <p:cNvCxnSpPr>
                <a:cxnSpLocks/>
              </p:cNvCxnSpPr>
              <p:nvPr/>
            </p:nvCxnSpPr>
            <p:spPr>
              <a:xfrm flipV="1">
                <a:off x="5620837" y="4149080"/>
                <a:ext cx="0" cy="3424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3" name="Elipse 382">
                <a:extLst>
                  <a:ext uri="{FF2B5EF4-FFF2-40B4-BE49-F238E27FC236}">
                    <a16:creationId xmlns:a16="http://schemas.microsoft.com/office/drawing/2014/main" id="{65FA1DFB-9260-4140-A5BC-A315C81969C8}"/>
                  </a:ext>
                </a:extLst>
              </p:cNvPr>
              <p:cNvSpPr/>
              <p:nvPr/>
            </p:nvSpPr>
            <p:spPr>
              <a:xfrm>
                <a:off x="7298779" y="3954229"/>
                <a:ext cx="1195478" cy="28964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t>CUDA</a:t>
                </a:r>
              </a:p>
            </p:txBody>
          </p:sp>
          <p:sp>
            <p:nvSpPr>
              <p:cNvPr id="384" name="Rectángulo 383">
                <a:extLst>
                  <a:ext uri="{FF2B5EF4-FFF2-40B4-BE49-F238E27FC236}">
                    <a16:creationId xmlns:a16="http://schemas.microsoft.com/office/drawing/2014/main" id="{D08476EB-9724-4251-B2BC-A54F74ED31E5}"/>
                  </a:ext>
                </a:extLst>
              </p:cNvPr>
              <p:cNvSpPr/>
              <p:nvPr/>
            </p:nvSpPr>
            <p:spPr>
              <a:xfrm>
                <a:off x="7429662" y="3304034"/>
                <a:ext cx="973620" cy="30777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CuadroTexto 384">
                <a:extLst>
                  <a:ext uri="{FF2B5EF4-FFF2-40B4-BE49-F238E27FC236}">
                    <a16:creationId xmlns:a16="http://schemas.microsoft.com/office/drawing/2014/main" id="{F2CF49CA-4FB1-4CD2-975C-26E990BC2D8E}"/>
                  </a:ext>
                </a:extLst>
              </p:cNvPr>
              <p:cNvSpPr txBox="1"/>
              <p:nvPr/>
            </p:nvSpPr>
            <p:spPr>
              <a:xfrm>
                <a:off x="7527050" y="3334812"/>
                <a:ext cx="737194" cy="276999"/>
              </a:xfrm>
              <a:prstGeom prst="rect">
                <a:avLst/>
              </a:prstGeom>
              <a:noFill/>
            </p:spPr>
            <p:txBody>
              <a:bodyPr wrap="square" rtlCol="0">
                <a:spAutoFit/>
              </a:bodyPr>
              <a:lstStyle/>
              <a:p>
                <a:pPr algn="ctr"/>
                <a:r>
                  <a:rPr lang="en-US" sz="1200" dirty="0"/>
                  <a:t>GPU</a:t>
                </a:r>
              </a:p>
            </p:txBody>
          </p:sp>
          <p:cxnSp>
            <p:nvCxnSpPr>
              <p:cNvPr id="386" name="Conector recto 385">
                <a:extLst>
                  <a:ext uri="{FF2B5EF4-FFF2-40B4-BE49-F238E27FC236}">
                    <a16:creationId xmlns:a16="http://schemas.microsoft.com/office/drawing/2014/main" id="{3BB48DE8-7B91-49B5-B4CD-B492A2869FB4}"/>
                  </a:ext>
                </a:extLst>
              </p:cNvPr>
              <p:cNvCxnSpPr>
                <a:cxnSpLocks/>
                <a:stCxn id="383" idx="0"/>
                <a:endCxn id="385" idx="2"/>
              </p:cNvCxnSpPr>
              <p:nvPr/>
            </p:nvCxnSpPr>
            <p:spPr>
              <a:xfrm flipH="1" flipV="1">
                <a:off x="7895647" y="3611811"/>
                <a:ext cx="871" cy="3424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7" name="Conector recto 386">
                <a:extLst>
                  <a:ext uri="{FF2B5EF4-FFF2-40B4-BE49-F238E27FC236}">
                    <a16:creationId xmlns:a16="http://schemas.microsoft.com/office/drawing/2014/main" id="{BB9ACA5D-9425-4BE2-B853-B02DF5656BFF}"/>
                  </a:ext>
                </a:extLst>
              </p:cNvPr>
              <p:cNvCxnSpPr>
                <a:cxnSpLocks/>
              </p:cNvCxnSpPr>
              <p:nvPr/>
            </p:nvCxnSpPr>
            <p:spPr>
              <a:xfrm flipV="1">
                <a:off x="7896518" y="4168130"/>
                <a:ext cx="0" cy="3424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0" name="CuadroTexto 389">
              <a:extLst>
                <a:ext uri="{FF2B5EF4-FFF2-40B4-BE49-F238E27FC236}">
                  <a16:creationId xmlns:a16="http://schemas.microsoft.com/office/drawing/2014/main" id="{CDC65FF9-4F30-4634-A6C8-C7E436DEF2F5}"/>
                </a:ext>
              </a:extLst>
            </p:cNvPr>
            <p:cNvSpPr txBox="1"/>
            <p:nvPr/>
          </p:nvSpPr>
          <p:spPr>
            <a:xfrm>
              <a:off x="5351630" y="3055243"/>
              <a:ext cx="3108802" cy="338554"/>
            </a:xfrm>
            <a:prstGeom prst="rect">
              <a:avLst/>
            </a:prstGeom>
            <a:noFill/>
          </p:spPr>
          <p:txBody>
            <a:bodyPr wrap="square" rtlCol="0">
              <a:spAutoFit/>
            </a:bodyPr>
            <a:lstStyle/>
            <a:p>
              <a:r>
                <a:rPr lang="es-ES" sz="1600" b="1" dirty="0"/>
                <a:t>Modelo Híbrido MPI/CUDA</a:t>
              </a:r>
            </a:p>
          </p:txBody>
        </p:sp>
      </p:grpSp>
      <p:sp>
        <p:nvSpPr>
          <p:cNvPr id="391" name="CuadroTexto 390">
            <a:extLst>
              <a:ext uri="{FF2B5EF4-FFF2-40B4-BE49-F238E27FC236}">
                <a16:creationId xmlns:a16="http://schemas.microsoft.com/office/drawing/2014/main" id="{6F14213B-7363-4B53-86FD-A1EEA29A76BC}"/>
              </a:ext>
            </a:extLst>
          </p:cNvPr>
          <p:cNvSpPr txBox="1"/>
          <p:nvPr/>
        </p:nvSpPr>
        <p:spPr>
          <a:xfrm>
            <a:off x="373578" y="768845"/>
            <a:ext cx="4978052" cy="307777"/>
          </a:xfrm>
          <a:prstGeom prst="rect">
            <a:avLst/>
          </a:prstGeom>
          <a:noFill/>
        </p:spPr>
        <p:txBody>
          <a:bodyPr wrap="square" rtlCol="0">
            <a:spAutoFit/>
          </a:bodyPr>
          <a:lstStyle/>
          <a:p>
            <a:pPr marL="285750" indent="-285750" algn="just">
              <a:buFont typeface="Arial" panose="020B0604020202020204" pitchFamily="34" charset="0"/>
              <a:buChar char="•"/>
            </a:pPr>
            <a:r>
              <a:rPr lang="es-ES" sz="1400" dirty="0"/>
              <a:t>Combina varios de los modelos anteriormente expuestos</a:t>
            </a:r>
            <a:endParaRPr lang="es-ES" sz="1400" b="1" dirty="0"/>
          </a:p>
        </p:txBody>
      </p:sp>
      <p:sp>
        <p:nvSpPr>
          <p:cNvPr id="142" name="CuadroTexto 141">
            <a:extLst>
              <a:ext uri="{FF2B5EF4-FFF2-40B4-BE49-F238E27FC236}">
                <a16:creationId xmlns:a16="http://schemas.microsoft.com/office/drawing/2014/main" id="{C056406C-B35C-4D64-84B4-0050DEE9DE4D}"/>
              </a:ext>
            </a:extLst>
          </p:cNvPr>
          <p:cNvSpPr txBox="1"/>
          <p:nvPr/>
        </p:nvSpPr>
        <p:spPr>
          <a:xfrm>
            <a:off x="370182" y="1115413"/>
            <a:ext cx="8450289" cy="523220"/>
          </a:xfrm>
          <a:prstGeom prst="rect">
            <a:avLst/>
          </a:prstGeom>
          <a:noFill/>
        </p:spPr>
        <p:txBody>
          <a:bodyPr wrap="square" rtlCol="0">
            <a:spAutoFit/>
          </a:bodyPr>
          <a:lstStyle/>
          <a:p>
            <a:pPr marL="285750" indent="-285750" algn="just">
              <a:buFont typeface="Arial" panose="020B0604020202020204" pitchFamily="34" charset="0"/>
              <a:buChar char="•"/>
            </a:pPr>
            <a:r>
              <a:rPr lang="es-ES" sz="1400" dirty="0"/>
              <a:t>Un ejemplo común de modelo hibrido es la combinación de MPI (Comunicaciones entre procesos ejecutándose en diferentes nodos) y </a:t>
            </a:r>
            <a:r>
              <a:rPr lang="es-ES" sz="1400" dirty="0" err="1"/>
              <a:t>OpenMP</a:t>
            </a:r>
            <a:r>
              <a:rPr lang="es-ES" sz="1400" dirty="0"/>
              <a:t> (realiza las tareas que usan datos locales).</a:t>
            </a:r>
            <a:endParaRPr lang="es-ES" sz="1400" b="1" dirty="0"/>
          </a:p>
        </p:txBody>
      </p:sp>
      <p:sp>
        <p:nvSpPr>
          <p:cNvPr id="143" name="CuadroTexto 142">
            <a:extLst>
              <a:ext uri="{FF2B5EF4-FFF2-40B4-BE49-F238E27FC236}">
                <a16:creationId xmlns:a16="http://schemas.microsoft.com/office/drawing/2014/main" id="{F318C989-AD7F-4AAA-94DD-DD6A5A2C39DC}"/>
              </a:ext>
            </a:extLst>
          </p:cNvPr>
          <p:cNvSpPr txBox="1"/>
          <p:nvPr/>
        </p:nvSpPr>
        <p:spPr>
          <a:xfrm>
            <a:off x="374234" y="1681063"/>
            <a:ext cx="8450289" cy="307777"/>
          </a:xfrm>
          <a:prstGeom prst="rect">
            <a:avLst/>
          </a:prstGeom>
          <a:noFill/>
        </p:spPr>
        <p:txBody>
          <a:bodyPr wrap="square" rtlCol="0">
            <a:spAutoFit/>
          </a:bodyPr>
          <a:lstStyle/>
          <a:p>
            <a:pPr marL="285750" indent="-285750" algn="just">
              <a:buFont typeface="Arial" panose="020B0604020202020204" pitchFamily="34" charset="0"/>
              <a:buChar char="•"/>
            </a:pPr>
            <a:r>
              <a:rPr lang="es-ES" sz="1400" dirty="0"/>
              <a:t>Este modelo se esta haciendo cada vez mas popular debido los “</a:t>
            </a:r>
            <a:r>
              <a:rPr lang="es-ES" sz="1400" dirty="0" err="1"/>
              <a:t>clusters</a:t>
            </a:r>
            <a:r>
              <a:rPr lang="es-ES" sz="1400" dirty="0"/>
              <a:t>” de computación.</a:t>
            </a:r>
            <a:endParaRPr lang="es-ES" sz="1400" b="1" dirty="0"/>
          </a:p>
        </p:txBody>
      </p:sp>
      <p:sp>
        <p:nvSpPr>
          <p:cNvPr id="144" name="CuadroTexto 143">
            <a:extLst>
              <a:ext uri="{FF2B5EF4-FFF2-40B4-BE49-F238E27FC236}">
                <a16:creationId xmlns:a16="http://schemas.microsoft.com/office/drawing/2014/main" id="{55439D4C-BCC9-42F0-9024-45BBC986F181}"/>
              </a:ext>
            </a:extLst>
          </p:cNvPr>
          <p:cNvSpPr txBox="1"/>
          <p:nvPr/>
        </p:nvSpPr>
        <p:spPr>
          <a:xfrm>
            <a:off x="376874" y="2132856"/>
            <a:ext cx="8626609" cy="738664"/>
          </a:xfrm>
          <a:prstGeom prst="rect">
            <a:avLst/>
          </a:prstGeom>
          <a:noFill/>
        </p:spPr>
        <p:txBody>
          <a:bodyPr wrap="square" rtlCol="0">
            <a:spAutoFit/>
          </a:bodyPr>
          <a:lstStyle/>
          <a:p>
            <a:pPr marL="285750" indent="-285750" algn="just">
              <a:buFont typeface="Arial" panose="020B0604020202020204" pitchFamily="34" charset="0"/>
              <a:buChar char="•"/>
            </a:pPr>
            <a:r>
              <a:rPr lang="es-ES" sz="1400" dirty="0"/>
              <a:t>Un modelo hibrido muy popular es el que combina el uso de CPU y </a:t>
            </a:r>
            <a:r>
              <a:rPr lang="es-ES" sz="1400" dirty="0" err="1"/>
              <a:t>GPUs</a:t>
            </a:r>
            <a:r>
              <a:rPr lang="es-ES" sz="1400" dirty="0"/>
              <a:t>:</a:t>
            </a:r>
          </a:p>
          <a:p>
            <a:pPr marL="742950" lvl="1" indent="-285750" algn="just">
              <a:buFont typeface="Arial" panose="020B0604020202020204" pitchFamily="34" charset="0"/>
              <a:buChar char="•"/>
            </a:pPr>
            <a:r>
              <a:rPr lang="es-ES" sz="1400" dirty="0"/>
              <a:t>Las tareas MPI se ejecutan en la CPU usando memoria local y comunicaciones con otro nodos.</a:t>
            </a:r>
          </a:p>
          <a:p>
            <a:pPr marL="742950" lvl="1" indent="-285750" algn="just">
              <a:buFont typeface="Arial" panose="020B0604020202020204" pitchFamily="34" charset="0"/>
              <a:buChar char="•"/>
            </a:pPr>
            <a:r>
              <a:rPr lang="es-ES" sz="1400" dirty="0"/>
              <a:t>El trabajo computacional intensivo se lleva a cabo en las </a:t>
            </a:r>
            <a:r>
              <a:rPr lang="es-ES" sz="1400" dirty="0" err="1"/>
              <a:t>GPUs</a:t>
            </a:r>
            <a:r>
              <a:rPr lang="es-ES" sz="1400" dirty="0"/>
              <a:t>.</a:t>
            </a:r>
          </a:p>
        </p:txBody>
      </p:sp>
    </p:spTree>
    <p:extLst>
      <p:ext uri="{BB962C8B-B14F-4D97-AF65-F5344CB8AC3E}">
        <p14:creationId xmlns:p14="http://schemas.microsoft.com/office/powerpoint/2010/main" val="222942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 grpId="0"/>
      <p:bldP spid="142" grpId="0"/>
      <p:bldP spid="143" grpId="0"/>
      <p:bldP spid="14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B40F9DA-3212-45CA-81AC-0CCC07430DA7}"/>
              </a:ext>
            </a:extLst>
          </p:cNvPr>
          <p:cNvSpPr>
            <a:spLocks noGrp="1"/>
          </p:cNvSpPr>
          <p:nvPr>
            <p:ph type="sldNum" sz="quarter" idx="12"/>
          </p:nvPr>
        </p:nvSpPr>
        <p:spPr/>
        <p:txBody>
          <a:bodyPr/>
          <a:lstStyle/>
          <a:p>
            <a:fld id="{2BC99F66-008B-4912-B721-8943319F59B7}" type="slidenum">
              <a:rPr lang="en-US" altLang="en-US" smtClean="0"/>
              <a:pPr/>
              <a:t>23</a:t>
            </a:fld>
            <a:endParaRPr lang="en-US" altLang="en-US"/>
          </a:p>
        </p:txBody>
      </p:sp>
      <p:sp>
        <p:nvSpPr>
          <p:cNvPr id="3" name="CuadroTexto 2">
            <a:extLst>
              <a:ext uri="{FF2B5EF4-FFF2-40B4-BE49-F238E27FC236}">
                <a16:creationId xmlns:a16="http://schemas.microsoft.com/office/drawing/2014/main" id="{B9BB5BB9-D590-4105-96C7-C160FC7E0055}"/>
              </a:ext>
            </a:extLst>
          </p:cNvPr>
          <p:cNvSpPr txBox="1"/>
          <p:nvPr/>
        </p:nvSpPr>
        <p:spPr>
          <a:xfrm>
            <a:off x="395536" y="323364"/>
            <a:ext cx="6984776" cy="369332"/>
          </a:xfrm>
          <a:prstGeom prst="rect">
            <a:avLst/>
          </a:prstGeom>
          <a:noFill/>
        </p:spPr>
        <p:txBody>
          <a:bodyPr wrap="square" rtlCol="0">
            <a:spAutoFit/>
          </a:bodyPr>
          <a:lstStyle/>
          <a:p>
            <a:r>
              <a:rPr lang="es-ES" b="1" dirty="0"/>
              <a:t>Fraccionamiento del trabajo</a:t>
            </a:r>
          </a:p>
        </p:txBody>
      </p:sp>
      <p:sp>
        <p:nvSpPr>
          <p:cNvPr id="5" name="CuadroTexto 4">
            <a:extLst>
              <a:ext uri="{FF2B5EF4-FFF2-40B4-BE49-F238E27FC236}">
                <a16:creationId xmlns:a16="http://schemas.microsoft.com/office/drawing/2014/main" id="{2EC58CA3-2618-4188-97F6-30650333B4E2}"/>
              </a:ext>
            </a:extLst>
          </p:cNvPr>
          <p:cNvSpPr txBox="1"/>
          <p:nvPr/>
        </p:nvSpPr>
        <p:spPr>
          <a:xfrm>
            <a:off x="539552" y="1196752"/>
            <a:ext cx="3024336" cy="523220"/>
          </a:xfrm>
          <a:prstGeom prst="rect">
            <a:avLst/>
          </a:prstGeom>
          <a:noFill/>
        </p:spPr>
        <p:txBody>
          <a:bodyPr wrap="square" rtlCol="0">
            <a:spAutoFit/>
          </a:bodyPr>
          <a:lstStyle/>
          <a:p>
            <a:pPr algn="ctr"/>
            <a:r>
              <a:rPr lang="es-ES" sz="1400" b="1" dirty="0"/>
              <a:t>Descomposición de dominio</a:t>
            </a:r>
          </a:p>
          <a:p>
            <a:pPr algn="ctr"/>
            <a:r>
              <a:rPr lang="es-ES" sz="1400" b="1" dirty="0"/>
              <a:t>(</a:t>
            </a:r>
            <a:r>
              <a:rPr lang="es-ES" sz="1400" b="1" dirty="0" err="1"/>
              <a:t>Domain</a:t>
            </a:r>
            <a:r>
              <a:rPr lang="es-ES" sz="1400" b="1" dirty="0"/>
              <a:t> </a:t>
            </a:r>
            <a:r>
              <a:rPr lang="es-ES" sz="1400" b="1" dirty="0" err="1"/>
              <a:t>decomposition</a:t>
            </a:r>
            <a:r>
              <a:rPr lang="es-ES" sz="1400" b="1" dirty="0"/>
              <a:t>)</a:t>
            </a:r>
            <a:endParaRPr lang="es-ES" b="1" dirty="0"/>
          </a:p>
        </p:txBody>
      </p:sp>
      <p:sp>
        <p:nvSpPr>
          <p:cNvPr id="6" name="CuadroTexto 5">
            <a:extLst>
              <a:ext uri="{FF2B5EF4-FFF2-40B4-BE49-F238E27FC236}">
                <a16:creationId xmlns:a16="http://schemas.microsoft.com/office/drawing/2014/main" id="{97732F06-3155-41B5-A7F4-433F09E4AEE5}"/>
              </a:ext>
            </a:extLst>
          </p:cNvPr>
          <p:cNvSpPr txBox="1"/>
          <p:nvPr/>
        </p:nvSpPr>
        <p:spPr>
          <a:xfrm>
            <a:off x="4932040" y="1196752"/>
            <a:ext cx="3024336" cy="523220"/>
          </a:xfrm>
          <a:prstGeom prst="rect">
            <a:avLst/>
          </a:prstGeom>
          <a:noFill/>
        </p:spPr>
        <p:txBody>
          <a:bodyPr wrap="square" rtlCol="0">
            <a:spAutoFit/>
          </a:bodyPr>
          <a:lstStyle/>
          <a:p>
            <a:pPr algn="ctr"/>
            <a:r>
              <a:rPr lang="es-ES" sz="1400" b="1" dirty="0"/>
              <a:t>Descomposición funcional</a:t>
            </a:r>
          </a:p>
          <a:p>
            <a:pPr algn="ctr"/>
            <a:r>
              <a:rPr lang="es-ES" sz="1400" b="1" dirty="0"/>
              <a:t>(</a:t>
            </a:r>
            <a:r>
              <a:rPr lang="es-ES" sz="1400" b="1" dirty="0" err="1"/>
              <a:t>Functional</a:t>
            </a:r>
            <a:r>
              <a:rPr lang="es-ES" sz="1400" b="1" dirty="0"/>
              <a:t> </a:t>
            </a:r>
            <a:r>
              <a:rPr lang="es-ES" sz="1400" b="1" dirty="0" err="1"/>
              <a:t>decomposition</a:t>
            </a:r>
            <a:r>
              <a:rPr lang="es-ES" sz="1400" b="1" dirty="0"/>
              <a:t>)</a:t>
            </a:r>
            <a:endParaRPr lang="es-ES" b="1" dirty="0"/>
          </a:p>
        </p:txBody>
      </p:sp>
      <p:pic>
        <p:nvPicPr>
          <p:cNvPr id="7" name="Imagen 6">
            <a:extLst>
              <a:ext uri="{FF2B5EF4-FFF2-40B4-BE49-F238E27FC236}">
                <a16:creationId xmlns:a16="http://schemas.microsoft.com/office/drawing/2014/main" id="{9B6A59A3-55E9-4EAE-9F25-9CEA36591EB6}"/>
              </a:ext>
            </a:extLst>
          </p:cNvPr>
          <p:cNvPicPr>
            <a:picLocks noChangeAspect="1"/>
          </p:cNvPicPr>
          <p:nvPr/>
        </p:nvPicPr>
        <p:blipFill rotWithShape="1">
          <a:blip r:embed="rId2">
            <a:extLst>
              <a:ext uri="{28A0092B-C50C-407E-A947-70E740481C1C}">
                <a14:useLocalDpi xmlns:a14="http://schemas.microsoft.com/office/drawing/2010/main" val="0"/>
              </a:ext>
            </a:extLst>
          </a:blip>
          <a:srcRect l="14353" r="5512"/>
          <a:stretch/>
        </p:blipFill>
        <p:spPr>
          <a:xfrm>
            <a:off x="251520" y="2060848"/>
            <a:ext cx="3816424" cy="2190750"/>
          </a:xfrm>
          <a:prstGeom prst="rect">
            <a:avLst/>
          </a:prstGeom>
        </p:spPr>
      </p:pic>
      <p:sp>
        <p:nvSpPr>
          <p:cNvPr id="8" name="CuadroTexto 7">
            <a:extLst>
              <a:ext uri="{FF2B5EF4-FFF2-40B4-BE49-F238E27FC236}">
                <a16:creationId xmlns:a16="http://schemas.microsoft.com/office/drawing/2014/main" id="{43662241-4E68-4C07-93DE-A7A1F5E4F6A6}"/>
              </a:ext>
            </a:extLst>
          </p:cNvPr>
          <p:cNvSpPr txBox="1"/>
          <p:nvPr/>
        </p:nvSpPr>
        <p:spPr>
          <a:xfrm>
            <a:off x="541377" y="4614989"/>
            <a:ext cx="3384376" cy="738664"/>
          </a:xfrm>
          <a:prstGeom prst="rect">
            <a:avLst/>
          </a:prstGeom>
          <a:noFill/>
        </p:spPr>
        <p:txBody>
          <a:bodyPr wrap="square" rtlCol="0">
            <a:spAutoFit/>
          </a:bodyPr>
          <a:lstStyle/>
          <a:p>
            <a:pPr algn="just"/>
            <a:r>
              <a:rPr lang="es-ES" sz="1400" dirty="0"/>
              <a:t>Los datos se dividen de tal manera que cada tarea trabaja sobre una porción de los datos. </a:t>
            </a:r>
          </a:p>
        </p:txBody>
      </p:sp>
      <p:pic>
        <p:nvPicPr>
          <p:cNvPr id="10" name="Imagen 9">
            <a:extLst>
              <a:ext uri="{FF2B5EF4-FFF2-40B4-BE49-F238E27FC236}">
                <a16:creationId xmlns:a16="http://schemas.microsoft.com/office/drawing/2014/main" id="{3A81C694-D3A6-41F5-8CD7-3603E17448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5976" y="1958330"/>
            <a:ext cx="4096826" cy="2190750"/>
          </a:xfrm>
          <a:prstGeom prst="rect">
            <a:avLst/>
          </a:prstGeom>
        </p:spPr>
      </p:pic>
      <p:sp>
        <p:nvSpPr>
          <p:cNvPr id="11" name="CuadroTexto 10">
            <a:extLst>
              <a:ext uri="{FF2B5EF4-FFF2-40B4-BE49-F238E27FC236}">
                <a16:creationId xmlns:a16="http://schemas.microsoft.com/office/drawing/2014/main" id="{8AF83C99-6C8E-497B-9782-C511821D5C0D}"/>
              </a:ext>
            </a:extLst>
          </p:cNvPr>
          <p:cNvSpPr txBox="1"/>
          <p:nvPr/>
        </p:nvSpPr>
        <p:spPr>
          <a:xfrm>
            <a:off x="5004048" y="4625143"/>
            <a:ext cx="3384376" cy="954107"/>
          </a:xfrm>
          <a:prstGeom prst="rect">
            <a:avLst/>
          </a:prstGeom>
          <a:noFill/>
        </p:spPr>
        <p:txBody>
          <a:bodyPr wrap="square" rtlCol="0">
            <a:spAutoFit/>
          </a:bodyPr>
          <a:lstStyle/>
          <a:p>
            <a:pPr algn="just"/>
            <a:r>
              <a:rPr lang="es-ES" sz="1400" dirty="0"/>
              <a:t>El problema se descompone de acuerdo al trabajo que se debe hacer. Cada tarea realiza una porción del trabajo total.</a:t>
            </a:r>
          </a:p>
        </p:txBody>
      </p:sp>
    </p:spTree>
    <p:extLst>
      <p:ext uri="{BB962C8B-B14F-4D97-AF65-F5344CB8AC3E}">
        <p14:creationId xmlns:p14="http://schemas.microsoft.com/office/powerpoint/2010/main" val="1956347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EE55CC3-0B6A-46C2-B373-4E2E9274F43F}"/>
              </a:ext>
            </a:extLst>
          </p:cNvPr>
          <p:cNvSpPr>
            <a:spLocks noGrp="1"/>
          </p:cNvSpPr>
          <p:nvPr>
            <p:ph type="sldNum" sz="quarter" idx="12"/>
          </p:nvPr>
        </p:nvSpPr>
        <p:spPr/>
        <p:txBody>
          <a:bodyPr/>
          <a:lstStyle/>
          <a:p>
            <a:fld id="{2BC99F66-008B-4912-B721-8943319F59B7}" type="slidenum">
              <a:rPr lang="en-US" altLang="en-US" smtClean="0"/>
              <a:pPr/>
              <a:t>24</a:t>
            </a:fld>
            <a:endParaRPr lang="en-US" altLang="en-US"/>
          </a:p>
        </p:txBody>
      </p:sp>
      <p:sp>
        <p:nvSpPr>
          <p:cNvPr id="6" name="CuadroTexto 5">
            <a:extLst>
              <a:ext uri="{FF2B5EF4-FFF2-40B4-BE49-F238E27FC236}">
                <a16:creationId xmlns:a16="http://schemas.microsoft.com/office/drawing/2014/main" id="{2B27C65B-FF92-423B-89A8-C1E12AE63F4C}"/>
              </a:ext>
            </a:extLst>
          </p:cNvPr>
          <p:cNvSpPr txBox="1"/>
          <p:nvPr/>
        </p:nvSpPr>
        <p:spPr>
          <a:xfrm>
            <a:off x="1043608" y="908720"/>
            <a:ext cx="6408712" cy="523220"/>
          </a:xfrm>
          <a:prstGeom prst="rect">
            <a:avLst/>
          </a:prstGeom>
          <a:noFill/>
        </p:spPr>
        <p:txBody>
          <a:bodyPr wrap="square" rtlCol="0">
            <a:spAutoFit/>
          </a:bodyPr>
          <a:lstStyle/>
          <a:p>
            <a:pPr algn="ctr"/>
            <a:r>
              <a:rPr lang="es-ES" sz="1400" b="1" dirty="0"/>
              <a:t>Descomposición funcional</a:t>
            </a:r>
          </a:p>
          <a:p>
            <a:pPr algn="ctr"/>
            <a:r>
              <a:rPr lang="es-ES" sz="1400" b="1" dirty="0"/>
              <a:t>(</a:t>
            </a:r>
            <a:r>
              <a:rPr lang="es-ES" sz="1400" b="1" dirty="0" err="1"/>
              <a:t>Functional</a:t>
            </a:r>
            <a:r>
              <a:rPr lang="es-ES" sz="1400" b="1" dirty="0"/>
              <a:t> </a:t>
            </a:r>
            <a:r>
              <a:rPr lang="es-ES" sz="1400" b="1" dirty="0" err="1"/>
              <a:t>decomposition</a:t>
            </a:r>
            <a:r>
              <a:rPr lang="es-ES" sz="1400" b="1" dirty="0"/>
              <a:t>)</a:t>
            </a:r>
            <a:endParaRPr lang="es-ES" b="1" dirty="0"/>
          </a:p>
        </p:txBody>
      </p:sp>
      <p:sp>
        <p:nvSpPr>
          <p:cNvPr id="7" name="CuadroTexto 6">
            <a:extLst>
              <a:ext uri="{FF2B5EF4-FFF2-40B4-BE49-F238E27FC236}">
                <a16:creationId xmlns:a16="http://schemas.microsoft.com/office/drawing/2014/main" id="{6869D63A-B8B3-47B0-B419-BA51B2088434}"/>
              </a:ext>
            </a:extLst>
          </p:cNvPr>
          <p:cNvSpPr txBox="1"/>
          <p:nvPr/>
        </p:nvSpPr>
        <p:spPr>
          <a:xfrm>
            <a:off x="2555776" y="1700808"/>
            <a:ext cx="3384376" cy="307777"/>
          </a:xfrm>
          <a:prstGeom prst="rect">
            <a:avLst/>
          </a:prstGeom>
          <a:noFill/>
          <a:ln>
            <a:solidFill>
              <a:schemeClr val="tx1"/>
            </a:solidFill>
          </a:ln>
        </p:spPr>
        <p:txBody>
          <a:bodyPr wrap="square" rtlCol="0">
            <a:spAutoFit/>
          </a:bodyPr>
          <a:lstStyle/>
          <a:p>
            <a:pPr algn="ctr"/>
            <a:r>
              <a:rPr lang="es-ES" sz="1400" b="1" dirty="0"/>
              <a:t>Objetivo: Preparar un burrito</a:t>
            </a:r>
          </a:p>
        </p:txBody>
      </p:sp>
      <p:sp>
        <p:nvSpPr>
          <p:cNvPr id="8" name="CuadroTexto 7">
            <a:extLst>
              <a:ext uri="{FF2B5EF4-FFF2-40B4-BE49-F238E27FC236}">
                <a16:creationId xmlns:a16="http://schemas.microsoft.com/office/drawing/2014/main" id="{6E1B58A8-5686-440C-9D56-F9D3EAF97BD8}"/>
              </a:ext>
            </a:extLst>
          </p:cNvPr>
          <p:cNvSpPr txBox="1"/>
          <p:nvPr/>
        </p:nvSpPr>
        <p:spPr>
          <a:xfrm>
            <a:off x="2051720" y="2708920"/>
            <a:ext cx="1368152" cy="523220"/>
          </a:xfrm>
          <a:prstGeom prst="rect">
            <a:avLst/>
          </a:prstGeom>
          <a:noFill/>
          <a:ln>
            <a:solidFill>
              <a:schemeClr val="tx1"/>
            </a:solidFill>
          </a:ln>
        </p:spPr>
        <p:txBody>
          <a:bodyPr wrap="square" rtlCol="0">
            <a:spAutoFit/>
          </a:bodyPr>
          <a:lstStyle/>
          <a:p>
            <a:pPr algn="ctr"/>
            <a:r>
              <a:rPr lang="es-ES" sz="1400" b="1" dirty="0"/>
              <a:t>Cocción de la carne</a:t>
            </a:r>
          </a:p>
        </p:txBody>
      </p:sp>
      <p:pic>
        <p:nvPicPr>
          <p:cNvPr id="10" name="Imagen 9">
            <a:extLst>
              <a:ext uri="{FF2B5EF4-FFF2-40B4-BE49-F238E27FC236}">
                <a16:creationId xmlns:a16="http://schemas.microsoft.com/office/drawing/2014/main" id="{25E87433-9DEF-447D-A493-3D89F682D5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21873" y="1180889"/>
            <a:ext cx="2395758" cy="1347614"/>
          </a:xfrm>
          <a:prstGeom prst="rect">
            <a:avLst/>
          </a:prstGeom>
        </p:spPr>
      </p:pic>
      <p:sp>
        <p:nvSpPr>
          <p:cNvPr id="11" name="CuadroTexto 10">
            <a:extLst>
              <a:ext uri="{FF2B5EF4-FFF2-40B4-BE49-F238E27FC236}">
                <a16:creationId xmlns:a16="http://schemas.microsoft.com/office/drawing/2014/main" id="{2FB3F9B9-0D20-4C42-809E-6DB3A9BDAB55}"/>
              </a:ext>
            </a:extLst>
          </p:cNvPr>
          <p:cNvSpPr txBox="1"/>
          <p:nvPr/>
        </p:nvSpPr>
        <p:spPr>
          <a:xfrm>
            <a:off x="3779912" y="2706689"/>
            <a:ext cx="1368152" cy="523220"/>
          </a:xfrm>
          <a:prstGeom prst="rect">
            <a:avLst/>
          </a:prstGeom>
          <a:noFill/>
          <a:ln>
            <a:solidFill>
              <a:schemeClr val="tx1"/>
            </a:solidFill>
          </a:ln>
        </p:spPr>
        <p:txBody>
          <a:bodyPr wrap="square" rtlCol="0">
            <a:spAutoFit/>
          </a:bodyPr>
          <a:lstStyle/>
          <a:p>
            <a:pPr algn="ctr"/>
            <a:r>
              <a:rPr lang="es-ES" sz="1400" b="1" dirty="0"/>
              <a:t>Preparación del relleno</a:t>
            </a:r>
          </a:p>
        </p:txBody>
      </p:sp>
      <p:sp>
        <p:nvSpPr>
          <p:cNvPr id="12" name="CuadroTexto 11">
            <a:extLst>
              <a:ext uri="{FF2B5EF4-FFF2-40B4-BE49-F238E27FC236}">
                <a16:creationId xmlns:a16="http://schemas.microsoft.com/office/drawing/2014/main" id="{8C076F43-F16F-440C-A270-7381CE3BFF0D}"/>
              </a:ext>
            </a:extLst>
          </p:cNvPr>
          <p:cNvSpPr txBox="1"/>
          <p:nvPr/>
        </p:nvSpPr>
        <p:spPr>
          <a:xfrm>
            <a:off x="5637797" y="2706689"/>
            <a:ext cx="1368152" cy="523220"/>
          </a:xfrm>
          <a:prstGeom prst="rect">
            <a:avLst/>
          </a:prstGeom>
          <a:noFill/>
          <a:ln>
            <a:solidFill>
              <a:schemeClr val="tx1"/>
            </a:solidFill>
          </a:ln>
        </p:spPr>
        <p:txBody>
          <a:bodyPr wrap="square" rtlCol="0">
            <a:spAutoFit/>
          </a:bodyPr>
          <a:lstStyle/>
          <a:p>
            <a:pPr algn="ctr"/>
            <a:r>
              <a:rPr lang="es-ES" sz="1400" b="1" dirty="0"/>
              <a:t>Salsas y condimentos</a:t>
            </a:r>
          </a:p>
        </p:txBody>
      </p:sp>
      <p:sp>
        <p:nvSpPr>
          <p:cNvPr id="13" name="CuadroTexto 12">
            <a:extLst>
              <a:ext uri="{FF2B5EF4-FFF2-40B4-BE49-F238E27FC236}">
                <a16:creationId xmlns:a16="http://schemas.microsoft.com/office/drawing/2014/main" id="{9C6AED3B-7E13-4522-AEA8-DDE3E0807B1E}"/>
              </a:ext>
            </a:extLst>
          </p:cNvPr>
          <p:cNvSpPr txBox="1"/>
          <p:nvPr/>
        </p:nvSpPr>
        <p:spPr>
          <a:xfrm>
            <a:off x="3779912" y="3789040"/>
            <a:ext cx="1368152" cy="738664"/>
          </a:xfrm>
          <a:prstGeom prst="rect">
            <a:avLst/>
          </a:prstGeom>
          <a:noFill/>
          <a:ln>
            <a:solidFill>
              <a:schemeClr val="tx1"/>
            </a:solidFill>
          </a:ln>
        </p:spPr>
        <p:txBody>
          <a:bodyPr wrap="square" rtlCol="0">
            <a:spAutoFit/>
          </a:bodyPr>
          <a:lstStyle/>
          <a:p>
            <a:pPr algn="ctr"/>
            <a:r>
              <a:rPr lang="es-ES" sz="1400" b="1" dirty="0"/>
              <a:t>Montaje y doblado del burrito</a:t>
            </a:r>
          </a:p>
        </p:txBody>
      </p:sp>
      <p:sp>
        <p:nvSpPr>
          <p:cNvPr id="14" name="CuadroTexto 13">
            <a:extLst>
              <a:ext uri="{FF2B5EF4-FFF2-40B4-BE49-F238E27FC236}">
                <a16:creationId xmlns:a16="http://schemas.microsoft.com/office/drawing/2014/main" id="{308D23A9-C201-4289-B91A-92B94631B705}"/>
              </a:ext>
            </a:extLst>
          </p:cNvPr>
          <p:cNvSpPr txBox="1"/>
          <p:nvPr/>
        </p:nvSpPr>
        <p:spPr>
          <a:xfrm>
            <a:off x="-508" y="2720118"/>
            <a:ext cx="1872208" cy="523220"/>
          </a:xfrm>
          <a:prstGeom prst="rect">
            <a:avLst/>
          </a:prstGeom>
          <a:noFill/>
        </p:spPr>
        <p:txBody>
          <a:bodyPr wrap="square" rtlCol="0">
            <a:spAutoFit/>
          </a:bodyPr>
          <a:lstStyle/>
          <a:p>
            <a:pPr algn="ctr"/>
            <a:r>
              <a:rPr lang="es-ES" sz="1400" b="1" dirty="0"/>
              <a:t>Tareas a realizar en paralelo</a:t>
            </a:r>
            <a:endParaRPr lang="es-ES" b="1" dirty="0"/>
          </a:p>
        </p:txBody>
      </p:sp>
      <p:cxnSp>
        <p:nvCxnSpPr>
          <p:cNvPr id="16" name="Conector recto 15">
            <a:extLst>
              <a:ext uri="{FF2B5EF4-FFF2-40B4-BE49-F238E27FC236}">
                <a16:creationId xmlns:a16="http://schemas.microsoft.com/office/drawing/2014/main" id="{81D53396-663F-47A3-93E4-44E3C221AFFE}"/>
              </a:ext>
            </a:extLst>
          </p:cNvPr>
          <p:cNvCxnSpPr>
            <a:cxnSpLocks/>
            <a:stCxn id="7" idx="2"/>
            <a:endCxn id="8" idx="0"/>
          </p:cNvCxnSpPr>
          <p:nvPr/>
        </p:nvCxnSpPr>
        <p:spPr>
          <a:xfrm flipH="1">
            <a:off x="2735796" y="2008585"/>
            <a:ext cx="1512168" cy="7003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D602C646-3F68-48FB-B97F-01CBB85B432B}"/>
              </a:ext>
            </a:extLst>
          </p:cNvPr>
          <p:cNvCxnSpPr>
            <a:stCxn id="7" idx="2"/>
            <a:endCxn id="11" idx="0"/>
          </p:cNvCxnSpPr>
          <p:nvPr/>
        </p:nvCxnSpPr>
        <p:spPr>
          <a:xfrm>
            <a:off x="4247964" y="2008585"/>
            <a:ext cx="216024" cy="6981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13223F95-B418-4C65-8343-4654884935C1}"/>
              </a:ext>
            </a:extLst>
          </p:cNvPr>
          <p:cNvCxnSpPr>
            <a:stCxn id="7" idx="2"/>
            <a:endCxn id="12" idx="0"/>
          </p:cNvCxnSpPr>
          <p:nvPr/>
        </p:nvCxnSpPr>
        <p:spPr>
          <a:xfrm>
            <a:off x="4247964" y="2008585"/>
            <a:ext cx="2073909" cy="6981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47D5BB5E-8D48-4EA9-AA3D-8178E6F7963E}"/>
              </a:ext>
            </a:extLst>
          </p:cNvPr>
          <p:cNvSpPr txBox="1"/>
          <p:nvPr/>
        </p:nvSpPr>
        <p:spPr>
          <a:xfrm>
            <a:off x="1446814" y="2123564"/>
            <a:ext cx="1872208" cy="307777"/>
          </a:xfrm>
          <a:prstGeom prst="rect">
            <a:avLst/>
          </a:prstGeom>
          <a:noFill/>
        </p:spPr>
        <p:txBody>
          <a:bodyPr wrap="square" rtlCol="0">
            <a:spAutoFit/>
          </a:bodyPr>
          <a:lstStyle/>
          <a:p>
            <a:pPr algn="ctr"/>
            <a:r>
              <a:rPr lang="es-ES" sz="1400" b="1" dirty="0"/>
              <a:t>División del trabajo</a:t>
            </a:r>
            <a:endParaRPr lang="es-ES" b="1" dirty="0"/>
          </a:p>
        </p:txBody>
      </p:sp>
      <p:cxnSp>
        <p:nvCxnSpPr>
          <p:cNvPr id="24" name="Conector recto 23">
            <a:extLst>
              <a:ext uri="{FF2B5EF4-FFF2-40B4-BE49-F238E27FC236}">
                <a16:creationId xmlns:a16="http://schemas.microsoft.com/office/drawing/2014/main" id="{51123F05-6B0C-4F0C-A1AF-485E600A7C94}"/>
              </a:ext>
            </a:extLst>
          </p:cNvPr>
          <p:cNvCxnSpPr>
            <a:stCxn id="8" idx="2"/>
            <a:endCxn id="13" idx="0"/>
          </p:cNvCxnSpPr>
          <p:nvPr/>
        </p:nvCxnSpPr>
        <p:spPr>
          <a:xfrm>
            <a:off x="2735796" y="3232140"/>
            <a:ext cx="1728192" cy="556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EB6F03B3-350C-4C64-8C75-1D7E0DD19310}"/>
              </a:ext>
            </a:extLst>
          </p:cNvPr>
          <p:cNvCxnSpPr>
            <a:stCxn id="11" idx="2"/>
            <a:endCxn id="13" idx="0"/>
          </p:cNvCxnSpPr>
          <p:nvPr/>
        </p:nvCxnSpPr>
        <p:spPr>
          <a:xfrm>
            <a:off x="4463988" y="3229909"/>
            <a:ext cx="0" cy="5591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ADC06981-0356-4310-B691-808A1718A0ED}"/>
              </a:ext>
            </a:extLst>
          </p:cNvPr>
          <p:cNvCxnSpPr>
            <a:stCxn id="12" idx="2"/>
            <a:endCxn id="13" idx="0"/>
          </p:cNvCxnSpPr>
          <p:nvPr/>
        </p:nvCxnSpPr>
        <p:spPr>
          <a:xfrm flipH="1">
            <a:off x="4463988" y="3229909"/>
            <a:ext cx="1857885" cy="5591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CuadroTexto 28">
            <a:extLst>
              <a:ext uri="{FF2B5EF4-FFF2-40B4-BE49-F238E27FC236}">
                <a16:creationId xmlns:a16="http://schemas.microsoft.com/office/drawing/2014/main" id="{FC010525-BE38-4503-B77B-C3CD97A8C88A}"/>
              </a:ext>
            </a:extLst>
          </p:cNvPr>
          <p:cNvSpPr txBox="1"/>
          <p:nvPr/>
        </p:nvSpPr>
        <p:spPr>
          <a:xfrm>
            <a:off x="-508" y="4373815"/>
            <a:ext cx="1872208" cy="307777"/>
          </a:xfrm>
          <a:prstGeom prst="rect">
            <a:avLst/>
          </a:prstGeom>
          <a:noFill/>
        </p:spPr>
        <p:txBody>
          <a:bodyPr wrap="square" rtlCol="0">
            <a:spAutoFit/>
          </a:bodyPr>
          <a:lstStyle/>
          <a:p>
            <a:pPr algn="ctr"/>
            <a:r>
              <a:rPr lang="es-ES" sz="1400" b="1" dirty="0"/>
              <a:t>Coordinación</a:t>
            </a:r>
            <a:endParaRPr lang="es-ES" b="1" dirty="0"/>
          </a:p>
        </p:txBody>
      </p:sp>
      <p:sp>
        <p:nvSpPr>
          <p:cNvPr id="30" name="CuadroTexto 29">
            <a:extLst>
              <a:ext uri="{FF2B5EF4-FFF2-40B4-BE49-F238E27FC236}">
                <a16:creationId xmlns:a16="http://schemas.microsoft.com/office/drawing/2014/main" id="{A0B7301A-2A76-4F12-88DF-3A4C73064A05}"/>
              </a:ext>
            </a:extLst>
          </p:cNvPr>
          <p:cNvSpPr txBox="1"/>
          <p:nvPr/>
        </p:nvSpPr>
        <p:spPr>
          <a:xfrm>
            <a:off x="7197250" y="2886219"/>
            <a:ext cx="1368152" cy="523220"/>
          </a:xfrm>
          <a:prstGeom prst="rect">
            <a:avLst/>
          </a:prstGeom>
          <a:noFill/>
          <a:ln>
            <a:solidFill>
              <a:schemeClr val="tx1"/>
            </a:solidFill>
          </a:ln>
        </p:spPr>
        <p:txBody>
          <a:bodyPr wrap="square" rtlCol="0">
            <a:spAutoFit/>
          </a:bodyPr>
          <a:lstStyle/>
          <a:p>
            <a:pPr algn="ctr"/>
            <a:r>
              <a:rPr lang="es-ES" sz="1400" b="1" dirty="0"/>
              <a:t>Preparar presentación</a:t>
            </a:r>
          </a:p>
        </p:txBody>
      </p:sp>
      <p:sp>
        <p:nvSpPr>
          <p:cNvPr id="31" name="CuadroTexto 30">
            <a:extLst>
              <a:ext uri="{FF2B5EF4-FFF2-40B4-BE49-F238E27FC236}">
                <a16:creationId xmlns:a16="http://schemas.microsoft.com/office/drawing/2014/main" id="{C0B38D5F-4197-4843-9C06-B4F449FD7399}"/>
              </a:ext>
            </a:extLst>
          </p:cNvPr>
          <p:cNvSpPr txBox="1"/>
          <p:nvPr/>
        </p:nvSpPr>
        <p:spPr>
          <a:xfrm>
            <a:off x="5796136" y="4839482"/>
            <a:ext cx="1368152" cy="523220"/>
          </a:xfrm>
          <a:prstGeom prst="rect">
            <a:avLst/>
          </a:prstGeom>
          <a:noFill/>
          <a:ln>
            <a:solidFill>
              <a:schemeClr val="tx1"/>
            </a:solidFill>
          </a:ln>
        </p:spPr>
        <p:txBody>
          <a:bodyPr wrap="square" rtlCol="0">
            <a:spAutoFit/>
          </a:bodyPr>
          <a:lstStyle/>
          <a:p>
            <a:pPr algn="ctr"/>
            <a:r>
              <a:rPr lang="es-ES" sz="1400" b="1" dirty="0"/>
              <a:t>Servir y disfrutar</a:t>
            </a:r>
          </a:p>
        </p:txBody>
      </p:sp>
      <p:cxnSp>
        <p:nvCxnSpPr>
          <p:cNvPr id="33" name="Conector recto 32">
            <a:extLst>
              <a:ext uri="{FF2B5EF4-FFF2-40B4-BE49-F238E27FC236}">
                <a16:creationId xmlns:a16="http://schemas.microsoft.com/office/drawing/2014/main" id="{D23A08ED-E79C-41EE-805A-0DED4B31BCAE}"/>
              </a:ext>
            </a:extLst>
          </p:cNvPr>
          <p:cNvCxnSpPr>
            <a:stCxn id="13" idx="2"/>
            <a:endCxn id="31" idx="0"/>
          </p:cNvCxnSpPr>
          <p:nvPr/>
        </p:nvCxnSpPr>
        <p:spPr>
          <a:xfrm>
            <a:off x="4463988" y="4527704"/>
            <a:ext cx="2016224" cy="311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CB320686-D8DB-450A-95FC-ED11AC3846A3}"/>
              </a:ext>
            </a:extLst>
          </p:cNvPr>
          <p:cNvCxnSpPr>
            <a:stCxn id="30" idx="2"/>
            <a:endCxn id="31" idx="0"/>
          </p:cNvCxnSpPr>
          <p:nvPr/>
        </p:nvCxnSpPr>
        <p:spPr>
          <a:xfrm flipH="1">
            <a:off x="6480212" y="3409439"/>
            <a:ext cx="1401114" cy="14300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8" name="Imagen 37">
            <a:extLst>
              <a:ext uri="{FF2B5EF4-FFF2-40B4-BE49-F238E27FC236}">
                <a16:creationId xmlns:a16="http://schemas.microsoft.com/office/drawing/2014/main" id="{EFEF8664-B730-4316-8E47-19EE9BD7DF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9225" y="5663199"/>
            <a:ext cx="6305550" cy="828675"/>
          </a:xfrm>
          <a:prstGeom prst="rect">
            <a:avLst/>
          </a:prstGeom>
        </p:spPr>
      </p:pic>
    </p:spTree>
    <p:extLst>
      <p:ext uri="{BB962C8B-B14F-4D97-AF65-F5344CB8AC3E}">
        <p14:creationId xmlns:p14="http://schemas.microsoft.com/office/powerpoint/2010/main" val="3314080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4" grpId="0"/>
      <p:bldP spid="22" grpId="0"/>
      <p:bldP spid="29" grpId="0"/>
      <p:bldP spid="30" grpId="0" animBg="1"/>
      <p:bldP spid="3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EE55CC3-0B6A-46C2-B373-4E2E9274F43F}"/>
              </a:ext>
            </a:extLst>
          </p:cNvPr>
          <p:cNvSpPr>
            <a:spLocks noGrp="1"/>
          </p:cNvSpPr>
          <p:nvPr>
            <p:ph type="sldNum" sz="quarter" idx="12"/>
          </p:nvPr>
        </p:nvSpPr>
        <p:spPr/>
        <p:txBody>
          <a:bodyPr/>
          <a:lstStyle/>
          <a:p>
            <a:fld id="{2BC99F66-008B-4912-B721-8943319F59B7}" type="slidenum">
              <a:rPr lang="en-US" altLang="en-US" smtClean="0"/>
              <a:pPr/>
              <a:t>25</a:t>
            </a:fld>
            <a:endParaRPr lang="en-US" altLang="en-US"/>
          </a:p>
        </p:txBody>
      </p:sp>
      <p:sp>
        <p:nvSpPr>
          <p:cNvPr id="6" name="CuadroTexto 5">
            <a:extLst>
              <a:ext uri="{FF2B5EF4-FFF2-40B4-BE49-F238E27FC236}">
                <a16:creationId xmlns:a16="http://schemas.microsoft.com/office/drawing/2014/main" id="{2B27C65B-FF92-423B-89A8-C1E12AE63F4C}"/>
              </a:ext>
            </a:extLst>
          </p:cNvPr>
          <p:cNvSpPr txBox="1"/>
          <p:nvPr/>
        </p:nvSpPr>
        <p:spPr>
          <a:xfrm>
            <a:off x="1043608" y="908720"/>
            <a:ext cx="6408712" cy="523220"/>
          </a:xfrm>
          <a:prstGeom prst="rect">
            <a:avLst/>
          </a:prstGeom>
          <a:noFill/>
        </p:spPr>
        <p:txBody>
          <a:bodyPr wrap="square" rtlCol="0">
            <a:spAutoFit/>
          </a:bodyPr>
          <a:lstStyle/>
          <a:p>
            <a:pPr algn="ctr"/>
            <a:r>
              <a:rPr lang="es-ES" sz="1400" b="1" dirty="0"/>
              <a:t>Descomposición en dominio</a:t>
            </a:r>
          </a:p>
          <a:p>
            <a:pPr algn="ctr"/>
            <a:r>
              <a:rPr lang="es-ES" sz="1400" b="1" dirty="0"/>
              <a:t>(</a:t>
            </a:r>
            <a:r>
              <a:rPr lang="es-ES" sz="1400" b="1" dirty="0" err="1"/>
              <a:t>Domain</a:t>
            </a:r>
            <a:r>
              <a:rPr lang="es-ES" sz="1400" b="1" dirty="0"/>
              <a:t> </a:t>
            </a:r>
            <a:r>
              <a:rPr lang="es-ES" sz="1400" b="1" dirty="0" err="1"/>
              <a:t>decomposition</a:t>
            </a:r>
            <a:r>
              <a:rPr lang="es-ES" sz="1400" b="1" dirty="0"/>
              <a:t>)</a:t>
            </a:r>
            <a:endParaRPr lang="es-ES" b="1" dirty="0"/>
          </a:p>
        </p:txBody>
      </p:sp>
      <p:sp>
        <p:nvSpPr>
          <p:cNvPr id="7" name="CuadroTexto 6">
            <a:extLst>
              <a:ext uri="{FF2B5EF4-FFF2-40B4-BE49-F238E27FC236}">
                <a16:creationId xmlns:a16="http://schemas.microsoft.com/office/drawing/2014/main" id="{6869D63A-B8B3-47B0-B419-BA51B2088434}"/>
              </a:ext>
            </a:extLst>
          </p:cNvPr>
          <p:cNvSpPr txBox="1"/>
          <p:nvPr/>
        </p:nvSpPr>
        <p:spPr>
          <a:xfrm>
            <a:off x="2555776" y="2077304"/>
            <a:ext cx="3384376" cy="523220"/>
          </a:xfrm>
          <a:prstGeom prst="rect">
            <a:avLst/>
          </a:prstGeom>
          <a:noFill/>
          <a:ln>
            <a:solidFill>
              <a:schemeClr val="tx1"/>
            </a:solidFill>
          </a:ln>
        </p:spPr>
        <p:txBody>
          <a:bodyPr wrap="square" rtlCol="0">
            <a:spAutoFit/>
          </a:bodyPr>
          <a:lstStyle/>
          <a:p>
            <a:pPr algn="ctr"/>
            <a:r>
              <a:rPr lang="es-ES" sz="1400" b="1" dirty="0"/>
              <a:t>Objetivo: Preparar burritos para todos los alumnos del curso</a:t>
            </a:r>
          </a:p>
        </p:txBody>
      </p:sp>
      <p:sp>
        <p:nvSpPr>
          <p:cNvPr id="22" name="CuadroTexto 21">
            <a:extLst>
              <a:ext uri="{FF2B5EF4-FFF2-40B4-BE49-F238E27FC236}">
                <a16:creationId xmlns:a16="http://schemas.microsoft.com/office/drawing/2014/main" id="{47D5BB5E-8D48-4EA9-AA3D-8178E6F7963E}"/>
              </a:ext>
            </a:extLst>
          </p:cNvPr>
          <p:cNvSpPr txBox="1"/>
          <p:nvPr/>
        </p:nvSpPr>
        <p:spPr>
          <a:xfrm>
            <a:off x="1396811" y="2731318"/>
            <a:ext cx="1872208" cy="307777"/>
          </a:xfrm>
          <a:prstGeom prst="rect">
            <a:avLst/>
          </a:prstGeom>
          <a:noFill/>
        </p:spPr>
        <p:txBody>
          <a:bodyPr wrap="square" rtlCol="0">
            <a:spAutoFit/>
          </a:bodyPr>
          <a:lstStyle/>
          <a:p>
            <a:pPr algn="ctr"/>
            <a:r>
              <a:rPr lang="es-ES" sz="1400" b="1" dirty="0"/>
              <a:t>División del trabajo</a:t>
            </a:r>
            <a:endParaRPr lang="es-ES" b="1" dirty="0"/>
          </a:p>
        </p:txBody>
      </p:sp>
      <p:sp>
        <p:nvSpPr>
          <p:cNvPr id="29" name="CuadroTexto 28">
            <a:extLst>
              <a:ext uri="{FF2B5EF4-FFF2-40B4-BE49-F238E27FC236}">
                <a16:creationId xmlns:a16="http://schemas.microsoft.com/office/drawing/2014/main" id="{FC010525-BE38-4503-B77B-C3CD97A8C88A}"/>
              </a:ext>
            </a:extLst>
          </p:cNvPr>
          <p:cNvSpPr txBox="1"/>
          <p:nvPr/>
        </p:nvSpPr>
        <p:spPr>
          <a:xfrm>
            <a:off x="323528" y="4066417"/>
            <a:ext cx="1872208" cy="307777"/>
          </a:xfrm>
          <a:prstGeom prst="rect">
            <a:avLst/>
          </a:prstGeom>
          <a:noFill/>
        </p:spPr>
        <p:txBody>
          <a:bodyPr wrap="square" rtlCol="0">
            <a:spAutoFit/>
          </a:bodyPr>
          <a:lstStyle/>
          <a:p>
            <a:pPr algn="ctr"/>
            <a:r>
              <a:rPr lang="es-ES" sz="1400" b="1" dirty="0"/>
              <a:t>Comunicación</a:t>
            </a:r>
            <a:endParaRPr lang="es-ES" b="1" dirty="0"/>
          </a:p>
        </p:txBody>
      </p:sp>
      <p:sp>
        <p:nvSpPr>
          <p:cNvPr id="31" name="CuadroTexto 30">
            <a:extLst>
              <a:ext uri="{FF2B5EF4-FFF2-40B4-BE49-F238E27FC236}">
                <a16:creationId xmlns:a16="http://schemas.microsoft.com/office/drawing/2014/main" id="{C0B38D5F-4197-4843-9C06-B4F449FD7399}"/>
              </a:ext>
            </a:extLst>
          </p:cNvPr>
          <p:cNvSpPr txBox="1"/>
          <p:nvPr/>
        </p:nvSpPr>
        <p:spPr>
          <a:xfrm>
            <a:off x="3887924" y="4561964"/>
            <a:ext cx="1368152" cy="523220"/>
          </a:xfrm>
          <a:prstGeom prst="rect">
            <a:avLst/>
          </a:prstGeom>
          <a:noFill/>
          <a:ln>
            <a:solidFill>
              <a:schemeClr val="tx1"/>
            </a:solidFill>
          </a:ln>
        </p:spPr>
        <p:txBody>
          <a:bodyPr wrap="square" rtlCol="0">
            <a:spAutoFit/>
          </a:bodyPr>
          <a:lstStyle/>
          <a:p>
            <a:pPr algn="ctr"/>
            <a:r>
              <a:rPr lang="es-ES" sz="1400" b="1" dirty="0"/>
              <a:t>Servir y disfrutar</a:t>
            </a:r>
          </a:p>
        </p:txBody>
      </p:sp>
      <p:pic>
        <p:nvPicPr>
          <p:cNvPr id="9" name="Imagen 8">
            <a:extLst>
              <a:ext uri="{FF2B5EF4-FFF2-40B4-BE49-F238E27FC236}">
                <a16:creationId xmlns:a16="http://schemas.microsoft.com/office/drawing/2014/main" id="{7780BCAA-CD27-4F16-A486-B3A34CE85E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4228" y="466844"/>
            <a:ext cx="1376716" cy="1834787"/>
          </a:xfrm>
          <a:prstGeom prst="rect">
            <a:avLst/>
          </a:prstGeom>
        </p:spPr>
      </p:pic>
      <p:sp>
        <p:nvSpPr>
          <p:cNvPr id="27" name="CuadroTexto 26">
            <a:extLst>
              <a:ext uri="{FF2B5EF4-FFF2-40B4-BE49-F238E27FC236}">
                <a16:creationId xmlns:a16="http://schemas.microsoft.com/office/drawing/2014/main" id="{ADC1B6DD-D742-4834-B5F8-462A202CE818}"/>
              </a:ext>
            </a:extLst>
          </p:cNvPr>
          <p:cNvSpPr txBox="1"/>
          <p:nvPr/>
        </p:nvSpPr>
        <p:spPr>
          <a:xfrm>
            <a:off x="1907704" y="3276334"/>
            <a:ext cx="1728192" cy="523220"/>
          </a:xfrm>
          <a:prstGeom prst="rect">
            <a:avLst/>
          </a:prstGeom>
          <a:noFill/>
          <a:ln>
            <a:solidFill>
              <a:schemeClr val="tx1"/>
            </a:solidFill>
          </a:ln>
        </p:spPr>
        <p:txBody>
          <a:bodyPr wrap="square" rtlCol="0">
            <a:spAutoFit/>
          </a:bodyPr>
          <a:lstStyle/>
          <a:p>
            <a:pPr algn="ctr"/>
            <a:r>
              <a:rPr lang="es-ES" sz="1400" b="1" dirty="0"/>
              <a:t>Ester</a:t>
            </a:r>
          </a:p>
          <a:p>
            <a:pPr algn="ctr"/>
            <a:r>
              <a:rPr lang="es-ES" sz="1400" b="1" dirty="0"/>
              <a:t>Prepara 5 burritos</a:t>
            </a:r>
          </a:p>
        </p:txBody>
      </p:sp>
      <p:sp>
        <p:nvSpPr>
          <p:cNvPr id="32" name="CuadroTexto 31">
            <a:extLst>
              <a:ext uri="{FF2B5EF4-FFF2-40B4-BE49-F238E27FC236}">
                <a16:creationId xmlns:a16="http://schemas.microsoft.com/office/drawing/2014/main" id="{A20CF6F3-0836-41A7-B20D-71878AAD85DF}"/>
              </a:ext>
            </a:extLst>
          </p:cNvPr>
          <p:cNvSpPr txBox="1"/>
          <p:nvPr/>
        </p:nvSpPr>
        <p:spPr>
          <a:xfrm>
            <a:off x="3779912" y="3286167"/>
            <a:ext cx="1728192" cy="523220"/>
          </a:xfrm>
          <a:prstGeom prst="rect">
            <a:avLst/>
          </a:prstGeom>
          <a:noFill/>
          <a:ln>
            <a:solidFill>
              <a:schemeClr val="tx1"/>
            </a:solidFill>
          </a:ln>
        </p:spPr>
        <p:txBody>
          <a:bodyPr wrap="square" rtlCol="0">
            <a:spAutoFit/>
          </a:bodyPr>
          <a:lstStyle/>
          <a:p>
            <a:pPr algn="ctr"/>
            <a:r>
              <a:rPr lang="es-ES" sz="1400" b="1" dirty="0"/>
              <a:t>Ali</a:t>
            </a:r>
          </a:p>
          <a:p>
            <a:pPr algn="ctr"/>
            <a:r>
              <a:rPr lang="es-ES" sz="1400" b="1" dirty="0"/>
              <a:t>Prepara 5 burritos</a:t>
            </a:r>
          </a:p>
        </p:txBody>
      </p:sp>
      <p:sp>
        <p:nvSpPr>
          <p:cNvPr id="34" name="CuadroTexto 33">
            <a:extLst>
              <a:ext uri="{FF2B5EF4-FFF2-40B4-BE49-F238E27FC236}">
                <a16:creationId xmlns:a16="http://schemas.microsoft.com/office/drawing/2014/main" id="{063BDE3B-D15C-46C5-8611-1C9B3CE24DB6}"/>
              </a:ext>
            </a:extLst>
          </p:cNvPr>
          <p:cNvSpPr txBox="1"/>
          <p:nvPr/>
        </p:nvSpPr>
        <p:spPr>
          <a:xfrm>
            <a:off x="5796136" y="3280254"/>
            <a:ext cx="1728192" cy="523220"/>
          </a:xfrm>
          <a:prstGeom prst="rect">
            <a:avLst/>
          </a:prstGeom>
          <a:noFill/>
          <a:ln>
            <a:solidFill>
              <a:schemeClr val="tx1"/>
            </a:solidFill>
          </a:ln>
        </p:spPr>
        <p:txBody>
          <a:bodyPr wrap="square" rtlCol="0">
            <a:spAutoFit/>
          </a:bodyPr>
          <a:lstStyle/>
          <a:p>
            <a:pPr algn="ctr"/>
            <a:r>
              <a:rPr lang="es-ES" sz="1400" b="1" dirty="0"/>
              <a:t>Javi</a:t>
            </a:r>
          </a:p>
          <a:p>
            <a:pPr algn="ctr"/>
            <a:r>
              <a:rPr lang="es-ES" sz="1400" b="1" dirty="0"/>
              <a:t>Prepara 5 burritos</a:t>
            </a:r>
          </a:p>
        </p:txBody>
      </p:sp>
      <p:cxnSp>
        <p:nvCxnSpPr>
          <p:cNvPr id="17" name="Conector recto 16">
            <a:extLst>
              <a:ext uri="{FF2B5EF4-FFF2-40B4-BE49-F238E27FC236}">
                <a16:creationId xmlns:a16="http://schemas.microsoft.com/office/drawing/2014/main" id="{E2E26B24-A42B-475A-BF3C-F31DA458AC4E}"/>
              </a:ext>
            </a:extLst>
          </p:cNvPr>
          <p:cNvCxnSpPr>
            <a:stCxn id="7" idx="2"/>
            <a:endCxn id="27" idx="0"/>
          </p:cNvCxnSpPr>
          <p:nvPr/>
        </p:nvCxnSpPr>
        <p:spPr>
          <a:xfrm flipH="1">
            <a:off x="2771800" y="2600524"/>
            <a:ext cx="1476164" cy="6758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C37172B3-8C6D-4C16-93A2-2B1F5FD4336F}"/>
              </a:ext>
            </a:extLst>
          </p:cNvPr>
          <p:cNvCxnSpPr>
            <a:stCxn id="7" idx="2"/>
            <a:endCxn id="32" idx="0"/>
          </p:cNvCxnSpPr>
          <p:nvPr/>
        </p:nvCxnSpPr>
        <p:spPr>
          <a:xfrm>
            <a:off x="4247964" y="2600524"/>
            <a:ext cx="396044" cy="6856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145D5916-2A95-4BDA-A520-9163D835260F}"/>
              </a:ext>
            </a:extLst>
          </p:cNvPr>
          <p:cNvCxnSpPr>
            <a:stCxn id="7" idx="2"/>
            <a:endCxn id="34" idx="0"/>
          </p:cNvCxnSpPr>
          <p:nvPr/>
        </p:nvCxnSpPr>
        <p:spPr>
          <a:xfrm>
            <a:off x="4247964" y="2600524"/>
            <a:ext cx="2412268" cy="6797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7DF1F89D-55DE-4A77-8F95-6C3EBB692253}"/>
              </a:ext>
            </a:extLst>
          </p:cNvPr>
          <p:cNvCxnSpPr>
            <a:cxnSpLocks/>
            <a:stCxn id="27" idx="2"/>
            <a:endCxn id="31" idx="0"/>
          </p:cNvCxnSpPr>
          <p:nvPr/>
        </p:nvCxnSpPr>
        <p:spPr>
          <a:xfrm>
            <a:off x="2771800" y="3799554"/>
            <a:ext cx="1800200" cy="762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80A97F88-A336-41C1-8BE4-4245F36A5F8A}"/>
              </a:ext>
            </a:extLst>
          </p:cNvPr>
          <p:cNvCxnSpPr>
            <a:cxnSpLocks/>
            <a:stCxn id="32" idx="2"/>
            <a:endCxn id="31" idx="0"/>
          </p:cNvCxnSpPr>
          <p:nvPr/>
        </p:nvCxnSpPr>
        <p:spPr>
          <a:xfrm flipH="1">
            <a:off x="4572000" y="3809387"/>
            <a:ext cx="72008" cy="7525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714D6F3F-5F89-4C8C-B35E-B22FD0E38B86}"/>
              </a:ext>
            </a:extLst>
          </p:cNvPr>
          <p:cNvCxnSpPr>
            <a:cxnSpLocks/>
            <a:stCxn id="34" idx="2"/>
            <a:endCxn id="31" idx="0"/>
          </p:cNvCxnSpPr>
          <p:nvPr/>
        </p:nvCxnSpPr>
        <p:spPr>
          <a:xfrm flipH="1">
            <a:off x="4572000" y="3803474"/>
            <a:ext cx="2088232" cy="7584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943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9" grpId="0"/>
      <p:bldP spid="31" grpId="0" animBg="1"/>
      <p:bldP spid="27" grpId="0" animBg="1"/>
      <p:bldP spid="32" grpId="0" animBg="1"/>
      <p:bldP spid="3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F77FD47-C621-408B-B944-55AED59438E9}"/>
              </a:ext>
            </a:extLst>
          </p:cNvPr>
          <p:cNvSpPr>
            <a:spLocks noGrp="1"/>
          </p:cNvSpPr>
          <p:nvPr>
            <p:ph type="sldNum" sz="quarter" idx="12"/>
          </p:nvPr>
        </p:nvSpPr>
        <p:spPr/>
        <p:txBody>
          <a:bodyPr/>
          <a:lstStyle/>
          <a:p>
            <a:fld id="{2BC99F66-008B-4912-B721-8943319F59B7}" type="slidenum">
              <a:rPr lang="en-US" altLang="en-US" smtClean="0"/>
              <a:pPr/>
              <a:t>26</a:t>
            </a:fld>
            <a:endParaRPr lang="en-US" altLang="en-US"/>
          </a:p>
        </p:txBody>
      </p:sp>
      <p:sp>
        <p:nvSpPr>
          <p:cNvPr id="5" name="CuadroTexto 4">
            <a:extLst>
              <a:ext uri="{FF2B5EF4-FFF2-40B4-BE49-F238E27FC236}">
                <a16:creationId xmlns:a16="http://schemas.microsoft.com/office/drawing/2014/main" id="{39B6AE2A-2BCD-4BD5-B58E-F90F8F023897}"/>
              </a:ext>
            </a:extLst>
          </p:cNvPr>
          <p:cNvSpPr txBox="1"/>
          <p:nvPr/>
        </p:nvSpPr>
        <p:spPr>
          <a:xfrm>
            <a:off x="395536" y="323364"/>
            <a:ext cx="6984776" cy="369332"/>
          </a:xfrm>
          <a:prstGeom prst="rect">
            <a:avLst/>
          </a:prstGeom>
          <a:noFill/>
        </p:spPr>
        <p:txBody>
          <a:bodyPr wrap="square" rtlCol="0">
            <a:spAutoFit/>
          </a:bodyPr>
          <a:lstStyle/>
          <a:p>
            <a:r>
              <a:rPr lang="es-ES" b="1" dirty="0"/>
              <a:t>Paralelización en </a:t>
            </a:r>
            <a:r>
              <a:rPr lang="es-ES" b="1" dirty="0" err="1"/>
              <a:t>GPUs</a:t>
            </a:r>
            <a:endParaRPr lang="es-ES" b="1" dirty="0"/>
          </a:p>
        </p:txBody>
      </p:sp>
      <p:sp>
        <p:nvSpPr>
          <p:cNvPr id="6" name="CuadroTexto 5">
            <a:extLst>
              <a:ext uri="{FF2B5EF4-FFF2-40B4-BE49-F238E27FC236}">
                <a16:creationId xmlns:a16="http://schemas.microsoft.com/office/drawing/2014/main" id="{B824A720-61E8-431F-9C13-D1280A070D56}"/>
              </a:ext>
            </a:extLst>
          </p:cNvPr>
          <p:cNvSpPr txBox="1"/>
          <p:nvPr/>
        </p:nvSpPr>
        <p:spPr>
          <a:xfrm>
            <a:off x="592889" y="791008"/>
            <a:ext cx="4126414" cy="1231106"/>
          </a:xfrm>
          <a:prstGeom prst="rect">
            <a:avLst/>
          </a:prstGeom>
          <a:noFill/>
        </p:spPr>
        <p:txBody>
          <a:bodyPr wrap="square" rtlCol="0">
            <a:spAutoFit/>
          </a:bodyPr>
          <a:lstStyle/>
          <a:p>
            <a:pPr marL="285750" indent="-285750" algn="just">
              <a:buFont typeface="Arial" panose="020B0604020202020204" pitchFamily="34" charset="0"/>
              <a:buChar char="•"/>
            </a:pPr>
            <a:r>
              <a:rPr lang="es-ES" sz="2000" dirty="0"/>
              <a:t>GPU en la lista top500</a:t>
            </a:r>
          </a:p>
          <a:p>
            <a:pPr marL="742950" lvl="1" indent="-285750" algn="just">
              <a:buFont typeface="Arial" panose="020B0604020202020204" pitchFamily="34" charset="0"/>
              <a:buChar char="•"/>
            </a:pPr>
            <a:r>
              <a:rPr lang="es-ES" sz="2000" dirty="0"/>
              <a:t>En 2010: 2%</a:t>
            </a:r>
          </a:p>
          <a:p>
            <a:pPr marL="742950" lvl="1" indent="-285750" algn="just">
              <a:buFont typeface="Arial" panose="020B0604020202020204" pitchFamily="34" charset="0"/>
              <a:buChar char="•"/>
            </a:pPr>
            <a:r>
              <a:rPr lang="es-ES" sz="2000" dirty="0"/>
              <a:t>En 2023: 37%</a:t>
            </a:r>
          </a:p>
          <a:p>
            <a:pPr marL="285750" indent="-285750" algn="just">
              <a:buFont typeface="Arial" panose="020B0604020202020204" pitchFamily="34" charset="0"/>
              <a:buChar char="•"/>
            </a:pPr>
            <a:endParaRPr lang="es-ES" sz="1400" b="1" dirty="0"/>
          </a:p>
        </p:txBody>
      </p:sp>
      <p:pic>
        <p:nvPicPr>
          <p:cNvPr id="11" name="Imagen 10">
            <a:extLst>
              <a:ext uri="{FF2B5EF4-FFF2-40B4-BE49-F238E27FC236}">
                <a16:creationId xmlns:a16="http://schemas.microsoft.com/office/drawing/2014/main" id="{9B314C83-6F42-4F54-9B15-0B0658DDE9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1502" y="326889"/>
            <a:ext cx="3702906" cy="1859503"/>
          </a:xfrm>
          <a:prstGeom prst="rect">
            <a:avLst/>
          </a:prstGeom>
        </p:spPr>
      </p:pic>
      <p:sp>
        <p:nvSpPr>
          <p:cNvPr id="12" name="CuadroTexto 11">
            <a:extLst>
              <a:ext uri="{FF2B5EF4-FFF2-40B4-BE49-F238E27FC236}">
                <a16:creationId xmlns:a16="http://schemas.microsoft.com/office/drawing/2014/main" id="{F4145218-338C-4BFB-8540-817C31F8157D}"/>
              </a:ext>
            </a:extLst>
          </p:cNvPr>
          <p:cNvSpPr txBox="1"/>
          <p:nvPr/>
        </p:nvSpPr>
        <p:spPr>
          <a:xfrm>
            <a:off x="240680" y="2573207"/>
            <a:ext cx="8662639" cy="523220"/>
          </a:xfrm>
          <a:prstGeom prst="rect">
            <a:avLst/>
          </a:prstGeom>
          <a:noFill/>
        </p:spPr>
        <p:txBody>
          <a:bodyPr wrap="square" rtlCol="0">
            <a:spAutoFit/>
          </a:bodyPr>
          <a:lstStyle/>
          <a:p>
            <a:pPr marL="285750" indent="-285750" algn="just">
              <a:buFont typeface="Arial" panose="020B0604020202020204" pitchFamily="34" charset="0"/>
              <a:buChar char="•"/>
            </a:pPr>
            <a:r>
              <a:rPr lang="es-ES" sz="1400" dirty="0"/>
              <a:t>Las </a:t>
            </a:r>
            <a:r>
              <a:rPr lang="es-ES" sz="1400" dirty="0" err="1"/>
              <a:t>GPUs</a:t>
            </a:r>
            <a:r>
              <a:rPr lang="es-ES" sz="1400" dirty="0"/>
              <a:t> están diseñadas para realizar cálculos intensivos y altamente </a:t>
            </a:r>
            <a:r>
              <a:rPr lang="es-ES" sz="1400" dirty="0" err="1"/>
              <a:t>paralelizables</a:t>
            </a:r>
            <a:r>
              <a:rPr lang="es-ES" sz="1400" dirty="0"/>
              <a:t> para procesar gráficos. Diseñadas para procesar datos. Esto les da ventaja en cálculos numéricos frente a las </a:t>
            </a:r>
            <a:r>
              <a:rPr lang="es-ES" sz="1400" dirty="0" err="1"/>
              <a:t>CPUs</a:t>
            </a:r>
            <a:r>
              <a:rPr lang="es-ES" sz="1400" dirty="0"/>
              <a:t>.</a:t>
            </a:r>
            <a:endParaRPr lang="es-ES" dirty="0"/>
          </a:p>
        </p:txBody>
      </p:sp>
      <p:sp>
        <p:nvSpPr>
          <p:cNvPr id="13" name="CuadroTexto 12">
            <a:extLst>
              <a:ext uri="{FF2B5EF4-FFF2-40B4-BE49-F238E27FC236}">
                <a16:creationId xmlns:a16="http://schemas.microsoft.com/office/drawing/2014/main" id="{5D268906-F409-462E-B206-191D43A4404D}"/>
              </a:ext>
            </a:extLst>
          </p:cNvPr>
          <p:cNvSpPr txBox="1"/>
          <p:nvPr/>
        </p:nvSpPr>
        <p:spPr>
          <a:xfrm>
            <a:off x="240680" y="3284984"/>
            <a:ext cx="8517119" cy="523220"/>
          </a:xfrm>
          <a:prstGeom prst="rect">
            <a:avLst/>
          </a:prstGeom>
          <a:noFill/>
        </p:spPr>
        <p:txBody>
          <a:bodyPr wrap="square" rtlCol="0">
            <a:spAutoFit/>
          </a:bodyPr>
          <a:lstStyle/>
          <a:p>
            <a:pPr marL="285750" indent="-285750" algn="just">
              <a:buFont typeface="Arial" panose="020B0604020202020204" pitchFamily="34" charset="0"/>
              <a:buChar char="•"/>
            </a:pPr>
            <a:r>
              <a:rPr lang="es-ES" sz="1400" dirty="0"/>
              <a:t>Las </a:t>
            </a:r>
            <a:r>
              <a:rPr lang="es-ES" sz="1400" dirty="0" err="1"/>
              <a:t>GPUs</a:t>
            </a:r>
            <a:r>
              <a:rPr lang="es-ES" sz="1400" dirty="0"/>
              <a:t> ejecutan el mismo programa sobre los datos en una forma altamente paralela. Hay una relación alta entre la operaciones realizadas y los accesos a memoria.</a:t>
            </a:r>
            <a:endParaRPr lang="es-ES" dirty="0"/>
          </a:p>
        </p:txBody>
      </p:sp>
      <p:sp>
        <p:nvSpPr>
          <p:cNvPr id="17" name="CuadroTexto 16">
            <a:extLst>
              <a:ext uri="{FF2B5EF4-FFF2-40B4-BE49-F238E27FC236}">
                <a16:creationId xmlns:a16="http://schemas.microsoft.com/office/drawing/2014/main" id="{9BCC10CD-4747-423C-B65A-2F5234F77CE3}"/>
              </a:ext>
            </a:extLst>
          </p:cNvPr>
          <p:cNvSpPr txBox="1"/>
          <p:nvPr/>
        </p:nvSpPr>
        <p:spPr>
          <a:xfrm>
            <a:off x="240679" y="3913311"/>
            <a:ext cx="8662639" cy="307777"/>
          </a:xfrm>
          <a:prstGeom prst="rect">
            <a:avLst/>
          </a:prstGeom>
          <a:noFill/>
        </p:spPr>
        <p:txBody>
          <a:bodyPr wrap="square" rtlCol="0">
            <a:spAutoFit/>
          </a:bodyPr>
          <a:lstStyle/>
          <a:p>
            <a:pPr marL="285750" indent="-285750" algn="just">
              <a:buFont typeface="Arial" panose="020B0604020202020204" pitchFamily="34" charset="0"/>
              <a:buChar char="•"/>
            </a:pPr>
            <a:r>
              <a:rPr lang="es-ES" sz="1400" dirty="0"/>
              <a:t>Mapeo de los datos en miles de hilos (</a:t>
            </a:r>
            <a:r>
              <a:rPr lang="es-ES" sz="1400" dirty="0" err="1"/>
              <a:t>threads</a:t>
            </a:r>
            <a:r>
              <a:rPr lang="es-ES" sz="1400" dirty="0"/>
              <a:t>) en paralelo sobre los que se ejecuta el mismo programa.</a:t>
            </a:r>
          </a:p>
        </p:txBody>
      </p:sp>
      <p:sp>
        <p:nvSpPr>
          <p:cNvPr id="18" name="CuadroTexto 17">
            <a:extLst>
              <a:ext uri="{FF2B5EF4-FFF2-40B4-BE49-F238E27FC236}">
                <a16:creationId xmlns:a16="http://schemas.microsoft.com/office/drawing/2014/main" id="{1BB1648B-ADC4-4DC2-9E4C-C3DE20FCDC3E}"/>
              </a:ext>
            </a:extLst>
          </p:cNvPr>
          <p:cNvSpPr txBox="1"/>
          <p:nvPr/>
        </p:nvSpPr>
        <p:spPr>
          <a:xfrm>
            <a:off x="4463048" y="2144719"/>
            <a:ext cx="1872208" cy="523220"/>
          </a:xfrm>
          <a:prstGeom prst="rect">
            <a:avLst/>
          </a:prstGeom>
          <a:noFill/>
        </p:spPr>
        <p:txBody>
          <a:bodyPr wrap="square" rtlCol="0">
            <a:spAutoFit/>
          </a:bodyPr>
          <a:lstStyle/>
          <a:p>
            <a:pPr algn="ctr"/>
            <a:r>
              <a:rPr lang="es-ES" sz="1400" b="1" dirty="0"/>
              <a:t>CPU </a:t>
            </a:r>
            <a:r>
              <a:rPr lang="es-ES" sz="1400" b="1" dirty="0" err="1"/>
              <a:t>Multiple</a:t>
            </a:r>
            <a:r>
              <a:rPr lang="es-ES" sz="1400" b="1" dirty="0"/>
              <a:t> Cores</a:t>
            </a:r>
          </a:p>
          <a:p>
            <a:pPr marL="285750" indent="-285750" algn="ctr">
              <a:buFont typeface="Arial" panose="020B0604020202020204" pitchFamily="34" charset="0"/>
              <a:buChar char="•"/>
            </a:pPr>
            <a:endParaRPr lang="es-ES" sz="1400" b="1" dirty="0"/>
          </a:p>
        </p:txBody>
      </p:sp>
      <p:sp>
        <p:nvSpPr>
          <p:cNvPr id="19" name="CuadroTexto 18">
            <a:extLst>
              <a:ext uri="{FF2B5EF4-FFF2-40B4-BE49-F238E27FC236}">
                <a16:creationId xmlns:a16="http://schemas.microsoft.com/office/drawing/2014/main" id="{7B6DFFD7-DEE6-4FCB-B0D9-0FECDBDB4E70}"/>
              </a:ext>
            </a:extLst>
          </p:cNvPr>
          <p:cNvSpPr txBox="1"/>
          <p:nvPr/>
        </p:nvSpPr>
        <p:spPr>
          <a:xfrm>
            <a:off x="6156176" y="2148756"/>
            <a:ext cx="2520280" cy="523220"/>
          </a:xfrm>
          <a:prstGeom prst="rect">
            <a:avLst/>
          </a:prstGeom>
          <a:noFill/>
        </p:spPr>
        <p:txBody>
          <a:bodyPr wrap="square" rtlCol="0">
            <a:spAutoFit/>
          </a:bodyPr>
          <a:lstStyle/>
          <a:p>
            <a:pPr algn="ctr"/>
            <a:r>
              <a:rPr lang="es-ES" sz="1400" b="1" dirty="0"/>
              <a:t>GPU </a:t>
            </a:r>
            <a:r>
              <a:rPr lang="es-ES" sz="1400" b="1" dirty="0" err="1"/>
              <a:t>Thousands</a:t>
            </a:r>
            <a:r>
              <a:rPr lang="es-ES" sz="1400" b="1" dirty="0"/>
              <a:t> </a:t>
            </a:r>
            <a:r>
              <a:rPr lang="es-ES" sz="1400" b="1" dirty="0" err="1"/>
              <a:t>of</a:t>
            </a:r>
            <a:r>
              <a:rPr lang="es-ES" sz="1400" b="1" dirty="0"/>
              <a:t> Cores</a:t>
            </a:r>
          </a:p>
          <a:p>
            <a:pPr marL="285750" indent="-285750" algn="ctr">
              <a:buFont typeface="Arial" panose="020B0604020202020204" pitchFamily="34" charset="0"/>
              <a:buChar char="•"/>
            </a:pPr>
            <a:endParaRPr lang="es-ES" sz="1400" b="1" dirty="0"/>
          </a:p>
        </p:txBody>
      </p:sp>
      <p:sp>
        <p:nvSpPr>
          <p:cNvPr id="20" name="CuadroTexto 19">
            <a:extLst>
              <a:ext uri="{FF2B5EF4-FFF2-40B4-BE49-F238E27FC236}">
                <a16:creationId xmlns:a16="http://schemas.microsoft.com/office/drawing/2014/main" id="{5D7EFE2C-B47F-4918-8865-0BBAFECDEA55}"/>
              </a:ext>
            </a:extLst>
          </p:cNvPr>
          <p:cNvSpPr txBox="1"/>
          <p:nvPr/>
        </p:nvSpPr>
        <p:spPr>
          <a:xfrm>
            <a:off x="240679" y="4417367"/>
            <a:ext cx="8662639" cy="1600438"/>
          </a:xfrm>
          <a:prstGeom prst="rect">
            <a:avLst/>
          </a:prstGeom>
          <a:noFill/>
        </p:spPr>
        <p:txBody>
          <a:bodyPr wrap="square" rtlCol="0">
            <a:spAutoFit/>
          </a:bodyPr>
          <a:lstStyle/>
          <a:p>
            <a:pPr marL="285750" indent="-285750" algn="just">
              <a:buFont typeface="Arial" panose="020B0604020202020204" pitchFamily="34" charset="0"/>
              <a:buChar char="•"/>
            </a:pPr>
            <a:r>
              <a:rPr lang="es-ES" sz="1400" dirty="0"/>
              <a:t>Un programa en </a:t>
            </a:r>
            <a:r>
              <a:rPr lang="es-ES" sz="1400" dirty="0" err="1"/>
              <a:t>GPUs</a:t>
            </a:r>
            <a:r>
              <a:rPr lang="es-ES" sz="1400" dirty="0"/>
              <a:t> requiere dos partes:</a:t>
            </a:r>
          </a:p>
          <a:p>
            <a:pPr marL="285750" indent="-285750" algn="just">
              <a:buFont typeface="Arial" panose="020B0604020202020204" pitchFamily="34" charset="0"/>
              <a:buChar char="•"/>
            </a:pPr>
            <a:endParaRPr lang="es-ES" sz="1400" dirty="0"/>
          </a:p>
          <a:p>
            <a:pPr marL="742950" lvl="1" indent="-285750" algn="just">
              <a:buFont typeface="Arial" panose="020B0604020202020204" pitchFamily="34" charset="0"/>
              <a:buChar char="•"/>
            </a:pPr>
            <a:r>
              <a:rPr lang="es-ES" sz="1400" b="1" dirty="0"/>
              <a:t>Código Host</a:t>
            </a:r>
            <a:r>
              <a:rPr lang="es-ES" sz="1400" dirty="0"/>
              <a:t> que se ejecuta en la CPU</a:t>
            </a:r>
          </a:p>
          <a:p>
            <a:pPr marL="742950" lvl="1" indent="-285750" algn="just">
              <a:buFont typeface="Arial" panose="020B0604020202020204" pitchFamily="34" charset="0"/>
              <a:buChar char="•"/>
            </a:pPr>
            <a:r>
              <a:rPr lang="es-ES" sz="1400" b="1" dirty="0" err="1"/>
              <a:t>Kernels</a:t>
            </a:r>
            <a:r>
              <a:rPr lang="es-ES" sz="1400" dirty="0"/>
              <a:t> que se ejecutan en la GPU</a:t>
            </a:r>
          </a:p>
          <a:p>
            <a:pPr marL="742950" lvl="1" indent="-285750" algn="just">
              <a:buFont typeface="Arial" panose="020B0604020202020204" pitchFamily="34" charset="0"/>
              <a:buChar char="•"/>
            </a:pPr>
            <a:endParaRPr lang="es-ES" sz="1400" dirty="0"/>
          </a:p>
          <a:p>
            <a:pPr marL="285750" indent="-285750" algn="just">
              <a:buFont typeface="Arial" panose="020B0604020202020204" pitchFamily="34" charset="0"/>
              <a:buChar char="•"/>
            </a:pPr>
            <a:r>
              <a:rPr lang="es-ES" sz="1400" dirty="0"/>
              <a:t>Por lo general, la porción del programa en la CPU se usa para inicializar parámetros y datos, mientras que los </a:t>
            </a:r>
            <a:r>
              <a:rPr lang="es-ES" sz="1400" dirty="0" err="1"/>
              <a:t>kernels</a:t>
            </a:r>
            <a:r>
              <a:rPr lang="es-ES" sz="1400" dirty="0"/>
              <a:t> hacen el calculo intensivo</a:t>
            </a:r>
          </a:p>
        </p:txBody>
      </p:sp>
    </p:spTree>
    <p:extLst>
      <p:ext uri="{BB962C8B-B14F-4D97-AF65-F5344CB8AC3E}">
        <p14:creationId xmlns:p14="http://schemas.microsoft.com/office/powerpoint/2010/main" val="66403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7" grpId="0"/>
      <p:bldP spid="18" grpId="0"/>
      <p:bldP spid="19" grpId="0"/>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F77FD47-C621-408B-B944-55AED59438E9}"/>
              </a:ext>
            </a:extLst>
          </p:cNvPr>
          <p:cNvSpPr>
            <a:spLocks noGrp="1"/>
          </p:cNvSpPr>
          <p:nvPr>
            <p:ph type="sldNum" sz="quarter" idx="12"/>
          </p:nvPr>
        </p:nvSpPr>
        <p:spPr/>
        <p:txBody>
          <a:bodyPr/>
          <a:lstStyle/>
          <a:p>
            <a:fld id="{2BC99F66-008B-4912-B721-8943319F59B7}" type="slidenum">
              <a:rPr lang="en-US" altLang="en-US" smtClean="0"/>
              <a:pPr/>
              <a:t>27</a:t>
            </a:fld>
            <a:endParaRPr lang="en-US" altLang="en-US"/>
          </a:p>
        </p:txBody>
      </p:sp>
      <p:pic>
        <p:nvPicPr>
          <p:cNvPr id="5" name="Imagen 4">
            <a:extLst>
              <a:ext uri="{FF2B5EF4-FFF2-40B4-BE49-F238E27FC236}">
                <a16:creationId xmlns:a16="http://schemas.microsoft.com/office/drawing/2014/main" id="{14A01C96-743D-4AE4-BAB3-DBF5541753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894" y="795813"/>
            <a:ext cx="8022212" cy="4651623"/>
          </a:xfrm>
          <a:prstGeom prst="rect">
            <a:avLst/>
          </a:prstGeom>
        </p:spPr>
      </p:pic>
      <p:sp>
        <p:nvSpPr>
          <p:cNvPr id="6" name="Rectángulo 5">
            <a:extLst>
              <a:ext uri="{FF2B5EF4-FFF2-40B4-BE49-F238E27FC236}">
                <a16:creationId xmlns:a16="http://schemas.microsoft.com/office/drawing/2014/main" id="{8FA6CC33-E133-45A4-89E8-E451571D7844}"/>
              </a:ext>
            </a:extLst>
          </p:cNvPr>
          <p:cNvSpPr/>
          <p:nvPr/>
        </p:nvSpPr>
        <p:spPr>
          <a:xfrm>
            <a:off x="2411760" y="5476582"/>
            <a:ext cx="4572000" cy="369332"/>
          </a:xfrm>
          <a:prstGeom prst="rect">
            <a:avLst/>
          </a:prstGeom>
        </p:spPr>
        <p:txBody>
          <a:bodyPr>
            <a:spAutoFit/>
          </a:bodyPr>
          <a:lstStyle/>
          <a:p>
            <a:pPr algn="ctr"/>
            <a:r>
              <a:rPr lang="es-ES" b="1" dirty="0" err="1">
                <a:solidFill>
                  <a:srgbClr val="0F0F0F"/>
                </a:solidFill>
                <a:latin typeface="YouTube Sans"/>
                <a:hlinkClick r:id="rId3"/>
              </a:rPr>
              <a:t>Mythbusters</a:t>
            </a:r>
            <a:r>
              <a:rPr lang="es-ES" b="1" dirty="0">
                <a:solidFill>
                  <a:srgbClr val="0F0F0F"/>
                </a:solidFill>
                <a:latin typeface="YouTube Sans"/>
                <a:hlinkClick r:id="rId3"/>
              </a:rPr>
              <a:t> Demo GPU versus CPU</a:t>
            </a:r>
            <a:endParaRPr lang="en-US" dirty="0"/>
          </a:p>
        </p:txBody>
      </p:sp>
    </p:spTree>
    <p:extLst>
      <p:ext uri="{BB962C8B-B14F-4D97-AF65-F5344CB8AC3E}">
        <p14:creationId xmlns:p14="http://schemas.microsoft.com/office/powerpoint/2010/main" val="36242076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485608" y="2130241"/>
            <a:ext cx="8229600" cy="938719"/>
          </a:xfrm>
          <a:prstGeom prst="rect">
            <a:avLst/>
          </a:prstGeom>
          <a:noFill/>
          <a:ln>
            <a:noFill/>
          </a:ln>
        </p:spPr>
        <p:txBody>
          <a:bodyPr wrap="square" rtlCol="0">
            <a:spAutoFit/>
          </a:bodyPr>
          <a:lstStyle/>
          <a:p>
            <a:pPr marL="355600" indent="-355600" algn="ctr">
              <a:lnSpc>
                <a:spcPct val="150000"/>
              </a:lnSpc>
            </a:pPr>
            <a:r>
              <a:rPr lang="es-ES" sz="4000" dirty="0" err="1">
                <a:solidFill>
                  <a:srgbClr val="FF0000"/>
                </a:solidFill>
                <a:latin typeface="Lucida Calligraphy" pitchFamily="66" charset="0"/>
              </a:rPr>
              <a:t>Questions</a:t>
            </a:r>
            <a:r>
              <a:rPr lang="es-ES" sz="4000" dirty="0">
                <a:solidFill>
                  <a:srgbClr val="FF0000"/>
                </a:solidFill>
                <a:latin typeface="Lucida Calligraphy" pitchFamily="66" charset="0"/>
              </a:rPr>
              <a:t>???</a:t>
            </a:r>
          </a:p>
        </p:txBody>
      </p:sp>
      <p:sp>
        <p:nvSpPr>
          <p:cNvPr id="2" name="1 Marcador de número de diapositiva"/>
          <p:cNvSpPr>
            <a:spLocks noGrp="1"/>
          </p:cNvSpPr>
          <p:nvPr>
            <p:ph type="sldNum" sz="quarter" idx="12"/>
          </p:nvPr>
        </p:nvSpPr>
        <p:spPr/>
        <p:txBody>
          <a:bodyPr/>
          <a:lstStyle/>
          <a:p>
            <a:fld id="{CA547DB1-849F-43E5-A840-F39FE04B29C2}" type="slidenum">
              <a:rPr lang="en-US" altLang="en-US" smtClean="0"/>
              <a:pPr/>
              <a:t>28</a:t>
            </a:fld>
            <a:endParaRPr lang="en-US" altLang="en-US"/>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3768" y="3357903"/>
            <a:ext cx="4524375" cy="2686050"/>
          </a:xfrm>
          <a:prstGeom prst="rect">
            <a:avLst/>
          </a:prstGeom>
        </p:spPr>
      </p:pic>
      <p:pic>
        <p:nvPicPr>
          <p:cNvPr id="6" name="Imagen 5">
            <a:extLst>
              <a:ext uri="{FF2B5EF4-FFF2-40B4-BE49-F238E27FC236}">
                <a16:creationId xmlns:a16="http://schemas.microsoft.com/office/drawing/2014/main" id="{C2A7CBFD-7DED-40EB-A035-D15B0AA4A0DA}"/>
              </a:ext>
            </a:extLst>
          </p:cNvPr>
          <p:cNvPicPr>
            <a:picLocks noChangeAspect="1"/>
          </p:cNvPicPr>
          <p:nvPr/>
        </p:nvPicPr>
        <p:blipFill>
          <a:blip r:embed="rId4"/>
          <a:stretch>
            <a:fillRect/>
          </a:stretch>
        </p:blipFill>
        <p:spPr>
          <a:xfrm>
            <a:off x="2609442" y="541193"/>
            <a:ext cx="3925116" cy="1553832"/>
          </a:xfrm>
          <a:prstGeom prst="rect">
            <a:avLst/>
          </a:prstGeom>
        </p:spPr>
      </p:pic>
    </p:spTree>
    <p:extLst>
      <p:ext uri="{BB962C8B-B14F-4D97-AF65-F5344CB8AC3E}">
        <p14:creationId xmlns:p14="http://schemas.microsoft.com/office/powerpoint/2010/main" val="4212053599"/>
      </p:ext>
    </p:extLst>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86729</TotalTime>
  <Words>2245</Words>
  <Application>Microsoft Office PowerPoint</Application>
  <PresentationFormat>Presentación en pantalla (4:3)</PresentationFormat>
  <Paragraphs>336</Paragraphs>
  <Slides>28</Slides>
  <Notes>1</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28</vt:i4>
      </vt:variant>
    </vt:vector>
  </HeadingPairs>
  <TitlesOfParts>
    <vt:vector size="38" baseType="lpstr">
      <vt:lpstr>Arial</vt:lpstr>
      <vt:lpstr>Book Antiqua</vt:lpstr>
      <vt:lpstr>Century Schoolbook</vt:lpstr>
      <vt:lpstr>Garamond</vt:lpstr>
      <vt:lpstr>Lucida Calligraphy</vt:lpstr>
      <vt:lpstr>Sylfaen</vt:lpstr>
      <vt:lpstr>Symbol</vt:lpstr>
      <vt:lpstr>Wingdings</vt:lpstr>
      <vt:lpstr>YouTube Sans</vt:lpstr>
      <vt:lpstr>Edge</vt:lpstr>
      <vt:lpstr>Conceptos de Paralelización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Nano Mechanics and Materials: Theory, Multiscale Methods and Applications</dc:title>
  <dc:creator>admin</dc:creator>
  <cp:lastModifiedBy>Javi Ramos</cp:lastModifiedBy>
  <cp:revision>1496</cp:revision>
  <cp:lastPrinted>2021-02-17T15:03:03Z</cp:lastPrinted>
  <dcterms:created xsi:type="dcterms:W3CDTF">2005-09-13T17:27:53Z</dcterms:created>
  <dcterms:modified xsi:type="dcterms:W3CDTF">2025-11-02T15:31:22Z</dcterms:modified>
</cp:coreProperties>
</file>