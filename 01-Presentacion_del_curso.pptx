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3" r:id="rId1"/>
  </p:sldMasterIdLst>
  <p:notesMasterIdLst>
    <p:notesMasterId r:id="rId8"/>
  </p:notesMasterIdLst>
  <p:sldIdLst>
    <p:sldId id="262" r:id="rId2"/>
    <p:sldId id="600" r:id="rId3"/>
    <p:sldId id="603" r:id="rId4"/>
    <p:sldId id="335" r:id="rId5"/>
    <p:sldId id="616" r:id="rId6"/>
    <p:sldId id="325" r:id="rId7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460EE0EB-FA74-429F-9AC2-829A76C0C7B7}">
          <p14:sldIdLst>
            <p14:sldId id="262"/>
            <p14:sldId id="600"/>
            <p14:sldId id="603"/>
            <p14:sldId id="335"/>
            <p14:sldId id="616"/>
            <p14:sldId id="325"/>
          </p14:sldIdLst>
        </p14:section>
        <p14:section name="Sección sin título" id="{EFF78069-CBAE-4BDE-AF7F-5BFB358FBAA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7BED"/>
    <a:srgbClr val="6B76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7" autoAdjust="0"/>
    <p:restoredTop sz="95801" autoAdjust="0"/>
  </p:normalViewPr>
  <p:slideViewPr>
    <p:cSldViewPr snapToGrid="0">
      <p:cViewPr varScale="1">
        <p:scale>
          <a:sx n="142" d="100"/>
          <a:sy n="142" d="100"/>
        </p:scale>
        <p:origin x="222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04E0F-DD76-4372-9411-7CE35BF1E7D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64EAF-91C5-4C0B-BF30-831303DC94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47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32C8-69A7-458B-9684-2BFA64B31948}" type="datetime2">
              <a:rPr lang="en-US" smtClean="0"/>
              <a:t>Thursday, October 30,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EBD15-954F-45E6-A1AD-87447106F0E9}" type="datetimeFigureOut">
              <a:rPr lang="es-ES" smtClean="0"/>
              <a:t>30/10/2025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F51B-1ADD-4A97-B174-BF0CF3B03E89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D019-A32C-4EAD-B8E6-DBDA699692FD}" type="datetime2">
              <a:rPr lang="en-US" smtClean="0"/>
              <a:t>Thursday, October 30,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EBD15-954F-45E6-A1AD-87447106F0E9}" type="datetimeFigureOut">
              <a:rPr lang="es-ES" smtClean="0"/>
              <a:t>30/10/2025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F51B-1ADD-4A97-B174-BF0CF3B03E89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EBD15-954F-45E6-A1AD-87447106F0E9}" type="datetimeFigureOut">
              <a:rPr lang="es-ES" smtClean="0"/>
              <a:t>30/10/2025</a:t>
            </a:fld>
            <a:endParaRPr lang="es-E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F51B-1ADD-4A97-B174-BF0CF3B03E89}" type="slidenum">
              <a:rPr lang="es-ES" smtClean="0"/>
              <a:t>‹Nº›</a:t>
            </a:fld>
            <a:endParaRPr lang="es-E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EBD15-954F-45E6-A1AD-87447106F0E9}" type="datetimeFigureOut">
              <a:rPr lang="es-ES" smtClean="0"/>
              <a:t>30/10/2025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F51B-1ADD-4A97-B174-BF0CF3B03E89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EBD15-954F-45E6-A1AD-87447106F0E9}" type="datetimeFigureOut">
              <a:rPr lang="es-ES" smtClean="0"/>
              <a:t>30/10/2025</a:t>
            </a:fld>
            <a:endParaRPr lang="es-E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F51B-1ADD-4A97-B174-BF0CF3B03E89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EBD15-954F-45E6-A1AD-87447106F0E9}" type="datetimeFigureOut">
              <a:rPr lang="es-ES" smtClean="0"/>
              <a:t>30/10/2025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F51B-1ADD-4A97-B174-BF0CF3B03E89}" type="slidenum">
              <a:rPr lang="es-ES" smtClean="0"/>
              <a:t>‹Nº›</a:t>
            </a:fld>
            <a:endParaRPr lang="es-E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 dirty="0"/>
              <a:t>Arrastre la imagen al marcador de posición o haga clic en el icono para agregar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EBD15-954F-45E6-A1AD-87447106F0E9}" type="datetimeFigureOut">
              <a:rPr lang="es-ES" smtClean="0"/>
              <a:t>30/10/2025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F51B-1ADD-4A97-B174-BF0CF3B03E89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EBD15-954F-45E6-A1AD-87447106F0E9}" type="datetimeFigureOut">
              <a:rPr lang="es-ES" smtClean="0"/>
              <a:t>30/10/2025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F51B-1ADD-4A97-B174-BF0CF3B03E89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EBD15-954F-45E6-A1AD-87447106F0E9}" type="datetimeFigureOut">
              <a:rPr lang="es-ES" smtClean="0"/>
              <a:t>30/10/2025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7F51B-1ADD-4A97-B174-BF0CF3B03E89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E2AEBD15-954F-45E6-A1AD-87447106F0E9}" type="datetimeFigureOut">
              <a:rPr lang="es-ES" smtClean="0"/>
              <a:t>30/10/2025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F057F51B-1ADD-4A97-B174-BF0CF3B03E89}" type="slidenum">
              <a:rPr lang="es-ES" smtClean="0"/>
              <a:t>‹Nº›</a:t>
            </a:fld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075" r:id="rId2"/>
    <p:sldLayoutId id="2147484076" r:id="rId3"/>
    <p:sldLayoutId id="2147484077" r:id="rId4"/>
    <p:sldLayoutId id="2147484078" r:id="rId5"/>
    <p:sldLayoutId id="2147484079" r:id="rId6"/>
    <p:sldLayoutId id="2147484080" r:id="rId7"/>
    <p:sldLayoutId id="2147484081" r:id="rId8"/>
    <p:sldLayoutId id="2147484082" r:id="rId9"/>
    <p:sldLayoutId id="2147484083" r:id="rId10"/>
    <p:sldLayoutId id="2147484084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csic.es/es/investigacion/catalogo-de-servicios-cientifico-tecnico/unidades-de-servicio/fisica-macromolecular" TargetMode="Externa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2307180" y="1327203"/>
            <a:ext cx="67129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4000" dirty="0">
                <a:latin typeface="Arial Narrow"/>
                <a:cs typeface="Arial Narrow"/>
              </a:rPr>
              <a:t>Gabinete de Formación del CSIC: Taller de Supercomputación: Uso del Software en DRAGO</a:t>
            </a:r>
            <a:endParaRPr lang="es-ES" sz="4000" dirty="0">
              <a:solidFill>
                <a:schemeClr val="tx1">
                  <a:lumMod val="50000"/>
                  <a:lumOff val="50000"/>
                </a:schemeClr>
              </a:solidFill>
              <a:latin typeface="Arial Narrow"/>
              <a:cs typeface="Arial Narrow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2773305" y="3443332"/>
            <a:ext cx="5976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/>
                <a:cs typeface="Arial Narrow"/>
              </a:rPr>
              <a:t>Presentación del curso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13055DC-3167-448D-9CEE-3D724F2B1162}"/>
              </a:ext>
            </a:extLst>
          </p:cNvPr>
          <p:cNvSpPr/>
          <p:nvPr/>
        </p:nvSpPr>
        <p:spPr>
          <a:xfrm>
            <a:off x="3664182" y="5235219"/>
            <a:ext cx="4572000" cy="128650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 fontAlgn="base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</a:pPr>
            <a:r>
              <a:rPr lang="es-ES" sz="1200" b="1" dirty="0">
                <a:solidFill>
                  <a:srgbClr val="AC0000"/>
                </a:solidFill>
                <a:latin typeface="Century Schoolbook"/>
                <a:cs typeface="Arial"/>
              </a:rPr>
              <a:t>1. </a:t>
            </a:r>
            <a:r>
              <a:rPr lang="es-ES" sz="1200" b="1" dirty="0" err="1">
                <a:solidFill>
                  <a:srgbClr val="AC0000"/>
                </a:solidFill>
                <a:latin typeface="Century Schoolbook"/>
                <a:cs typeface="Arial"/>
              </a:rPr>
              <a:t>Biophysics</a:t>
            </a:r>
            <a:r>
              <a:rPr lang="es-ES" sz="1200" b="1" dirty="0">
                <a:solidFill>
                  <a:srgbClr val="AC0000"/>
                </a:solidFill>
                <a:latin typeface="Century Schoolbook"/>
                <a:cs typeface="Arial"/>
              </a:rPr>
              <a:t> </a:t>
            </a:r>
            <a:r>
              <a:rPr lang="es-ES" sz="1200" b="1" dirty="0" err="1">
                <a:solidFill>
                  <a:srgbClr val="AC0000"/>
                </a:solidFill>
                <a:latin typeface="Century Schoolbook"/>
                <a:cs typeface="Arial"/>
              </a:rPr>
              <a:t>of</a:t>
            </a:r>
            <a:r>
              <a:rPr lang="es-ES" sz="1200" b="1" dirty="0">
                <a:solidFill>
                  <a:srgbClr val="AC0000"/>
                </a:solidFill>
                <a:latin typeface="Century Schoolbook"/>
                <a:cs typeface="Arial"/>
              </a:rPr>
              <a:t> Macromolecular </a:t>
            </a:r>
            <a:r>
              <a:rPr lang="es-ES" sz="1200" b="1" dirty="0" err="1">
                <a:solidFill>
                  <a:srgbClr val="AC0000"/>
                </a:solidFill>
                <a:latin typeface="Century Schoolbook"/>
                <a:cs typeface="Arial"/>
              </a:rPr>
              <a:t>Systems</a:t>
            </a:r>
            <a:r>
              <a:rPr lang="es-ES" sz="1200" b="1" dirty="0">
                <a:solidFill>
                  <a:srgbClr val="AC0000"/>
                </a:solidFill>
                <a:latin typeface="Century Schoolbook"/>
                <a:cs typeface="Arial"/>
              </a:rPr>
              <a:t> </a:t>
            </a:r>
            <a:r>
              <a:rPr lang="es-ES" sz="1200" b="1" dirty="0" err="1">
                <a:solidFill>
                  <a:srgbClr val="AC0000"/>
                </a:solidFill>
                <a:latin typeface="Century Schoolbook"/>
                <a:cs typeface="Arial"/>
              </a:rPr>
              <a:t>group</a:t>
            </a:r>
            <a:r>
              <a:rPr lang="es-ES" sz="1200" b="1" dirty="0">
                <a:solidFill>
                  <a:srgbClr val="AC0000"/>
                </a:solidFill>
                <a:latin typeface="Century Schoolbook"/>
                <a:cs typeface="Arial"/>
              </a:rPr>
              <a:t> </a:t>
            </a:r>
          </a:p>
          <a:p>
            <a:pPr lvl="0" algn="ctr" fontAlgn="base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</a:pPr>
            <a:r>
              <a:rPr lang="es-ES" sz="1200" b="1" dirty="0">
                <a:solidFill>
                  <a:srgbClr val="AC0000"/>
                </a:solidFill>
                <a:latin typeface="Century Schoolbook"/>
                <a:cs typeface="Arial"/>
              </a:rPr>
              <a:t>(BIOPHYM)</a:t>
            </a:r>
          </a:p>
          <a:p>
            <a:pPr lvl="0" algn="ctr" fontAlgn="base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</a:pPr>
            <a:r>
              <a:rPr lang="es-ES" sz="1200" b="1" dirty="0">
                <a:solidFill>
                  <a:srgbClr val="AC0000"/>
                </a:solidFill>
                <a:latin typeface="Century Schoolbook"/>
                <a:cs typeface="Arial"/>
              </a:rPr>
              <a:t>Departamento de Física Macromolecular</a:t>
            </a:r>
          </a:p>
          <a:p>
            <a:pPr lvl="0" algn="ctr" fontAlgn="base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</a:pPr>
            <a:r>
              <a:rPr lang="es-ES" sz="1200" b="1" dirty="0">
                <a:solidFill>
                  <a:srgbClr val="AC0000"/>
                </a:solidFill>
                <a:latin typeface="Century Schoolbook"/>
                <a:cs typeface="Arial"/>
              </a:rPr>
              <a:t>Instituto de Estructura de la Materia – CSIC</a:t>
            </a:r>
          </a:p>
          <a:p>
            <a:pPr lvl="0" algn="ctr" fontAlgn="base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rgbClr val="FE8637"/>
              </a:buClr>
              <a:buSzPct val="70000"/>
            </a:pPr>
            <a:r>
              <a:rPr lang="es-ES" sz="1200" b="1" dirty="0">
                <a:solidFill>
                  <a:srgbClr val="AC0000"/>
                </a:solidFill>
                <a:latin typeface="Century Schoolbook"/>
                <a:cs typeface="Arial"/>
              </a:rPr>
              <a:t>2. Área de Informática Científica (AIC) Secretaria General Adjunta de Informática (SGAI)  CSIC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DBE4CA9-4215-4FB7-938D-106F4A6C97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73" y="3397319"/>
            <a:ext cx="3203150" cy="35086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534DF61-69CF-47B6-B3AC-BDD084DBC5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25" y="1677962"/>
            <a:ext cx="1593074" cy="151516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30B3016-487C-4EF0-BE77-81561A488C64}"/>
              </a:ext>
            </a:extLst>
          </p:cNvPr>
          <p:cNvSpPr txBox="1"/>
          <p:nvPr/>
        </p:nvSpPr>
        <p:spPr>
          <a:xfrm>
            <a:off x="2215299" y="4222001"/>
            <a:ext cx="62990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000" b="1" dirty="0">
                <a:latin typeface="Arial Narrow"/>
                <a:cs typeface="Arial Narrow"/>
              </a:rPr>
              <a:t> Javier Ramos</a:t>
            </a:r>
            <a:r>
              <a:rPr lang="es-ES" sz="2000" b="1" baseline="30000" dirty="0">
                <a:latin typeface="Arial Narrow"/>
                <a:cs typeface="Arial Narrow"/>
              </a:rPr>
              <a:t>1</a:t>
            </a:r>
            <a:r>
              <a:rPr lang="es-ES" sz="2000" b="1" dirty="0">
                <a:latin typeface="Arial Narrow"/>
                <a:cs typeface="Arial Narrow"/>
              </a:rPr>
              <a:t>, Ali Adib</a:t>
            </a:r>
            <a:r>
              <a:rPr lang="es-ES" sz="2000" b="1" baseline="30000" dirty="0">
                <a:latin typeface="Arial Narrow"/>
                <a:cs typeface="Arial Narrow"/>
              </a:rPr>
              <a:t>2</a:t>
            </a:r>
            <a:r>
              <a:rPr lang="es-ES" sz="2000" b="1" dirty="0">
                <a:latin typeface="Arial Narrow"/>
                <a:cs typeface="Arial Narrow"/>
              </a:rPr>
              <a:t> and Ester Manjavacas</a:t>
            </a:r>
            <a:r>
              <a:rPr lang="es-ES" sz="2000" b="1" baseline="30000" dirty="0">
                <a:latin typeface="Arial Narrow"/>
                <a:cs typeface="Arial Narrow"/>
              </a:rPr>
              <a:t>2</a:t>
            </a:r>
            <a:endParaRPr lang="es-ES" sz="2000" b="1" dirty="0">
              <a:latin typeface="Arial Narrow"/>
              <a:cs typeface="Arial Narrow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1D1388A-1958-47DD-8888-3C40F503D1C1}"/>
              </a:ext>
            </a:extLst>
          </p:cNvPr>
          <p:cNvSpPr txBox="1"/>
          <p:nvPr/>
        </p:nvSpPr>
        <p:spPr>
          <a:xfrm>
            <a:off x="0" y="6517382"/>
            <a:ext cx="2710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/>
                <a:cs typeface="Arial Narrow"/>
              </a:rPr>
              <a:t>Madrid, 3-7 de Noviembre de 2025</a:t>
            </a:r>
            <a:endParaRPr lang="es-ES" sz="2800" b="1" dirty="0">
              <a:solidFill>
                <a:schemeClr val="tx1">
                  <a:lumMod val="50000"/>
                  <a:lumOff val="50000"/>
                </a:schemeClr>
              </a:solidFill>
              <a:latin typeface="Arial Narrow"/>
              <a:cs typeface="Arial Narrow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1A2C882-8A7D-4E55-AEDD-16B5F855E0D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601"/>
          <a:stretch/>
        </p:blipFill>
        <p:spPr>
          <a:xfrm>
            <a:off x="75373" y="597167"/>
            <a:ext cx="3965944" cy="69117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63C3E7E-9667-48C7-8BD3-0DB165DEABE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00"/>
          <a:stretch/>
        </p:blipFill>
        <p:spPr>
          <a:xfrm>
            <a:off x="75373" y="4829216"/>
            <a:ext cx="3682397" cy="96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107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EE64E9B-4A30-4714-AEC4-2C17BB2E6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9F66-008B-4912-B721-8943319F59B7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4324935-46D3-4F75-B899-ECC5CE1745A8}"/>
              </a:ext>
            </a:extLst>
          </p:cNvPr>
          <p:cNvSpPr txBox="1"/>
          <p:nvPr/>
        </p:nvSpPr>
        <p:spPr>
          <a:xfrm>
            <a:off x="201730" y="0"/>
            <a:ext cx="698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Objetivo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FEC30B7-08B3-4B19-9D91-92D2D5063A6B}"/>
              </a:ext>
            </a:extLst>
          </p:cNvPr>
          <p:cNvSpPr/>
          <p:nvPr/>
        </p:nvSpPr>
        <p:spPr>
          <a:xfrm>
            <a:off x="435647" y="3408001"/>
            <a:ext cx="8118648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dirty="0"/>
              <a:t>• Introducción: Arquitectura de los recursos compartidos HPC: Hardware, Sistema de colas SLURM y Módulos.</a:t>
            </a:r>
          </a:p>
          <a:p>
            <a:r>
              <a:rPr lang="es-ES" sz="1400" dirty="0"/>
              <a:t>• Tipo de software instalado: </a:t>
            </a:r>
            <a:r>
              <a:rPr lang="es-ES" sz="1400" dirty="0" err="1"/>
              <a:t>Restricted</a:t>
            </a:r>
            <a:r>
              <a:rPr lang="es-ES" sz="1400" dirty="0"/>
              <a:t>, Campus y FOSS. Herramientas de compilación y librerías. </a:t>
            </a:r>
            <a:r>
              <a:rPr lang="es-ES" sz="1400" dirty="0" err="1"/>
              <a:t>GitLab</a:t>
            </a:r>
            <a:r>
              <a:rPr lang="es-ES" sz="1400" dirty="0"/>
              <a:t> como repositorio. Uso de entornos virtuales en Python. Uso remoto del software y pasarelas (Cliente/Servidor).</a:t>
            </a:r>
          </a:p>
          <a:p>
            <a:r>
              <a:rPr lang="es-ES" sz="1400" dirty="0"/>
              <a:t>• Envío de trabajos en serie y paralelo. Uso de las GPU. “</a:t>
            </a:r>
            <a:r>
              <a:rPr lang="es-ES" sz="1400" dirty="0" err="1"/>
              <a:t>Benchmark</a:t>
            </a:r>
            <a:r>
              <a:rPr lang="es-ES" sz="1400" dirty="0"/>
              <a:t>” de la paralelización del cálculo a realizar, optimizando el número de </a:t>
            </a:r>
            <a:r>
              <a:rPr lang="es-ES" sz="1400" dirty="0" err="1"/>
              <a:t>GPUs</a:t>
            </a:r>
            <a:r>
              <a:rPr lang="es-ES" sz="1400" dirty="0"/>
              <a:t>, cores y/o nodos y memoria a través de SLURM.</a:t>
            </a:r>
          </a:p>
          <a:p>
            <a:r>
              <a:rPr lang="es-ES" sz="1400" dirty="0"/>
              <a:t>• Ejemplos de buenas prácticas en el envío de trabajos a SLURM a las aplicaciones mas usadas en el CSIC (Gaussian, Materials Studio, GROMACS, AMBER, …)</a:t>
            </a:r>
          </a:p>
          <a:p>
            <a:r>
              <a:rPr lang="es-ES" sz="1400" dirty="0"/>
              <a:t>• Uso de las cuotas de almacenamiento. Buenas prácticas para la transferencia de ficheros. Petición de recursos especiales.</a:t>
            </a:r>
            <a:endParaRPr lang="en-US" sz="14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55C358D-1916-4364-81ED-1839ADCB45FF}"/>
              </a:ext>
            </a:extLst>
          </p:cNvPr>
          <p:cNvSpPr/>
          <p:nvPr/>
        </p:nvSpPr>
        <p:spPr>
          <a:xfrm>
            <a:off x="201730" y="1695681"/>
            <a:ext cx="88032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/>
              <a:t>Exploraremos técnicas avanzadas de cómputo paralelo y uso eficiente de recursos en DRAGO-HPC. Prepárate para aprovechar al máximo la capacidad de DRAGO en aplicaciones científicas y de ingeniería</a:t>
            </a:r>
            <a:endParaRPr lang="en-U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D092FA0-C9EA-421F-B8FF-9F3C33D52EB8}"/>
              </a:ext>
            </a:extLst>
          </p:cNvPr>
          <p:cNvSpPr txBox="1"/>
          <p:nvPr/>
        </p:nvSpPr>
        <p:spPr>
          <a:xfrm>
            <a:off x="817391" y="906175"/>
            <a:ext cx="7355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Taller de Supercomputación. Uso del software en HPC DRAGO 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47242E3-F215-49D7-B3D2-5F938AE21B93}"/>
              </a:ext>
            </a:extLst>
          </p:cNvPr>
          <p:cNvSpPr/>
          <p:nvPr/>
        </p:nvSpPr>
        <p:spPr>
          <a:xfrm>
            <a:off x="588047" y="3560401"/>
            <a:ext cx="81186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13587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4099A79C-8444-4D11-A5BD-B9B6BA6DB9D2}"/>
              </a:ext>
            </a:extLst>
          </p:cNvPr>
          <p:cNvGrpSpPr/>
          <p:nvPr/>
        </p:nvGrpSpPr>
        <p:grpSpPr>
          <a:xfrm>
            <a:off x="201987" y="663671"/>
            <a:ext cx="8608052" cy="1639089"/>
            <a:chOff x="195263" y="867366"/>
            <a:chExt cx="8608052" cy="1639089"/>
          </a:xfrm>
        </p:grpSpPr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DA1314A7-DCA1-47F9-8FEE-31F03C4C52B3}"/>
                </a:ext>
              </a:extLst>
            </p:cNvPr>
            <p:cNvSpPr/>
            <p:nvPr/>
          </p:nvSpPr>
          <p:spPr>
            <a:xfrm>
              <a:off x="195263" y="867366"/>
              <a:ext cx="8608052" cy="1639089"/>
            </a:xfrm>
            <a:prstGeom prst="roundRect">
              <a:avLst/>
            </a:prstGeom>
            <a:ln w="190500"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8B6913A7-E2FD-4EB6-8577-7FC82E8D02B9}"/>
                </a:ext>
              </a:extLst>
            </p:cNvPr>
            <p:cNvGrpSpPr/>
            <p:nvPr/>
          </p:nvGrpSpPr>
          <p:grpSpPr>
            <a:xfrm>
              <a:off x="340685" y="1078611"/>
              <a:ext cx="1004889" cy="1306421"/>
              <a:chOff x="422073" y="1078810"/>
              <a:chExt cx="1004889" cy="1306421"/>
            </a:xfrm>
          </p:grpSpPr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A1FB8C8C-7D8F-42A3-BF72-E3F55B59BA4F}"/>
                  </a:ext>
                </a:extLst>
              </p:cNvPr>
              <p:cNvSpPr txBox="1"/>
              <p:nvPr/>
            </p:nvSpPr>
            <p:spPr>
              <a:xfrm>
                <a:off x="422073" y="2046677"/>
                <a:ext cx="100488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 dirty="0">
                    <a:solidFill>
                      <a:srgbClr val="596065"/>
                    </a:solidFill>
                  </a:rPr>
                  <a:t>Ali </a:t>
                </a:r>
                <a:r>
                  <a:rPr lang="en-US" sz="800" b="1" dirty="0" err="1">
                    <a:solidFill>
                      <a:srgbClr val="596065"/>
                    </a:solidFill>
                  </a:rPr>
                  <a:t>Adib</a:t>
                </a:r>
                <a:endParaRPr lang="en-US" sz="800" b="1" dirty="0">
                  <a:solidFill>
                    <a:srgbClr val="596065"/>
                  </a:solidFill>
                </a:endParaRPr>
              </a:p>
              <a:p>
                <a:pPr algn="ctr"/>
                <a:r>
                  <a:rPr lang="en-US" sz="800" b="1" dirty="0">
                    <a:solidFill>
                      <a:schemeClr val="accent4"/>
                    </a:solidFill>
                  </a:rPr>
                  <a:t>AIC</a:t>
                </a:r>
              </a:p>
            </p:txBody>
          </p:sp>
          <p:pic>
            <p:nvPicPr>
              <p:cNvPr id="19" name="Imagen 18">
                <a:extLst>
                  <a:ext uri="{FF2B5EF4-FFF2-40B4-BE49-F238E27FC236}">
                    <a16:creationId xmlns:a16="http://schemas.microsoft.com/office/drawing/2014/main" id="{20248349-3570-46D2-8C85-3D7D43C952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2483" y="1078810"/>
                <a:ext cx="844070" cy="967867"/>
              </a:xfrm>
              <a:prstGeom prst="rect">
                <a:avLst/>
              </a:prstGeom>
            </p:spPr>
          </p:pic>
        </p:grp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80DD2D26-BFD3-4FF5-AA36-29F10191BB88}"/>
                </a:ext>
              </a:extLst>
            </p:cNvPr>
            <p:cNvSpPr/>
            <p:nvPr/>
          </p:nvSpPr>
          <p:spPr>
            <a:xfrm>
              <a:off x="1296829" y="1153071"/>
              <a:ext cx="743031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s-ES" sz="1200" dirty="0"/>
                <a:t>Licenciado en Ciencias Físicas. </a:t>
              </a:r>
            </a:p>
            <a:p>
              <a:pPr algn="just"/>
              <a:r>
                <a:rPr lang="es-ES" sz="1200" dirty="0"/>
                <a:t>Doctor en Ingeniería de Materiales, </a:t>
              </a:r>
            </a:p>
            <a:p>
              <a:pPr algn="just"/>
              <a:r>
                <a:rPr lang="es-ES" sz="1200" dirty="0"/>
                <a:t>Técnico de software Científico (</a:t>
              </a:r>
              <a:r>
                <a:rPr lang="es-ES" sz="1200" dirty="0" err="1"/>
                <a:t>dep</a:t>
              </a:r>
              <a:r>
                <a:rPr lang="es-ES" sz="1200" dirty="0"/>
                <a:t>: Calculo Científico ,SGAI) contratado empresa </a:t>
              </a:r>
              <a:r>
                <a:rPr lang="es-ES" sz="1200" dirty="0" err="1"/>
                <a:t>Capgemini</a:t>
              </a:r>
              <a:r>
                <a:rPr lang="es-ES" sz="1200" dirty="0"/>
                <a:t> </a:t>
              </a:r>
              <a:r>
                <a:rPr lang="es-ES" sz="1200" dirty="0" err="1"/>
                <a:t>Engeneering</a:t>
              </a:r>
              <a:endParaRPr lang="es-ES" sz="1200" dirty="0"/>
            </a:p>
            <a:p>
              <a:pPr algn="just"/>
              <a:r>
                <a:rPr lang="es-ES" sz="1200" b="1" dirty="0"/>
                <a:t>Puesto actual</a:t>
              </a:r>
              <a:r>
                <a:rPr lang="es-ES" sz="1200" dirty="0"/>
                <a:t>: Contratado Postdoctoral </a:t>
              </a:r>
              <a:r>
                <a:rPr lang="es-ES" sz="1200" dirty="0" err="1"/>
                <a:t>Momentum</a:t>
              </a:r>
              <a:r>
                <a:rPr lang="en-US" sz="1200" dirty="0"/>
                <a:t> </a:t>
              </a: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F515ABCE-5349-4A51-9C23-5B86DEBD739A}"/>
              </a:ext>
            </a:extLst>
          </p:cNvPr>
          <p:cNvGrpSpPr/>
          <p:nvPr/>
        </p:nvGrpSpPr>
        <p:grpSpPr>
          <a:xfrm>
            <a:off x="201987" y="2746641"/>
            <a:ext cx="8531877" cy="1542972"/>
            <a:chOff x="201987" y="2639063"/>
            <a:chExt cx="8531877" cy="1542972"/>
          </a:xfrm>
        </p:grpSpPr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33A6B82D-5203-4F87-8D08-2738412CF42B}"/>
                </a:ext>
              </a:extLst>
            </p:cNvPr>
            <p:cNvSpPr/>
            <p:nvPr/>
          </p:nvSpPr>
          <p:spPr>
            <a:xfrm>
              <a:off x="201987" y="2639063"/>
              <a:ext cx="8531877" cy="1542972"/>
            </a:xfrm>
            <a:prstGeom prst="roundRect">
              <a:avLst/>
            </a:prstGeom>
            <a:ln w="190500">
              <a:solidFill>
                <a:srgbClr val="92D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264701E9-EA56-470D-B882-6902B92016C0}"/>
                </a:ext>
              </a:extLst>
            </p:cNvPr>
            <p:cNvSpPr txBox="1"/>
            <p:nvPr/>
          </p:nvSpPr>
          <p:spPr>
            <a:xfrm>
              <a:off x="249742" y="3690197"/>
              <a:ext cx="11025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596065"/>
                  </a:solidFill>
                </a:rPr>
                <a:t>Ester </a:t>
              </a:r>
              <a:r>
                <a:rPr lang="en-US" sz="800" b="1" dirty="0" err="1">
                  <a:solidFill>
                    <a:srgbClr val="596065"/>
                  </a:solidFill>
                </a:rPr>
                <a:t>Manjavacas</a:t>
              </a:r>
              <a:endParaRPr lang="en-US" sz="800" b="1" dirty="0">
                <a:solidFill>
                  <a:srgbClr val="596065"/>
                </a:solidFill>
              </a:endParaRPr>
            </a:p>
            <a:p>
              <a:pPr algn="ctr"/>
              <a:r>
                <a:rPr lang="en-US" sz="800" b="1" dirty="0">
                  <a:solidFill>
                    <a:schemeClr val="accent4"/>
                  </a:solidFill>
                </a:rPr>
                <a:t>AIC</a:t>
              </a: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83873826-76C8-43CD-8231-3EE0EE7F1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819" y="2810650"/>
              <a:ext cx="791128" cy="877237"/>
            </a:xfrm>
            <a:prstGeom prst="rect">
              <a:avLst/>
            </a:prstGeom>
          </p:spPr>
        </p:pic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FF7D341D-4526-480B-98CF-302BE548B671}"/>
                </a:ext>
              </a:extLst>
            </p:cNvPr>
            <p:cNvSpPr/>
            <p:nvPr/>
          </p:nvSpPr>
          <p:spPr>
            <a:xfrm>
              <a:off x="1252567" y="2852138"/>
              <a:ext cx="7430312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s-ES" sz="1200" dirty="0"/>
                <a:t>Ingeniería Técnica Informática de Sistemas. </a:t>
              </a:r>
            </a:p>
            <a:p>
              <a:pPr algn="just"/>
              <a:r>
                <a:rPr lang="es-ES" sz="1200" dirty="0"/>
                <a:t>Jefe de proyecto HPC en Atos. </a:t>
              </a:r>
            </a:p>
            <a:p>
              <a:pPr algn="just"/>
              <a:r>
                <a:rPr lang="es-ES" sz="1200" dirty="0"/>
                <a:t>Ha realizado  tareas de apoyo al despliegue de sistemas HPC en  AEMET, CNIO,CNAG,UJA,EHU,...</a:t>
              </a:r>
            </a:p>
            <a:p>
              <a:pPr algn="just"/>
              <a:r>
                <a:rPr lang="es-ES" sz="1200" b="1" dirty="0"/>
                <a:t>Puesto actual</a:t>
              </a:r>
              <a:r>
                <a:rPr lang="es-ES" sz="1200" dirty="0"/>
                <a:t>: Ingeniera/administradora de sistemas HPC  Drago (</a:t>
              </a:r>
              <a:r>
                <a:rPr lang="es-ES" sz="1200" dirty="0" err="1"/>
                <a:t>dep</a:t>
              </a:r>
              <a:r>
                <a:rPr lang="es-ES" sz="1200" dirty="0"/>
                <a:t>: calculo científico ,SGAI) contratada empresa </a:t>
              </a:r>
              <a:r>
                <a:rPr lang="es-ES" sz="1200" dirty="0" err="1"/>
                <a:t>Eviden</a:t>
              </a:r>
              <a:endParaRPr lang="en-US" sz="1200" dirty="0"/>
            </a:p>
          </p:txBody>
        </p:sp>
      </p:grp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4D603F7-40E4-43D1-BC82-0B42B66F5219}"/>
              </a:ext>
            </a:extLst>
          </p:cNvPr>
          <p:cNvSpPr txBox="1"/>
          <p:nvPr/>
        </p:nvSpPr>
        <p:spPr>
          <a:xfrm>
            <a:off x="101823" y="-13469"/>
            <a:ext cx="698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Profesores. ¿Quienes somos?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41952445-AF0A-4627-98A5-A9BB99A60A11}"/>
              </a:ext>
            </a:extLst>
          </p:cNvPr>
          <p:cNvGrpSpPr/>
          <p:nvPr/>
        </p:nvGrpSpPr>
        <p:grpSpPr>
          <a:xfrm>
            <a:off x="190800" y="4727654"/>
            <a:ext cx="8492080" cy="1639088"/>
            <a:chOff x="190800" y="4485602"/>
            <a:chExt cx="8492080" cy="1639088"/>
          </a:xfrm>
        </p:grpSpPr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925FDBC7-65AB-41A5-A40A-9C715EBB8012}"/>
                </a:ext>
              </a:extLst>
            </p:cNvPr>
            <p:cNvSpPr/>
            <p:nvPr/>
          </p:nvSpPr>
          <p:spPr>
            <a:xfrm>
              <a:off x="190800" y="4485602"/>
              <a:ext cx="8492080" cy="1639088"/>
            </a:xfrm>
            <a:prstGeom prst="roundRect">
              <a:avLst/>
            </a:prstGeom>
            <a:ln w="1905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F726427A-F96A-46B9-9B66-A6E64D8005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3556"/>
            <a:stretch/>
          </p:blipFill>
          <p:spPr>
            <a:xfrm>
              <a:off x="478661" y="4675863"/>
              <a:ext cx="824891" cy="1005610"/>
            </a:xfrm>
            <a:prstGeom prst="rect">
              <a:avLst/>
            </a:prstGeom>
          </p:spPr>
        </p:pic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A3448E95-EC00-4ADA-AD5D-C1CD3CC2F73D}"/>
                </a:ext>
              </a:extLst>
            </p:cNvPr>
            <p:cNvSpPr txBox="1"/>
            <p:nvPr/>
          </p:nvSpPr>
          <p:spPr>
            <a:xfrm>
              <a:off x="290086" y="5686830"/>
              <a:ext cx="11025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596065"/>
                  </a:solidFill>
                </a:rPr>
                <a:t>Javier Ramos</a:t>
              </a:r>
            </a:p>
            <a:p>
              <a:pPr algn="ctr"/>
              <a:r>
                <a:rPr lang="en-US" sz="800" b="1" dirty="0">
                  <a:solidFill>
                    <a:schemeClr val="accent4"/>
                  </a:solidFill>
                </a:rPr>
                <a:t>IEM-CSIC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9782E1FD-3CF7-4823-86C5-6F97EF966EF4}"/>
                </a:ext>
              </a:extLst>
            </p:cNvPr>
            <p:cNvSpPr/>
            <p:nvPr/>
          </p:nvSpPr>
          <p:spPr>
            <a:xfrm>
              <a:off x="1338849" y="4669226"/>
              <a:ext cx="7052111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s-ES" sz="1200" dirty="0"/>
                <a:t>Doctor en Ciencias Químicas e Ingeniero Técnico en Informática de Sistemas. </a:t>
              </a:r>
            </a:p>
            <a:p>
              <a:pPr algn="just"/>
              <a:r>
                <a:rPr lang="es-ES" sz="1200" dirty="0"/>
                <a:t>Científico Titular de OPIS en el IEM  </a:t>
              </a:r>
            </a:p>
            <a:p>
              <a:pPr algn="just"/>
              <a:r>
                <a:rPr lang="es-ES" sz="1200" dirty="0"/>
                <a:t>Colaborador en temas de HPC con el Área de Informática Científica de la SGAI. </a:t>
              </a:r>
            </a:p>
            <a:p>
              <a:pPr algn="just"/>
              <a:r>
                <a:rPr lang="es-ES" sz="1200" dirty="0"/>
                <a:t>Responsable del servicio de consultoría científica en modelización, computación y simulación ofrecido por el grupo Biophym</a:t>
              </a:r>
            </a:p>
            <a:p>
              <a:pPr algn="just"/>
              <a:r>
                <a:rPr lang="en-US" sz="800" dirty="0">
                  <a:hlinkClick r:id="rId5"/>
                </a:rPr>
                <a:t>https://www.csic.es/es/investigacion/catalogo-de-servicios-cientifico-tecnico/unidades-de-servicio/fisica-macromolecular</a:t>
              </a:r>
              <a:endParaRPr 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95963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64FF564-21CE-48F6-98DF-C9E011725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2765"/>
            <a:ext cx="9144000" cy="487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317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14A59DF-4113-46B8-B03C-A9377176C5A0}"/>
              </a:ext>
            </a:extLst>
          </p:cNvPr>
          <p:cNvSpPr txBox="1"/>
          <p:nvPr/>
        </p:nvSpPr>
        <p:spPr>
          <a:xfrm>
            <a:off x="101823" y="-13469"/>
            <a:ext cx="698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Comparte tu experiencia y expectativas para el curso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396EFFFC-852F-4202-BD57-DBA8D02B9D1D}"/>
              </a:ext>
            </a:extLst>
          </p:cNvPr>
          <p:cNvGrpSpPr/>
          <p:nvPr/>
        </p:nvGrpSpPr>
        <p:grpSpPr>
          <a:xfrm>
            <a:off x="1233257" y="463160"/>
            <a:ext cx="2568181" cy="2887628"/>
            <a:chOff x="792395" y="691740"/>
            <a:chExt cx="2568181" cy="2887628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33010DFE-C75E-471F-981F-C9C64A0F4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395" y="691740"/>
              <a:ext cx="2568181" cy="2185025"/>
            </a:xfrm>
            <a:prstGeom prst="rect">
              <a:avLst/>
            </a:prstGeom>
          </p:spPr>
        </p:pic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5F16020B-91D4-414A-8475-7AE3B07F8D00}"/>
                </a:ext>
              </a:extLst>
            </p:cNvPr>
            <p:cNvSpPr/>
            <p:nvPr/>
          </p:nvSpPr>
          <p:spPr>
            <a:xfrm>
              <a:off x="1012161" y="3210036"/>
              <a:ext cx="21697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1800"/>
                </a:spcAft>
              </a:pPr>
              <a:r>
                <a:rPr lang="es-ES" dirty="0">
                  <a:solidFill>
                    <a:srgbClr val="6A7BED"/>
                  </a:solidFill>
                  <a:latin typeface="Franklin Gothic Heavy" panose="020B0903020102020204" pitchFamily="34" charset="0"/>
                </a:rPr>
                <a:t>Nombre y Rol</a:t>
              </a: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8D21613-8936-4992-9211-0F03EC6E7BCC}"/>
              </a:ext>
            </a:extLst>
          </p:cNvPr>
          <p:cNvGrpSpPr/>
          <p:nvPr/>
        </p:nvGrpSpPr>
        <p:grpSpPr>
          <a:xfrm>
            <a:off x="4572000" y="489688"/>
            <a:ext cx="4061984" cy="2861100"/>
            <a:chOff x="4496388" y="593122"/>
            <a:chExt cx="4061984" cy="2861100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69E4F6F0-09E3-4182-AC44-A6C7D01C7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66951" y="593122"/>
              <a:ext cx="2568180" cy="2188505"/>
            </a:xfrm>
            <a:prstGeom prst="rect">
              <a:avLst/>
            </a:prstGeom>
          </p:spPr>
        </p:pic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4E658EC-5223-4A48-94E9-7710167F3D09}"/>
                </a:ext>
              </a:extLst>
            </p:cNvPr>
            <p:cNvSpPr/>
            <p:nvPr/>
          </p:nvSpPr>
          <p:spPr>
            <a:xfrm>
              <a:off x="4496388" y="2807891"/>
              <a:ext cx="406198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1800"/>
                </a:spcAft>
              </a:pPr>
              <a:r>
                <a:rPr lang="es-ES" dirty="0">
                  <a:solidFill>
                    <a:srgbClr val="6A7BED"/>
                  </a:solidFill>
                  <a:latin typeface="Franklin Gothic Heavy" panose="020B0903020102020204" pitchFamily="34" charset="0"/>
                </a:rPr>
                <a:t>¿Experiencia previa en computación de alto rendimiento?</a:t>
              </a: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7C565E1C-F28B-4A30-A6A0-54E3AFA0806F}"/>
              </a:ext>
            </a:extLst>
          </p:cNvPr>
          <p:cNvGrpSpPr/>
          <p:nvPr/>
        </p:nvGrpSpPr>
        <p:grpSpPr>
          <a:xfrm>
            <a:off x="853194" y="3790581"/>
            <a:ext cx="2769628" cy="2830523"/>
            <a:chOff x="1031810" y="3887482"/>
            <a:chExt cx="2769628" cy="2830523"/>
          </a:xfrm>
        </p:grpSpPr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10FDEF88-2A7F-45DC-83C4-66CCEC19C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2549" y="3887482"/>
              <a:ext cx="2169800" cy="1981893"/>
            </a:xfrm>
            <a:prstGeom prst="rect">
              <a:avLst/>
            </a:prstGeom>
          </p:spPr>
        </p:pic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BA05AAFB-22FD-41AB-B7CB-4D6F108D26E1}"/>
                </a:ext>
              </a:extLst>
            </p:cNvPr>
            <p:cNvSpPr/>
            <p:nvPr/>
          </p:nvSpPr>
          <p:spPr>
            <a:xfrm>
              <a:off x="1031810" y="6071674"/>
              <a:ext cx="2769628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1800"/>
                </a:spcAft>
              </a:pPr>
              <a:r>
                <a:rPr lang="es-ES" dirty="0">
                  <a:solidFill>
                    <a:srgbClr val="6A7BED"/>
                  </a:solidFill>
                  <a:latin typeface="Franklin Gothic Heavy" panose="020B0903020102020204" pitchFamily="34" charset="0"/>
                </a:rPr>
                <a:t>¿Qué software utilizas habitualmente?</a:t>
              </a: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F8D7D0E9-35C0-4E50-BD30-A44461945115}"/>
              </a:ext>
            </a:extLst>
          </p:cNvPr>
          <p:cNvGrpSpPr/>
          <p:nvPr/>
        </p:nvGrpSpPr>
        <p:grpSpPr>
          <a:xfrm>
            <a:off x="4572000" y="3572597"/>
            <a:ext cx="4061984" cy="3030899"/>
            <a:chOff x="4572000" y="3572597"/>
            <a:chExt cx="4061984" cy="3030899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AE219B7E-2FF6-45C6-AB6C-AE4C3F1859D3}"/>
                </a:ext>
              </a:extLst>
            </p:cNvPr>
            <p:cNvSpPr/>
            <p:nvPr/>
          </p:nvSpPr>
          <p:spPr>
            <a:xfrm>
              <a:off x="4572000" y="5957165"/>
              <a:ext cx="406198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1800"/>
                </a:spcAft>
              </a:pPr>
              <a:r>
                <a:rPr lang="es-ES" dirty="0">
                  <a:solidFill>
                    <a:srgbClr val="6A7BED"/>
                  </a:solidFill>
                  <a:latin typeface="Franklin Gothic Heavy" panose="020B0903020102020204" pitchFamily="34" charset="0"/>
                </a:rPr>
                <a:t>Brevemente, ¿qué esperas aprender en este curso?</a:t>
              </a:r>
            </a:p>
          </p:txBody>
        </p:sp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D52FEE86-4CD7-4EF6-B322-8CA9DF6D80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5393" y="3572597"/>
              <a:ext cx="2424674" cy="22146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5310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CuadroTexto">
            <a:extLst>
              <a:ext uri="{FF2B5EF4-FFF2-40B4-BE49-F238E27FC236}">
                <a16:creationId xmlns:a16="http://schemas.microsoft.com/office/drawing/2014/main" id="{81DCA2E0-C02C-488B-AC76-B874924F2B3F}"/>
              </a:ext>
            </a:extLst>
          </p:cNvPr>
          <p:cNvSpPr txBox="1"/>
          <p:nvPr/>
        </p:nvSpPr>
        <p:spPr>
          <a:xfrm>
            <a:off x="457199" y="1508469"/>
            <a:ext cx="8229600" cy="9387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55600" indent="-355600" algn="ctr">
              <a:lnSpc>
                <a:spcPct val="150000"/>
              </a:lnSpc>
            </a:pPr>
            <a:r>
              <a:rPr lang="es-ES" sz="4000" dirty="0">
                <a:solidFill>
                  <a:srgbClr val="FF0000"/>
                </a:solidFill>
                <a:latin typeface="Lucida Calligraphy" pitchFamily="66" charset="0"/>
              </a:rPr>
              <a:t>Preguntas???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F53A9E8-CC61-4D41-96A4-6F9E4925CA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2" y="2852936"/>
            <a:ext cx="4524375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8774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dad">
  <a:themeElements>
    <a:clrScheme name="Claridad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Clásico de Office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da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Claridad.thmx</Template>
  <TotalTime>8175</TotalTime>
  <Words>478</Words>
  <Application>Microsoft Office PowerPoint</Application>
  <PresentationFormat>Presentación en pantalla (4:3)</PresentationFormat>
  <Paragraphs>44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Arial</vt:lpstr>
      <vt:lpstr>Arial Narrow</vt:lpstr>
      <vt:lpstr>Calibri</vt:lpstr>
      <vt:lpstr>Century Schoolbook</vt:lpstr>
      <vt:lpstr>Franklin Gothic Heavy</vt:lpstr>
      <vt:lpstr>Lucida Calligraphy</vt:lpstr>
      <vt:lpstr>Claridad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Alberto Gallardo</dc:creator>
  <cp:lastModifiedBy>Javi Ramos</cp:lastModifiedBy>
  <cp:revision>176</cp:revision>
  <dcterms:created xsi:type="dcterms:W3CDTF">2023-09-21T12:30:28Z</dcterms:created>
  <dcterms:modified xsi:type="dcterms:W3CDTF">2025-10-30T10:32:16Z</dcterms:modified>
</cp:coreProperties>
</file>