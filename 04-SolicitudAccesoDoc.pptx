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6.png" ContentType="image/png"/>
  <Override PartName="/ppt/media/image12.png" ContentType="image/png"/>
  <Override PartName="/ppt/media/image5.png" ContentType="image/png"/>
  <Override PartName="/ppt/media/image11.png" ContentType="image/png"/>
  <Override PartName="/ppt/media/image4.png" ContentType="image/png"/>
  <Override PartName="/ppt/media/image10.png" ContentType="image/png"/>
  <Override PartName="/ppt/media/image3.png" ContentType="image/png"/>
  <Override PartName="/ppt/media/image1.jpeg" ContentType="image/jpeg"/>
  <Override PartName="/ppt/media/image2.png" ContentType="image/png"/>
  <Override PartName="/ppt/media/image9.png" ContentType="image/png"/>
  <Override PartName="/ppt/media/image15.jpeg" ContentType="image/jpeg"/>
  <Override PartName="/ppt/media/image14.png" ContentType="image/png"/>
  <Override PartName="/ppt/media/image8.png" ContentType="image/png"/>
  <Override PartName="/ppt/media/image7.png" ContentType="image/png"/>
  <Override PartName="/ppt/media/image13.png" ContentType="image/png"/>
  <Override PartName="/ppt/presentation.xml" ContentType="application/vnd.openxmlformats-officedocument.presentationml.presentation.main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7ED395F-B286-4B19-B4D0-708643FF9919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792000"/>
            <a:ext cx="2139120" cy="12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24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971800" y="792000"/>
            <a:ext cx="5714280" cy="55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64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32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56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8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2130480"/>
            <a:ext cx="2139120" cy="424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s-ES_tradnl" sz="14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4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5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6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D71B2A29-C3C5-4382-9122-08F1A2E96E02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7" name="Straight Connector 8"/>
          <p:cNvCxnSpPr/>
          <p:nvPr/>
        </p:nvCxnSpPr>
        <p:spPr>
          <a:xfrm flipH="1">
            <a:off x="2774880" y="792000"/>
            <a:ext cx="2160" cy="5578560"/>
          </a:xfrm>
          <a:prstGeom prst="straightConnector1">
            <a:avLst/>
          </a:prstGeom>
          <a:ln w="19050">
            <a:solidFill>
              <a:srgbClr val="d2533c"/>
            </a:solidFill>
            <a:round/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792360"/>
            <a:ext cx="2142000" cy="12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24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858760" y="838080"/>
            <a:ext cx="5903640" cy="5499720"/>
          </a:xfrm>
          <a:prstGeom prst="rect">
            <a:avLst/>
          </a:prstGeom>
          <a:solidFill>
            <a:schemeClr val="lt2"/>
          </a:solidFill>
          <a:ln w="76320">
            <a:solidFill>
              <a:srgbClr val="ffffff"/>
            </a:solidFill>
            <a:miter/>
          </a:ln>
          <a:effectLst>
            <a:outerShdw dist="12600" dir="5400000" blurRad="50760" rotWithShape="0">
              <a:srgbClr val="000000">
                <a:alpha val="59000"/>
              </a:srgbClr>
            </a:outerShdw>
          </a:effectLst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3200" spc="-1" strike="noStrike">
                <a:solidFill>
                  <a:schemeClr val="dk1"/>
                </a:solidFill>
                <a:latin typeface="Arial"/>
              </a:rPr>
              <a:t>Arrastre la imagen al marcador de posición o haga clic en el icono para agregar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133720"/>
            <a:ext cx="2139120" cy="42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s-ES_tradnl" sz="14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7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8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9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98E2262-A2BA-4AC5-8DBD-9A562F6DFAA3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7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848000" cy="192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5400" spc="-100" strike="noStrike" cap="all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dt" idx="10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11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sldNum" idx="12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4DC4A7E-096E-4A00-8A3F-5A7DB4D0960B}" type="slidenum">
              <a:rPr b="1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32" name="Straight Connector 7"/>
          <p:cNvCxnSpPr/>
          <p:nvPr/>
        </p:nvCxnSpPr>
        <p:spPr>
          <a:xfrm>
            <a:off x="685800" y="3398400"/>
            <a:ext cx="7849080" cy="2160"/>
          </a:xfrm>
          <a:prstGeom prst="straightConnector1">
            <a:avLst/>
          </a:prstGeom>
          <a:ln w="19050">
            <a:solidFill>
              <a:srgbClr val="d2533c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4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40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8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6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281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4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3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4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5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82F968BD-4E99-4C44-90C7-4BA382A77FA8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1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629400" y="609480"/>
            <a:ext cx="2056680" cy="586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40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609480"/>
            <a:ext cx="6019200" cy="586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6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281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4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6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7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18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21F1FFC-A875-4634-866A-B1FEC7539834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8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40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8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6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281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4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19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0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1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CB6EA81-4FE8-441F-8AE4-F687C7B54B70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d25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5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2362320"/>
            <a:ext cx="7771680" cy="219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4800" spc="-100" strike="noStrike" cap="all">
                <a:solidFill>
                  <a:schemeClr val="lt2"/>
                </a:solidFill>
                <a:latin typeface="Arial"/>
              </a:rPr>
              <a:t>Clic para editar título</a:t>
            </a:r>
            <a:endParaRPr b="0" lang="es-ES" sz="4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462672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s-ES_tradnl" sz="2400" spc="-1" strike="noStrike">
                <a:solidFill>
                  <a:schemeClr val="lt2"/>
                </a:solidFill>
                <a:latin typeface="Arial"/>
              </a:rPr>
              <a:t>Haga clic para modificar el estilo de texto del patrón</a:t>
            </a:r>
            <a:endParaRPr b="0" lang="es-ES" sz="2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22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3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4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F80FBAF0-456D-4A31-8E3D-B6851E18D98B}" type="slidenum">
              <a:rPr b="1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61" name="Straight Connector 6"/>
          <p:cNvCxnSpPr/>
          <p:nvPr/>
        </p:nvCxnSpPr>
        <p:spPr>
          <a:xfrm>
            <a:off x="731520" y="4599360"/>
            <a:ext cx="7849080" cy="2160"/>
          </a:xfrm>
          <a:prstGeom prst="straightConnector1">
            <a:avLst/>
          </a:prstGeom>
          <a:ln w="19050">
            <a:solidFill>
              <a:srgbClr val="f3f2dc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3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40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73280"/>
            <a:ext cx="4037760" cy="471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8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48320" y="1673280"/>
            <a:ext cx="4037760" cy="471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8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5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6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27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CA667933-14FA-4DC0-AC3F-8D06366C5BB4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40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76520"/>
            <a:ext cx="3931200" cy="639000"/>
          </a:xfrm>
          <a:prstGeom prst="rect">
            <a:avLst/>
          </a:prstGeom>
          <a:noFill/>
          <a:ln w="44280">
            <a:noFill/>
          </a:ln>
        </p:spPr>
        <p:txBody>
          <a:bodyPr lIns="91440" rIns="91440" tIns="45720" bIns="45720" anchor="ctr">
            <a:normAutofit fontScale="92500" lnSpcReduction="10000"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_tradnl" sz="2000" spc="-1" strike="noStrike">
                <a:solidFill>
                  <a:schemeClr val="dk2"/>
                </a:solidFill>
                <a:latin typeface="Arial"/>
              </a:rPr>
              <a:t>Haga clic para modificar el estilo de texto del patrón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2438280"/>
            <a:ext cx="39312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6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6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754880" y="1676520"/>
            <a:ext cx="3931200" cy="639000"/>
          </a:xfrm>
          <a:prstGeom prst="rect">
            <a:avLst/>
          </a:prstGeom>
          <a:noFill/>
          <a:ln w="44280">
            <a:noFill/>
          </a:ln>
        </p:spPr>
        <p:txBody>
          <a:bodyPr lIns="91440" rIns="91440" tIns="45720" bIns="45720" anchor="ctr">
            <a:normAutofit fontScale="92500" lnSpcReduction="10000"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s-ES_tradnl" sz="2000" spc="-1" strike="noStrike">
                <a:solidFill>
                  <a:schemeClr val="dk2"/>
                </a:solidFill>
                <a:latin typeface="Arial"/>
              </a:rPr>
              <a:t>Haga clic para modificar el estilo de texto del patrón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754880" y="2438280"/>
            <a:ext cx="39312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400" spc="-1" strike="noStrike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b="0" lang="es-ES_tradnl" sz="2000" spc="-1" strike="noStrike">
                <a:solidFill>
                  <a:schemeClr val="dk1"/>
                </a:solidFill>
                <a:latin typeface="Arial"/>
              </a:rPr>
              <a:t>Segundo nivel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b="0" lang="es-ES_tradnl" sz="1800" spc="-1" strike="noStrike">
                <a:solidFill>
                  <a:schemeClr val="dk1"/>
                </a:solidFill>
                <a:latin typeface="Arial"/>
              </a:rPr>
              <a:t>Tercer nivel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600" spc="-1" strike="noStrike">
                <a:solidFill>
                  <a:schemeClr val="dk1"/>
                </a:solidFill>
                <a:latin typeface="Arial"/>
              </a:rPr>
              <a:t>Cuarto nivel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  <a:p>
            <a:pPr lvl="4" marL="1188720" indent="-13716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b="0" lang="es-ES_tradnl" sz="1600" spc="-1" strike="noStrike">
                <a:solidFill>
                  <a:schemeClr val="dk1"/>
                </a:solidFill>
                <a:latin typeface="Arial"/>
              </a:rPr>
              <a:t>Quinto nivel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dt" idx="28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ftr" idx="29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8"/>
          <p:cNvSpPr>
            <a:spLocks noGrp="1"/>
          </p:cNvSpPr>
          <p:nvPr>
            <p:ph type="sldNum" idx="30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B9BD704-9F65-4284-AE52-2392C38C8A19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80" name="Straight Connector 10"/>
          <p:cNvCxnSpPr/>
          <p:nvPr/>
        </p:nvCxnSpPr>
        <p:spPr>
          <a:xfrm flipH="1">
            <a:off x="4572000" y="1691640"/>
            <a:ext cx="1440" cy="4709880"/>
          </a:xfrm>
          <a:prstGeom prst="straightConnector1">
            <a:avLst/>
          </a:prstGeom>
          <a:ln w="19050">
            <a:solidFill>
              <a:srgbClr val="d2533c"/>
            </a:solidFill>
            <a:round/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ó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9"/>
          <p:cNvSpPr/>
          <p:nvPr/>
        </p:nvSpPr>
        <p:spPr>
          <a:xfrm>
            <a:off x="0" y="220680"/>
            <a:ext cx="9143280" cy="22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2" name="Rectangle 6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8880" cy="99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_tradnl" sz="4000" spc="-100" strike="noStrike">
                <a:solidFill>
                  <a:schemeClr val="dk2"/>
                </a:solidFill>
                <a:latin typeface="Arial"/>
              </a:rPr>
              <a:t>Clic para editar título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31"/>
          </p:nvPr>
        </p:nvSpPr>
        <p:spPr>
          <a:xfrm>
            <a:off x="457200" y="18360"/>
            <a:ext cx="28947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32"/>
          </p:nvPr>
        </p:nvSpPr>
        <p:spPr>
          <a:xfrm>
            <a:off x="3429000" y="18360"/>
            <a:ext cx="411408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33"/>
          </p:nvPr>
        </p:nvSpPr>
        <p:spPr>
          <a:xfrm>
            <a:off x="7620120" y="18360"/>
            <a:ext cx="1065960" cy="32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F4D2AA7-2D43-40A2-9A0B-2CFB95B996AA}" type="slidenum">
              <a:rPr b="1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mailto:soporteaic@csic.es" TargetMode="External"/><Relationship Id="rId2" Type="http://schemas.openxmlformats.org/officeDocument/2006/relationships/image" Target="../media/image6.png"/><Relationship Id="rId3" Type="http://schemas.openxmlformats.org/officeDocument/2006/relationships/hyperlink" Target="https://docaic.rstools.csic.es/es/general/acceso" TargetMode="External"/><Relationship Id="rId4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s://aic.csic.es/servicios/computacion/hpc-drago/" TargetMode="External"/><Relationship Id="rId3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git.csic.es/area-de-informatica-cientifica/slurm-scripts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docaic.rstools.csic.es/" TargetMode="Externa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doc.nhr.fau.de/access/ssh-mobaxterm/" TargetMode="External"/><Relationship Id="rId2" Type="http://schemas.openxmlformats.org/officeDocument/2006/relationships/hyperlink" Target="https://doc.nhr.fau.de/access/ssh-mobaxterm/" TargetMode="External"/><Relationship Id="rId3" Type="http://schemas.openxmlformats.org/officeDocument/2006/relationships/hyperlink" Target="https://doc.nhr.fau.de/access/ssh-mobaxterm/" TargetMode="External"/><Relationship Id="rId4" Type="http://schemas.openxmlformats.org/officeDocument/2006/relationships/hyperlink" Target="https://doc.nhr.fau.de/access/ssh-mobaxterm/" TargetMode="External"/><Relationship Id="rId5" Type="http://schemas.openxmlformats.org/officeDocument/2006/relationships/hyperlink" Target="https://mremoteng.org/" TargetMode="External"/><Relationship Id="rId6" Type="http://schemas.openxmlformats.org/officeDocument/2006/relationships/hyperlink" Target="https://docaic.rstools.csic.es/es/general/conexionalcluster" TargetMode="External"/><Relationship Id="rId7" Type="http://schemas.openxmlformats.org/officeDocument/2006/relationships/hyperlink" Target="mailto:soporteaic@csic.es" TargetMode="External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mailto:alumno01@drago.csic.es" TargetMode="Externa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adroTexto 4"/>
          <p:cNvSpPr/>
          <p:nvPr/>
        </p:nvSpPr>
        <p:spPr>
          <a:xfrm>
            <a:off x="2514600" y="1600200"/>
            <a:ext cx="67122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4000" spc="-1" strike="noStrike">
                <a:solidFill>
                  <a:schemeClr val="dk1"/>
                </a:solidFill>
                <a:latin typeface="Arial Narrow"/>
              </a:rPr>
              <a:t>Taller de supercomputación: Uso del Software Científico en DRAGO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CuadroTexto 5"/>
          <p:cNvSpPr/>
          <p:nvPr/>
        </p:nvSpPr>
        <p:spPr>
          <a:xfrm>
            <a:off x="3874320" y="3174120"/>
            <a:ext cx="47296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2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Arial Narrow"/>
              </a:rPr>
              <a:t>Solicitud, documentación y acceso a Drago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9" name="Imagen 11" descr=""/>
          <p:cNvPicPr/>
          <p:nvPr/>
        </p:nvPicPr>
        <p:blipFill>
          <a:blip r:embed="rId1"/>
          <a:stretch/>
        </p:blipFill>
        <p:spPr>
          <a:xfrm>
            <a:off x="75240" y="3397320"/>
            <a:ext cx="32025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n 13" descr=""/>
          <p:cNvPicPr/>
          <p:nvPr/>
        </p:nvPicPr>
        <p:blipFill>
          <a:blip r:embed="rId2"/>
          <a:stretch/>
        </p:blipFill>
        <p:spPr>
          <a:xfrm>
            <a:off x="622080" y="1677960"/>
            <a:ext cx="1592280" cy="151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n 2" descr=""/>
          <p:cNvPicPr/>
          <p:nvPr/>
        </p:nvPicPr>
        <p:blipFill>
          <a:blip r:embed="rId3"/>
          <a:srcRect l="0" t="0" r="40602" b="0"/>
          <a:stretch/>
        </p:blipFill>
        <p:spPr>
          <a:xfrm>
            <a:off x="75240" y="597240"/>
            <a:ext cx="3965400" cy="69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Imagen 12" descr=""/>
          <p:cNvPicPr/>
          <p:nvPr/>
        </p:nvPicPr>
        <p:blipFill>
          <a:blip r:embed="rId4"/>
          <a:srcRect l="60700" t="0" r="0" b="0"/>
          <a:stretch/>
        </p:blipFill>
        <p:spPr>
          <a:xfrm>
            <a:off x="75240" y="4829040"/>
            <a:ext cx="3681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CuadroTexto 17"/>
          <p:cNvSpPr/>
          <p:nvPr/>
        </p:nvSpPr>
        <p:spPr>
          <a:xfrm>
            <a:off x="2286000" y="4344120"/>
            <a:ext cx="6298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s-ES" sz="2000" spc="-1" strike="noStrike">
                <a:solidFill>
                  <a:schemeClr val="dk1"/>
                </a:solidFill>
                <a:latin typeface="Arial Narrow"/>
                <a:ea typeface="Noto Sans SC Regular"/>
              </a:rPr>
              <a:t> </a:t>
            </a:r>
            <a:r>
              <a:rPr b="1" lang="es-ES" sz="2000" spc="-1" strike="noStrike">
                <a:solidFill>
                  <a:schemeClr val="dk1"/>
                </a:solidFill>
                <a:latin typeface="Arial Narrow"/>
                <a:ea typeface="Noto Sans SC Regular"/>
              </a:rPr>
              <a:t>Javier Ramos</a:t>
            </a:r>
            <a:r>
              <a:rPr b="1" lang="es-ES" sz="2000" spc="-1" strike="noStrike" baseline="30000">
                <a:solidFill>
                  <a:schemeClr val="dk1"/>
                </a:solidFill>
                <a:latin typeface="Arial Narrow"/>
                <a:ea typeface="Noto Sans SC Regular"/>
              </a:rPr>
              <a:t>1</a:t>
            </a:r>
            <a:r>
              <a:rPr b="1" lang="es-ES" sz="2000" spc="-1" strike="noStrike">
                <a:solidFill>
                  <a:schemeClr val="dk1"/>
                </a:solidFill>
                <a:latin typeface="Arial Narrow"/>
                <a:ea typeface="Noto Sans SC Regular"/>
              </a:rPr>
              <a:t>, Ali Adib</a:t>
            </a:r>
            <a:r>
              <a:rPr b="1" lang="es-ES" sz="2000" spc="-1" strike="noStrike" baseline="30000">
                <a:solidFill>
                  <a:schemeClr val="dk1"/>
                </a:solidFill>
                <a:latin typeface="Arial Narrow"/>
                <a:ea typeface="Noto Sans SC Regular"/>
              </a:rPr>
              <a:t>2</a:t>
            </a:r>
            <a:r>
              <a:rPr b="1" lang="es-ES" sz="2000" spc="-1" strike="noStrike">
                <a:solidFill>
                  <a:schemeClr val="dk1"/>
                </a:solidFill>
                <a:latin typeface="Arial Narrow"/>
                <a:ea typeface="Noto Sans SC Regular"/>
              </a:rPr>
              <a:t> and Ester Manjavacas</a:t>
            </a:r>
            <a:r>
              <a:rPr b="1" lang="es-ES" sz="2000" spc="-1" strike="noStrike" baseline="30000">
                <a:solidFill>
                  <a:schemeClr val="dk1"/>
                </a:solidFill>
                <a:latin typeface="Arial Narrow"/>
                <a:ea typeface="Noto Sans SC Regular"/>
              </a:rPr>
              <a:t>2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Rectángulo 16"/>
          <p:cNvSpPr/>
          <p:nvPr/>
        </p:nvSpPr>
        <p:spPr>
          <a:xfrm>
            <a:off x="4115520" y="5029920"/>
            <a:ext cx="4571280" cy="12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b="1" lang="es-ES" sz="1200" spc="-1" strike="noStrike">
                <a:solidFill>
                  <a:srgbClr val="ac0000"/>
                </a:solidFill>
                <a:latin typeface="Century Schoolbook"/>
                <a:ea typeface="Noto Sans SC Regular"/>
              </a:rPr>
              <a:t>1. Biophysics of Macromolecular Systems group 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b="1" lang="es-ES" sz="1200" spc="-1" strike="noStrike">
                <a:solidFill>
                  <a:srgbClr val="ac0000"/>
                </a:solidFill>
                <a:latin typeface="Century Schoolbook"/>
                <a:ea typeface="Noto Sans SC Regular"/>
              </a:rPr>
              <a:t>(BIOPHYM)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b="1" lang="es-ES" sz="1200" spc="-1" strike="noStrike">
                <a:solidFill>
                  <a:srgbClr val="ac0000"/>
                </a:solidFill>
                <a:latin typeface="Century Schoolbook"/>
                <a:ea typeface="Noto Sans SC Regular"/>
              </a:rPr>
              <a:t>Departamento de Física Macromolecular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b="1" lang="es-ES" sz="1200" spc="-1" strike="noStrike">
                <a:solidFill>
                  <a:srgbClr val="ac0000"/>
                </a:solidFill>
                <a:latin typeface="Century Schoolbook"/>
                <a:ea typeface="Noto Sans SC Regular"/>
              </a:rPr>
              <a:t>Instituto de Estructura de la Materia – CSIC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b="1" lang="es-ES" sz="1200" spc="-1" strike="noStrike">
                <a:solidFill>
                  <a:srgbClr val="ac0000"/>
                </a:solidFill>
                <a:latin typeface="Century Schoolbook"/>
                <a:ea typeface="Noto Sans SC Regular"/>
              </a:rPr>
              <a:t>2. Área de Informática Científica (AIC) Secretaria General Adjunta de Informática (SGAI)  CSIC</a:t>
            </a:r>
            <a:endParaRPr b="0" lang="es-E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CuadroTexto 18"/>
          <p:cNvSpPr/>
          <p:nvPr/>
        </p:nvSpPr>
        <p:spPr>
          <a:xfrm>
            <a:off x="228600" y="6401520"/>
            <a:ext cx="2607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Arial Narrow"/>
                <a:ea typeface="Noto Sans SC Regular"/>
              </a:rPr>
              <a:t>Madrid, 3 de Noviembre de 2025</a:t>
            </a:r>
            <a:endParaRPr b="0" lang="es-E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adroTexto 3"/>
          <p:cNvSpPr/>
          <p:nvPr/>
        </p:nvSpPr>
        <p:spPr>
          <a:xfrm>
            <a:off x="160920" y="29160"/>
            <a:ext cx="8154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s-ES" sz="1600" spc="-1" strike="noStrike">
                <a:solidFill>
                  <a:schemeClr val="dk1"/>
                </a:solidFill>
                <a:latin typeface="Arial"/>
              </a:rPr>
              <a:t>Solicitud acceso a DRAGO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Rectángulo 4"/>
          <p:cNvSpPr/>
          <p:nvPr/>
        </p:nvSpPr>
        <p:spPr>
          <a:xfrm>
            <a:off x="790560" y="2901240"/>
            <a:ext cx="7562520" cy="28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00000"/>
                </a:solidFill>
                <a:latin typeface="Arial"/>
              </a:rPr>
              <a:t>Requisitos: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002060"/>
                </a:solidFill>
                <a:latin typeface="Arial"/>
              </a:rPr>
              <a:t>En </a:t>
            </a:r>
            <a:r>
              <a:rPr b="1" lang="es-ES" sz="2000" spc="-1" strike="noStrike">
                <a:solidFill>
                  <a:srgbClr val="002060"/>
                </a:solidFill>
                <a:latin typeface="Arial"/>
              </a:rPr>
              <a:t>Activo</a:t>
            </a:r>
            <a:r>
              <a:rPr b="0" lang="es-ES" sz="2000" spc="-1" strike="noStrike">
                <a:solidFill>
                  <a:srgbClr val="002060"/>
                </a:solidFill>
                <a:latin typeface="Arial"/>
              </a:rPr>
              <a:t> en la BBDD de personal del CSIC.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002060"/>
                </a:solidFill>
                <a:latin typeface="Arial"/>
              </a:rPr>
              <a:t>Pertenecer y estar en la BBDD de </a:t>
            </a:r>
            <a:r>
              <a:rPr b="1" lang="es-ES" sz="2000" spc="-1" strike="noStrike">
                <a:solidFill>
                  <a:srgbClr val="002060"/>
                </a:solidFill>
                <a:latin typeface="Arial"/>
              </a:rPr>
              <a:t>grupos</a:t>
            </a:r>
            <a:r>
              <a:rPr b="0" lang="es-ES" sz="2000" spc="-1" strike="noStrike">
                <a:solidFill>
                  <a:srgbClr val="002060"/>
                </a:solidFill>
                <a:latin typeface="Arial"/>
              </a:rPr>
              <a:t> y </a:t>
            </a:r>
            <a:r>
              <a:rPr b="1" lang="es-ES" sz="2000" spc="-1" strike="noStrike">
                <a:solidFill>
                  <a:srgbClr val="002060"/>
                </a:solidFill>
                <a:latin typeface="Arial"/>
              </a:rPr>
              <a:t>servicios</a:t>
            </a:r>
            <a:r>
              <a:rPr b="0" lang="es-ES" sz="2000" spc="-1" strike="noStrike">
                <a:solidFill>
                  <a:srgbClr val="002060"/>
                </a:solidFill>
                <a:latin typeface="Arial"/>
              </a:rPr>
              <a:t> como miembros de un grupo de investigación o unidad de servicio.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002060"/>
                </a:solidFill>
                <a:latin typeface="Arial"/>
              </a:rPr>
              <a:t>Utilizar correo Institucional.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Rectángulo 5"/>
          <p:cNvSpPr/>
          <p:nvPr/>
        </p:nvSpPr>
        <p:spPr>
          <a:xfrm>
            <a:off x="2810160" y="1513800"/>
            <a:ext cx="4696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2400" spc="-1" strike="noStrike" u="sng">
                <a:solidFill>
                  <a:srgbClr val="0000ff"/>
                </a:solidFill>
                <a:uFillTx/>
                <a:latin typeface="Arial"/>
                <a:hlinkClick r:id="rId1"/>
              </a:rPr>
              <a:t>soporteaic@csic.es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9" name="Imagen 2" descr=""/>
          <p:cNvPicPr/>
          <p:nvPr/>
        </p:nvPicPr>
        <p:blipFill>
          <a:blip r:embed="rId2"/>
          <a:stretch/>
        </p:blipFill>
        <p:spPr>
          <a:xfrm>
            <a:off x="1632240" y="898560"/>
            <a:ext cx="1595520" cy="15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1624680" y="470880"/>
            <a:ext cx="5918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hlinkClick r:id="rId3"/>
              </a:rPr>
              <a:t>https://docaic.rstools.csic.es/es/general/acceso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adroTexto 1"/>
          <p:cNvSpPr/>
          <p:nvPr/>
        </p:nvSpPr>
        <p:spPr>
          <a:xfrm>
            <a:off x="1097280" y="517320"/>
            <a:ext cx="6897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s-ES" sz="2800" spc="-1" strike="noStrike">
                <a:solidFill>
                  <a:schemeClr val="dk1"/>
                </a:solidFill>
                <a:latin typeface="Arial"/>
              </a:rPr>
              <a:t>Portal Área de Computación Científica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2" name="Imagen 2" descr=""/>
          <p:cNvPicPr/>
          <p:nvPr/>
        </p:nvPicPr>
        <p:blipFill>
          <a:blip r:embed="rId1"/>
          <a:stretch/>
        </p:blipFill>
        <p:spPr>
          <a:xfrm>
            <a:off x="513000" y="2314440"/>
            <a:ext cx="7727040" cy="421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CuadroTexto 3"/>
          <p:cNvSpPr/>
          <p:nvPr/>
        </p:nvSpPr>
        <p:spPr>
          <a:xfrm>
            <a:off x="160920" y="29160"/>
            <a:ext cx="8154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s-ES" sz="1600" spc="-1" strike="noStrike">
                <a:solidFill>
                  <a:schemeClr val="dk1"/>
                </a:solidFill>
                <a:latin typeface="Arial"/>
              </a:rPr>
              <a:t>Documentación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CuadroTexto 4"/>
          <p:cNvSpPr/>
          <p:nvPr/>
        </p:nvSpPr>
        <p:spPr>
          <a:xfrm>
            <a:off x="1773720" y="1456920"/>
            <a:ext cx="5808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s-ES" sz="1800" spc="-1" strike="noStrike" u="sng">
                <a:solidFill>
                  <a:schemeClr val="dk1"/>
                </a:solidFill>
                <a:uFillTx/>
                <a:latin typeface="Arial"/>
                <a:hlinkClick r:id="rId2"/>
              </a:rPr>
              <a:t>https://aic.csic.es/servicios/computacion/hpc-drago/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adroTexto 1"/>
          <p:cNvSpPr/>
          <p:nvPr/>
        </p:nvSpPr>
        <p:spPr>
          <a:xfrm>
            <a:off x="1411560" y="1440000"/>
            <a:ext cx="6513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s-ES" sz="1800" spc="-1" strike="noStrike" u="sng">
                <a:solidFill>
                  <a:schemeClr val="dk1"/>
                </a:solidFill>
                <a:uFillTx/>
                <a:latin typeface="Arial"/>
                <a:hlinkClick r:id="rId1"/>
              </a:rPr>
              <a:t>https://git.csic.es/area-de-informatica-cientifica/slurm-scripts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CuadroTexto 2"/>
          <p:cNvSpPr/>
          <p:nvPr/>
        </p:nvSpPr>
        <p:spPr>
          <a:xfrm>
            <a:off x="1122840" y="731520"/>
            <a:ext cx="6897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2800" spc="-1" strike="noStrike">
                <a:solidFill>
                  <a:schemeClr val="dk1"/>
                </a:solidFill>
                <a:latin typeface="Arial"/>
              </a:rPr>
              <a:t>Portal de documentación AIC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CuadroTexto 4"/>
          <p:cNvSpPr/>
          <p:nvPr/>
        </p:nvSpPr>
        <p:spPr>
          <a:xfrm>
            <a:off x="160920" y="29160"/>
            <a:ext cx="8154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s-ES" sz="1600" spc="-1" strike="noStrike">
                <a:solidFill>
                  <a:schemeClr val="dk1"/>
                </a:solidFill>
                <a:latin typeface="Arial"/>
              </a:rPr>
              <a:t>Documentación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8" name="Imagen 6" descr=""/>
          <p:cNvPicPr/>
          <p:nvPr/>
        </p:nvPicPr>
        <p:blipFill>
          <a:blip r:embed="rId2"/>
          <a:stretch/>
        </p:blipFill>
        <p:spPr>
          <a:xfrm>
            <a:off x="494280" y="2130840"/>
            <a:ext cx="8154720" cy="377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adroTexto 3"/>
          <p:cNvSpPr/>
          <p:nvPr/>
        </p:nvSpPr>
        <p:spPr>
          <a:xfrm>
            <a:off x="1122840" y="553320"/>
            <a:ext cx="6897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2800" spc="-1" strike="noStrike">
                <a:solidFill>
                  <a:schemeClr val="dk1"/>
                </a:solidFill>
                <a:latin typeface="Arial"/>
              </a:rPr>
              <a:t>Portal de documentación AIC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CuadroTexto 4"/>
          <p:cNvSpPr/>
          <p:nvPr/>
        </p:nvSpPr>
        <p:spPr>
          <a:xfrm>
            <a:off x="2734200" y="1208520"/>
            <a:ext cx="367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" sz="1800" spc="-1" strike="noStrike" u="sng">
                <a:solidFill>
                  <a:schemeClr val="dk1"/>
                </a:solidFill>
                <a:uFillTx/>
                <a:latin typeface="Arial"/>
                <a:hlinkClick r:id="rId1"/>
              </a:rPr>
              <a:t>https://docaic.rstools.csic.es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1" name="Imagen 5" descr=""/>
          <p:cNvPicPr/>
          <p:nvPr/>
        </p:nvPicPr>
        <p:blipFill>
          <a:blip r:embed="rId2"/>
          <a:stretch/>
        </p:blipFill>
        <p:spPr>
          <a:xfrm>
            <a:off x="884160" y="1876680"/>
            <a:ext cx="7135920" cy="498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CuadroTexto 6"/>
          <p:cNvSpPr/>
          <p:nvPr/>
        </p:nvSpPr>
        <p:spPr>
          <a:xfrm>
            <a:off x="160920" y="29160"/>
            <a:ext cx="8154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s-ES" sz="1600" spc="-1" strike="noStrike">
                <a:solidFill>
                  <a:schemeClr val="dk1"/>
                </a:solidFill>
                <a:latin typeface="Arial"/>
              </a:rPr>
              <a:t>Documentación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adroTexto 3"/>
          <p:cNvSpPr/>
          <p:nvPr/>
        </p:nvSpPr>
        <p:spPr>
          <a:xfrm>
            <a:off x="160920" y="29160"/>
            <a:ext cx="8154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s-ES" sz="1600" spc="-1" strike="noStrike">
                <a:solidFill>
                  <a:schemeClr val="dk1"/>
                </a:solidFill>
                <a:latin typeface="Arial"/>
              </a:rPr>
              <a:t>Conexión a DRAGO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Rectángulo 4"/>
          <p:cNvSpPr/>
          <p:nvPr/>
        </p:nvSpPr>
        <p:spPr>
          <a:xfrm>
            <a:off x="972000" y="1024920"/>
            <a:ext cx="8123040" cy="42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002060"/>
                </a:solidFill>
                <a:latin typeface="Arial"/>
              </a:rPr>
              <a:t>Linux: OpenSSH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002060"/>
                </a:solidFill>
                <a:latin typeface="Arial"/>
              </a:rPr>
              <a:t>Mac: OpenSSH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002060"/>
                </a:solidFill>
                <a:latin typeface="Arial"/>
              </a:rPr>
              <a:t>Windows: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002060"/>
                </a:solidFill>
                <a:latin typeface="Arial"/>
              </a:rPr>
              <a:t>MobaXterm:</a:t>
            </a:r>
            <a:r>
              <a:rPr b="0" lang="es-ES" sz="1800" spc="-1" strike="noStrike" u="sng">
                <a:solidFill>
                  <a:srgbClr val="0000ff"/>
                </a:solidFill>
                <a:uFillTx/>
                <a:latin typeface="Arial"/>
                <a:hlinkClick r:id="rId1"/>
              </a:rPr>
              <a:t>https</a:t>
            </a:r>
            <a:r>
              <a:rPr b="0" lang="es-ES" sz="1800" spc="-1" strike="noStrike" u="sng">
                <a:solidFill>
                  <a:srgbClr val="0000ff"/>
                </a:solidFill>
                <a:uFillTx/>
                <a:latin typeface="Arial"/>
                <a:hlinkClick r:id="rId2"/>
              </a:rPr>
              <a:t>://doc.nhr.fau.de/access/</a:t>
            </a:r>
            <a:r>
              <a:rPr b="0" lang="es-ES" sz="18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ssh-mobaxterm</a:t>
            </a:r>
            <a:r>
              <a:rPr b="0" lang="es-ES" sz="1800" spc="-1" strike="noStrike" u="sng">
                <a:solidFill>
                  <a:srgbClr val="0000ff"/>
                </a:solidFill>
                <a:uFillTx/>
                <a:latin typeface="Arial"/>
                <a:hlinkClick r:id="rId4"/>
              </a:rPr>
              <a:t>/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002060"/>
                </a:solidFill>
                <a:latin typeface="Arial"/>
              </a:rPr>
              <a:t>Mremoteng: </a:t>
            </a:r>
            <a:r>
              <a:rPr b="0" lang="es-ES" sz="1800" spc="-1" strike="noStrike" u="sng">
                <a:solidFill>
                  <a:srgbClr val="0000ff"/>
                </a:solidFill>
                <a:uFillTx/>
                <a:latin typeface="Arial"/>
                <a:hlinkClick r:id="rId5"/>
              </a:rPr>
              <a:t>https://mremoteng.org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2060"/>
                </a:solidFill>
                <a:latin typeface="Arial"/>
              </a:rPr>
              <a:t>OpenSSH via Command/PowerShell (since Windows 10 v1803)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002060"/>
                </a:solidFill>
                <a:latin typeface="Arial"/>
              </a:rPr>
              <a:t>Linux Subsystem for Windows 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Rectángulo 5"/>
          <p:cNvSpPr/>
          <p:nvPr/>
        </p:nvSpPr>
        <p:spPr>
          <a:xfrm>
            <a:off x="160920" y="563400"/>
            <a:ext cx="8657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2400" spc="-1" strike="noStrike" u="sng">
                <a:solidFill>
                  <a:srgbClr val="0000ff"/>
                </a:solidFill>
                <a:uFillTx/>
                <a:latin typeface="Arial"/>
                <a:hlinkClick r:id="rId6"/>
              </a:rPr>
              <a:t>https://docaic.rstools.csic.es/es/general/conexionalcluster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Rectángulo 17"/>
          <p:cNvSpPr/>
          <p:nvPr/>
        </p:nvSpPr>
        <p:spPr>
          <a:xfrm>
            <a:off x="721440" y="5354280"/>
            <a:ext cx="8027280" cy="111672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pc="-1" strike="noStrike">
                <a:solidFill>
                  <a:srgbClr val="1f487c"/>
                </a:solidFill>
                <a:latin typeface="Arial"/>
              </a:rPr>
              <a:t>¿Problemas de conexión?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pc="-1" strike="noStrike">
                <a:solidFill>
                  <a:srgbClr val="1f487c"/>
                </a:solidFill>
                <a:latin typeface="Arial"/>
              </a:rPr>
              <a:t>Enviar email a </a:t>
            </a:r>
            <a:r>
              <a:rPr b="1" lang="es-ES" sz="1800" spc="-1" strike="noStrike" u="sng">
                <a:solidFill>
                  <a:srgbClr val="0000ff"/>
                </a:solidFill>
                <a:uFillTx/>
                <a:latin typeface="Arial"/>
                <a:hlinkClick r:id="rId7"/>
              </a:rPr>
              <a:t>soporteaic@csic.es</a:t>
            </a:r>
            <a:r>
              <a:rPr b="1" lang="es-ES" sz="1800" spc="-1" strike="noStrike">
                <a:solidFill>
                  <a:srgbClr val="1f487c"/>
                </a:solidFill>
                <a:latin typeface="Arial"/>
              </a:rPr>
              <a:t> </a:t>
            </a:r>
            <a:r>
              <a:rPr b="0" lang="es-ES" sz="1800" spc="-1" strike="noStrike">
                <a:solidFill>
                  <a:srgbClr val="1f487c"/>
                </a:solidFill>
                <a:latin typeface="Arial"/>
              </a:rPr>
              <a:t>indicando  error, usuario  e IP Publica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7" name="Imagen 2" descr=""/>
          <p:cNvPicPr/>
          <p:nvPr/>
        </p:nvPicPr>
        <p:blipFill>
          <a:blip r:embed="rId8"/>
          <a:stretch/>
        </p:blipFill>
        <p:spPr>
          <a:xfrm>
            <a:off x="570240" y="3113640"/>
            <a:ext cx="722520" cy="72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Imagen 9" descr=""/>
          <p:cNvPicPr/>
          <p:nvPr/>
        </p:nvPicPr>
        <p:blipFill>
          <a:blip r:embed="rId9"/>
          <a:stretch/>
        </p:blipFill>
        <p:spPr>
          <a:xfrm>
            <a:off x="646560" y="1384920"/>
            <a:ext cx="722520" cy="72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n 11" descr=""/>
          <p:cNvPicPr/>
          <p:nvPr/>
        </p:nvPicPr>
        <p:blipFill>
          <a:blip r:embed="rId10"/>
          <a:stretch/>
        </p:blipFill>
        <p:spPr>
          <a:xfrm>
            <a:off x="610200" y="2196360"/>
            <a:ext cx="722520" cy="72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adroTexto 3"/>
          <p:cNvSpPr/>
          <p:nvPr/>
        </p:nvSpPr>
        <p:spPr>
          <a:xfrm>
            <a:off x="160920" y="29160"/>
            <a:ext cx="8154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s-ES" sz="1600" spc="-1" strike="noStrike">
                <a:solidFill>
                  <a:schemeClr val="dk1"/>
                </a:solidFill>
                <a:latin typeface="Arial"/>
              </a:rPr>
              <a:t>Acceso a Drago durante el curso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Rectángulo 4"/>
          <p:cNvSpPr/>
          <p:nvPr/>
        </p:nvSpPr>
        <p:spPr>
          <a:xfrm>
            <a:off x="473040" y="551160"/>
            <a:ext cx="85107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s-ES" sz="1600" spc="-1" strike="noStrike">
                <a:solidFill>
                  <a:srgbClr val="002060"/>
                </a:solidFill>
                <a:latin typeface="Arial"/>
              </a:rPr>
              <a:t>No existen interfaces gráficas (GUI) para acceder a DRAGO. Es necesario tener un conocimiento básico de los comandos básicos y  manejo de ficheros en Linux 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Rectángulo 5"/>
          <p:cNvSpPr/>
          <p:nvPr/>
        </p:nvSpPr>
        <p:spPr>
          <a:xfrm>
            <a:off x="453240" y="1158840"/>
            <a:ext cx="83883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s-ES" sz="1600" spc="-1" strike="noStrike">
                <a:solidFill>
                  <a:srgbClr val="002060"/>
                </a:solidFill>
                <a:latin typeface="Arial"/>
              </a:rPr>
              <a:t>Durante el curso cada alumno tiene una cuenta asignada. El usuario de la cuenta es </a:t>
            </a:r>
            <a:r>
              <a:rPr b="1" lang="es-ES" sz="1600" spc="-1" strike="noStrike">
                <a:solidFill>
                  <a:srgbClr val="002060"/>
                </a:solidFill>
                <a:latin typeface="Arial"/>
              </a:rPr>
              <a:t>alumnoXX </a:t>
            </a:r>
            <a:r>
              <a:rPr b="0" lang="es-ES" sz="1600" spc="-1" strike="noStrike">
                <a:solidFill>
                  <a:srgbClr val="002060"/>
                </a:solidFill>
                <a:latin typeface="Arial"/>
              </a:rPr>
              <a:t>donde XX va desde 01 hasta 15. El acceso se hace a través de ssh.</a:t>
            </a:r>
            <a:r>
              <a:rPr b="1" lang="es-ES" sz="1600" spc="-1" strike="noStrike">
                <a:solidFill>
                  <a:srgbClr val="002060"/>
                </a:solidFill>
                <a:latin typeface="Arial"/>
              </a:rPr>
              <a:t> 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  <a:p>
            <a:pPr algn="just" defTabSz="914400">
              <a:lnSpc>
                <a:spcPct val="100000"/>
              </a:lnSpc>
            </a:pPr>
            <a:r>
              <a:rPr b="1" lang="es-ES" sz="1600" spc="-1" strike="noStrike">
                <a:solidFill>
                  <a:srgbClr val="002060"/>
                </a:solidFill>
                <a:latin typeface="Arial"/>
              </a:rPr>
              <a:t>Ejemplo: ssh </a:t>
            </a:r>
            <a:r>
              <a:rPr b="1" lang="es-ES" sz="1600" spc="-1" strike="noStrike" u="sng">
                <a:solidFill>
                  <a:srgbClr val="0000ff"/>
                </a:solidFill>
                <a:uFillTx/>
                <a:latin typeface="Arial"/>
                <a:hlinkClick r:id="rId1"/>
              </a:rPr>
              <a:t>alumno01@drago.csic.es</a:t>
            </a:r>
            <a:r>
              <a:rPr b="1" lang="es-ES" sz="1600" spc="-1" strike="noStrike">
                <a:solidFill>
                  <a:srgbClr val="002060"/>
                </a:solidFill>
                <a:latin typeface="Arial"/>
              </a:rPr>
              <a:t> con password </a:t>
            </a:r>
            <a:r>
              <a:rPr b="1" lang="es-ES" sz="1600" spc="-1" strike="noStrike">
                <a:solidFill>
                  <a:schemeClr val="dk1"/>
                </a:solidFill>
                <a:latin typeface="Arial"/>
              </a:rPr>
              <a:t>CaHPC25</a:t>
            </a:r>
            <a:endParaRPr b="0" lang="es-ES" sz="16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3" name="Grupo 19"/>
          <p:cNvGrpSpPr/>
          <p:nvPr/>
        </p:nvGrpSpPr>
        <p:grpSpPr>
          <a:xfrm>
            <a:off x="4532760" y="2418840"/>
            <a:ext cx="4596120" cy="4104360"/>
            <a:chOff x="4532760" y="2418840"/>
            <a:chExt cx="4596120" cy="4104360"/>
          </a:xfrm>
        </p:grpSpPr>
        <p:sp>
          <p:nvSpPr>
            <p:cNvPr id="124" name="Rectángulo 11"/>
            <p:cNvSpPr/>
            <p:nvPr/>
          </p:nvSpPr>
          <p:spPr>
            <a:xfrm>
              <a:off x="5374440" y="2418840"/>
              <a:ext cx="278316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s-ES" sz="1600" spc="-1" strike="noStrike">
                  <a:solidFill>
                    <a:srgbClr val="002060"/>
                  </a:solidFill>
                  <a:latin typeface="Arial"/>
                </a:rPr>
                <a:t>Powershell de WINDOWS</a:t>
              </a:r>
              <a:endParaRPr b="0" lang="es-ES" sz="16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pic>
          <p:nvPicPr>
            <p:cNvPr id="125" name="Imagen 18" descr=""/>
            <p:cNvPicPr/>
            <p:nvPr/>
          </p:nvPicPr>
          <p:blipFill>
            <a:blip r:embed="rId2"/>
            <a:stretch/>
          </p:blipFill>
          <p:spPr>
            <a:xfrm>
              <a:off x="4532760" y="2719800"/>
              <a:ext cx="4596120" cy="3803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6" name="Grupo 21"/>
          <p:cNvGrpSpPr/>
          <p:nvPr/>
        </p:nvGrpSpPr>
        <p:grpSpPr>
          <a:xfrm>
            <a:off x="160920" y="2415600"/>
            <a:ext cx="4199760" cy="4198680"/>
            <a:chOff x="160920" y="2415600"/>
            <a:chExt cx="4199760" cy="4198680"/>
          </a:xfrm>
        </p:grpSpPr>
        <p:sp>
          <p:nvSpPr>
            <p:cNvPr id="127" name="Rectángulo 10"/>
            <p:cNvSpPr/>
            <p:nvPr/>
          </p:nvSpPr>
          <p:spPr>
            <a:xfrm>
              <a:off x="1102320" y="2415600"/>
              <a:ext cx="240588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s-ES" sz="1600" spc="-1" strike="noStrike">
                  <a:solidFill>
                    <a:srgbClr val="002060"/>
                  </a:solidFill>
                  <a:latin typeface="Arial"/>
                </a:rPr>
                <a:t>Terminal de LINUX</a:t>
              </a:r>
              <a:endParaRPr b="0" lang="es-ES" sz="16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pic>
          <p:nvPicPr>
            <p:cNvPr id="128" name="Imagen 20" descr=""/>
            <p:cNvPicPr/>
            <p:nvPr/>
          </p:nvPicPr>
          <p:blipFill>
            <a:blip r:embed="rId3"/>
            <a:stretch/>
          </p:blipFill>
          <p:spPr>
            <a:xfrm>
              <a:off x="160920" y="2725560"/>
              <a:ext cx="4199760" cy="38887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3 CuadroTexto"/>
          <p:cNvSpPr/>
          <p:nvPr/>
        </p:nvSpPr>
        <p:spPr>
          <a:xfrm>
            <a:off x="457200" y="1508400"/>
            <a:ext cx="822888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55680" indent="-355680"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s-ES" sz="4000" spc="-1" strike="noStrike">
                <a:solidFill>
                  <a:srgbClr val="ff0000"/>
                </a:solidFill>
                <a:latin typeface="Lucida Calligraphy"/>
              </a:rPr>
              <a:t>Preguntas???</a:t>
            </a:r>
            <a:endParaRPr b="0" lang="es-ES" sz="4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0" name="Imagen 2" descr=""/>
          <p:cNvPicPr/>
          <p:nvPr/>
        </p:nvPicPr>
        <p:blipFill>
          <a:blip r:embed="rId1"/>
          <a:stretch/>
        </p:blipFill>
        <p:spPr>
          <a:xfrm>
            <a:off x="2309760" y="2853000"/>
            <a:ext cx="4523760" cy="268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laridad">
  <a:themeElements>
    <a:clrScheme name="Claridad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Clásico de Office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  <a:shade val="86000"/>
              </a:schemeClr>
            </a:gs>
            <a:gs pos="45000">
              <a:schemeClr val="phClr">
                <a:tint val="48000"/>
              </a:schemeClr>
            </a:gs>
            <a:gs pos="100000">
              <a:schemeClr val="phClr">
                <a:tint val="28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70000"/>
              </a:schemeClr>
            </a:gs>
            <a:gs pos="34000">
              <a:schemeClr val="phClr">
                <a:shade val="70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26425" cap="flat" cmpd="sng" algn="ctr">
          <a:prstDash val="solid"/>
        </a:ln>
        <a:ln w="444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5000"/>
              </a:schemeClr>
            </a:gs>
            <a:gs pos="40000">
              <a:schemeClr val="phClr">
                <a:tint val="95000"/>
                <a:shade val="85000"/>
              </a:schemeClr>
            </a:gs>
            <a:gs pos="100000">
              <a:schemeClr val="phClr">
                <a:shade val="45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tile tx="0" ty="0" sx="70000" sy="7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Claridad.thmx</Template>
  <TotalTime>32373</TotalTime>
  <Application>Collabora_Office/24.04.16.3$Linux_X86_64 LibreOffice_project/74780936283c3969f1f141b3a179c743ec84a56e</Application>
  <AppVersion>15.0000</AppVersion>
  <Words>343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2023-09-21T12:30:28Z</dcterms:created>
  <dc:creator>Alberto Gallardo</dc:creator>
  <dc:description/>
  <dc:language>en-US</dc:language>
  <cp:lastModifiedBy/>
  <dcterms:modified xsi:type="dcterms:W3CDTF">2025-10-31T11:48:01Z</dcterms:modified>
  <cp:revision>269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b69475-382c-4c7a-b21d-8ca64eeef1bd_ActionId">
    <vt:lpwstr>119a45b9-a47d-4f01-9882-ab03303565d5</vt:lpwstr>
  </property>
  <property fmtid="{D5CDD505-2E9C-101B-9397-08002B2CF9AE}" pid="3" name="MSIP_Label_ecb69475-382c-4c7a-b21d-8ca64eeef1bd_ContentBits">
    <vt:lpwstr>0</vt:lpwstr>
  </property>
  <property fmtid="{D5CDD505-2E9C-101B-9397-08002B2CF9AE}" pid="4" name="MSIP_Label_ecb69475-382c-4c7a-b21d-8ca64eeef1bd_Enabled">
    <vt:lpwstr>true</vt:lpwstr>
  </property>
  <property fmtid="{D5CDD505-2E9C-101B-9397-08002B2CF9AE}" pid="5" name="MSIP_Label_ecb69475-382c-4c7a-b21d-8ca64eeef1bd_Method">
    <vt:lpwstr>Standard</vt:lpwstr>
  </property>
  <property fmtid="{D5CDD505-2E9C-101B-9397-08002B2CF9AE}" pid="6" name="MSIP_Label_ecb69475-382c-4c7a-b21d-8ca64eeef1bd_Name">
    <vt:lpwstr>Eviden For Internal Use - All Employees</vt:lpwstr>
  </property>
  <property fmtid="{D5CDD505-2E9C-101B-9397-08002B2CF9AE}" pid="7" name="MSIP_Label_ecb69475-382c-4c7a-b21d-8ca64eeef1bd_SetDate">
    <vt:lpwstr>2024-10-04T20:53:54Z</vt:lpwstr>
  </property>
  <property fmtid="{D5CDD505-2E9C-101B-9397-08002B2CF9AE}" pid="8" name="MSIP_Label_ecb69475-382c-4c7a-b21d-8ca64eeef1bd_SiteId">
    <vt:lpwstr>7d1c7785-2d8a-437d-b842-1ed5d8fbe00a</vt:lpwstr>
  </property>
  <property fmtid="{D5CDD505-2E9C-101B-9397-08002B2CF9AE}" pid="9" name="PresentationFormat">
    <vt:lpwstr>Presentación en pantalla (4:3)</vt:lpwstr>
  </property>
  <property fmtid="{D5CDD505-2E9C-101B-9397-08002B2CF9AE}" pid="10" name="Slides">
    <vt:i4>8</vt:i4>
  </property>
</Properties>
</file>