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59" r:id="rId4"/>
    <p:sldId id="260" r:id="rId5"/>
    <p:sldId id="275" r:id="rId6"/>
    <p:sldId id="276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7772400" cy="100584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848360" cy="192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5400" b="0" strike="noStrike" cap="all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2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sldNum" idx="3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B25B225-145A-4CB5-AE1F-05ABD2CDA9A5}" type="slidenum">
              <a:rPr lang="en-U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400"/>
            <a:ext cx="7848720" cy="1800"/>
          </a:xfrm>
          <a:prstGeom prst="straightConnector1">
            <a:avLst/>
          </a:prstGeom>
          <a:ln w="19050">
            <a:solidFill>
              <a:srgbClr val="D2533C"/>
            </a:solidFill>
            <a:round/>
          </a:ln>
        </p:spPr>
      </p:cxn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40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6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16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281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4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1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BEDD3D9-41F1-451B-B681-E1332EC89294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8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629400" y="609480"/>
            <a:ext cx="2057040" cy="58669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40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609480"/>
            <a:ext cx="6019560" cy="58669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6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16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281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4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1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F828558-9DAB-481B-8BF0-461CB831E605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5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40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6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16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281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4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1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0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1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12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8923898-8703-4688-A620-1E4C09D11460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cabezado de sección">
    <p:bg>
      <p:bgPr>
        <a:solidFill>
          <a:srgbClr val="D253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722160" y="2362320"/>
            <a:ext cx="7772040" cy="219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4800" b="0" strike="noStrike" cap="all" spc="-100">
                <a:solidFill>
                  <a:schemeClr val="lt2"/>
                </a:solidFill>
                <a:latin typeface="Arial"/>
              </a:rPr>
              <a:t>Clic para editar título</a:t>
            </a:r>
            <a:endParaRPr lang="es-ES" sz="4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22160" y="462672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s-ES_tradnl" sz="2400" b="0" strike="noStrike" spc="-1">
                <a:solidFill>
                  <a:schemeClr val="lt2"/>
                </a:solidFill>
                <a:latin typeface="Arial"/>
              </a:rPr>
              <a:t>Haga clic para modificar el estilo de texto del patrón</a:t>
            </a:r>
            <a:endParaRPr lang="es-ES" sz="24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3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4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15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19667A9-D60E-415E-94F0-646AB9496001}" type="slidenum">
              <a:rPr lang="en-U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38" name="Straight Connector 6"/>
          <p:cNvCxnSpPr/>
          <p:nvPr/>
        </p:nvCxnSpPr>
        <p:spPr>
          <a:xfrm>
            <a:off x="731520" y="4599360"/>
            <a:ext cx="7848720" cy="1800"/>
          </a:xfrm>
          <a:prstGeom prst="straightConnector1">
            <a:avLst/>
          </a:prstGeom>
          <a:ln w="19050">
            <a:solidFill>
              <a:srgbClr val="F3F2DC"/>
            </a:solidFill>
            <a:round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0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40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73280"/>
            <a:ext cx="4038120" cy="471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8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28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73280"/>
            <a:ext cx="4038120" cy="471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56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8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28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6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17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sldNum" idx="18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C62A98D-7BFF-4439-B47F-48691A4481ED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ció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8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40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76520"/>
            <a:ext cx="3931560" cy="639360"/>
          </a:xfrm>
          <a:prstGeom prst="rect">
            <a:avLst/>
          </a:prstGeom>
          <a:noFill/>
          <a:ln w="44280">
            <a:noFill/>
          </a:ln>
        </p:spPr>
        <p:txBody>
          <a:bodyPr lIns="91440" tIns="45720" rIns="91440" bIns="45720" anchor="ctr">
            <a:normAutofit fontScale="92500" lnSpcReduction="10000"/>
          </a:bodyPr>
          <a:lstStyle/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s-ES_tradnl" sz="2000" b="0" strike="noStrike" spc="-1">
                <a:solidFill>
                  <a:schemeClr val="dk2"/>
                </a:solidFill>
                <a:latin typeface="Arial"/>
              </a:rPr>
              <a:t>Haga clic para modificar el estilo de texto del patrón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438280"/>
            <a:ext cx="39315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6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16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6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754880" y="1676520"/>
            <a:ext cx="3931560" cy="639360"/>
          </a:xfrm>
          <a:prstGeom prst="rect">
            <a:avLst/>
          </a:prstGeom>
          <a:noFill/>
          <a:ln w="44280">
            <a:noFill/>
          </a:ln>
        </p:spPr>
        <p:txBody>
          <a:bodyPr lIns="91440" tIns="45720" rIns="91440" bIns="45720" anchor="ctr">
            <a:normAutofit fontScale="92500" lnSpcReduction="10000"/>
          </a:bodyPr>
          <a:lstStyle/>
          <a:p>
            <a:pPr indent="0" algn="ctr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s-ES_tradnl" sz="2000" b="0" strike="noStrike" spc="-1">
                <a:solidFill>
                  <a:schemeClr val="dk2"/>
                </a:solidFill>
                <a:latin typeface="Arial"/>
              </a:rPr>
              <a:t>Haga clic para modificar el estilo de texto del patrón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754880" y="2438280"/>
            <a:ext cx="39315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360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18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18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6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16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16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19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0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56" name="PlaceHolder 8"/>
          <p:cNvSpPr>
            <a:spLocks noGrp="1"/>
          </p:cNvSpPr>
          <p:nvPr>
            <p:ph type="sldNum" idx="21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6F58EE5-0B51-4DFD-99F9-7CC20E4C2E6B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57" name="Straight Connector 10"/>
          <p:cNvCxnSpPr/>
          <p:nvPr/>
        </p:nvCxnSpPr>
        <p:spPr>
          <a:xfrm flipH="1">
            <a:off x="4572000" y="1691640"/>
            <a:ext cx="1080" cy="4709520"/>
          </a:xfrm>
          <a:prstGeom prst="straightConnector1">
            <a:avLst/>
          </a:prstGeom>
          <a:ln w="19050">
            <a:solidFill>
              <a:srgbClr val="D2533C"/>
            </a:solidFill>
            <a:round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59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40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22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23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63" name="PlaceHolder 4"/>
          <p:cNvSpPr>
            <a:spLocks noGrp="1"/>
          </p:cNvSpPr>
          <p:nvPr>
            <p:ph type="sldNum" idx="24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09F571-1B73-4712-8445-8159F62DA554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65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dt" idx="25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26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sldNum" idx="27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41F0CD-E530-414D-BD34-947AB2FBC557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6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4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ido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792000"/>
            <a:ext cx="2139480" cy="126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24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2971800" y="792000"/>
            <a:ext cx="5714640" cy="557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82880" indent="-182880" defTabSz="914400">
              <a:lnSpc>
                <a:spcPct val="100000"/>
              </a:lnSpc>
              <a:spcBef>
                <a:spcPts val="64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32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3200" b="0" strike="noStrike" spc="-1">
              <a:solidFill>
                <a:schemeClr val="dk1"/>
              </a:solidFill>
              <a:latin typeface="Arial"/>
            </a:endParaRPr>
          </a:p>
          <a:p>
            <a:pPr marL="457200" lvl="1" indent="-182880" defTabSz="914400">
              <a:lnSpc>
                <a:spcPct val="100000"/>
              </a:lnSpc>
              <a:spcBef>
                <a:spcPts val="561"/>
              </a:spcBef>
              <a:buClr>
                <a:srgbClr val="93A299"/>
              </a:buClr>
              <a:buSzPct val="85000"/>
              <a:buFont typeface="Arial"/>
              <a:buChar char="•"/>
            </a:pPr>
            <a:r>
              <a:rPr lang="es-ES_tradnl" sz="2800" b="0" strike="noStrike" spc="-1">
                <a:solidFill>
                  <a:schemeClr val="dk1"/>
                </a:solidFill>
                <a:latin typeface="Arial"/>
              </a:rPr>
              <a:t>Segundo nivel</a:t>
            </a:r>
            <a:endParaRPr lang="es-ES" sz="2800" b="0" strike="noStrike" spc="-1">
              <a:solidFill>
                <a:schemeClr val="dk1"/>
              </a:solidFill>
              <a:latin typeface="Arial"/>
            </a:endParaRPr>
          </a:p>
          <a:p>
            <a:pPr marL="731520" lvl="2" indent="-182880"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90000"/>
              <a:buFont typeface="Arial"/>
              <a:buChar char="•"/>
            </a:pPr>
            <a:r>
              <a:rPr lang="es-ES_tradnl" sz="2400" b="0" strike="noStrike" spc="-1">
                <a:solidFill>
                  <a:schemeClr val="dk1"/>
                </a:solidFill>
                <a:latin typeface="Arial"/>
              </a:rPr>
              <a:t>Tercer nivel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  <a:p>
            <a:pPr marL="1005840" lvl="3" indent="-18288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Cuarto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  <a:p>
            <a:pPr marL="1188720" lvl="4" indent="-137160" defTabSz="914400">
              <a:lnSpc>
                <a:spcPct val="100000"/>
              </a:lnSpc>
              <a:spcBef>
                <a:spcPts val="400"/>
              </a:spcBef>
              <a:buClr>
                <a:srgbClr val="93A299"/>
              </a:buClr>
              <a:buFont typeface="Arial"/>
              <a:buChar char="•"/>
            </a:pPr>
            <a:r>
              <a:rPr lang="es-ES_tradnl" sz="2000" b="0" strike="noStrike" spc="-1">
                <a:solidFill>
                  <a:schemeClr val="dk1"/>
                </a:solidFill>
                <a:latin typeface="Arial"/>
              </a:rPr>
              <a:t>Quinto nivel</a:t>
            </a:r>
            <a:endParaRPr lang="es-E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2130480"/>
            <a:ext cx="2139480" cy="424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s-ES_tradnl" sz="14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1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28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29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78" name="PlaceHolder 6"/>
          <p:cNvSpPr>
            <a:spLocks noGrp="1"/>
          </p:cNvSpPr>
          <p:nvPr>
            <p:ph type="sldNum" idx="30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F66313-058F-43CF-83CC-B180C726ECE1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79" name="Straight Connector 8"/>
          <p:cNvCxnSpPr/>
          <p:nvPr/>
        </p:nvCxnSpPr>
        <p:spPr>
          <a:xfrm flipH="1">
            <a:off x="2774880" y="792000"/>
            <a:ext cx="1800" cy="5578200"/>
          </a:xfrm>
          <a:prstGeom prst="straightConnector1">
            <a:avLst/>
          </a:prstGeom>
          <a:ln w="19050">
            <a:solidFill>
              <a:srgbClr val="D2533C"/>
            </a:solidFill>
            <a:round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con títul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9"/>
          <p:cNvSpPr/>
          <p:nvPr/>
        </p:nvSpPr>
        <p:spPr>
          <a:xfrm>
            <a:off x="0" y="220680"/>
            <a:ext cx="9143640" cy="228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792360"/>
            <a:ext cx="2142360" cy="12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_tradnl" sz="2400" b="0" strike="noStrike" spc="-100">
                <a:solidFill>
                  <a:schemeClr val="dk2"/>
                </a:solidFill>
                <a:latin typeface="Arial"/>
              </a:rPr>
              <a:t>Clic para editar título</a:t>
            </a:r>
            <a:endParaRPr lang="es-E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2858760" y="838080"/>
            <a:ext cx="5904000" cy="5500080"/>
          </a:xfrm>
          <a:prstGeom prst="rect">
            <a:avLst/>
          </a:prstGeom>
          <a:solidFill>
            <a:schemeClr val="lt2"/>
          </a:solidFill>
          <a:ln w="76320">
            <a:solidFill>
              <a:srgbClr val="FFFFFF"/>
            </a:solidFill>
            <a:miter/>
          </a:ln>
          <a:effectLst>
            <a:outerShdw blurRad="50760" dist="12600" dir="5400000" rotWithShape="0">
              <a:srgbClr val="000000">
                <a:alpha val="59000"/>
              </a:srgbClr>
            </a:outerShdw>
          </a:effectLst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_tradnl" sz="3200" b="0" strike="noStrike" spc="-1">
                <a:solidFill>
                  <a:schemeClr val="dk1"/>
                </a:solidFill>
                <a:latin typeface="Arial"/>
              </a:rPr>
              <a:t>Arrastre la imagen al marcador de posición o haga clic en el icono para agregar</a:t>
            </a:r>
            <a:endParaRPr lang="es-E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57200" y="2133720"/>
            <a:ext cx="2139480" cy="42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s-ES_tradnl" sz="1400" b="0" strike="noStrike" spc="-1">
                <a:solidFill>
                  <a:schemeClr val="dk1"/>
                </a:solidFill>
                <a:latin typeface="Arial"/>
              </a:rPr>
              <a:t>Haga clic para modificar el estilo de texto del patrón</a:t>
            </a:r>
            <a:endParaRPr lang="es-ES" sz="1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31"/>
          </p:nvPr>
        </p:nvSpPr>
        <p:spPr>
          <a:xfrm>
            <a:off x="457200" y="18360"/>
            <a:ext cx="28951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200" b="0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ES" sz="1200" b="0" strike="noStrike" spc="-1">
                <a:solidFill>
                  <a:srgbClr val="FFFFFF"/>
                </a:solidFill>
                <a:latin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32"/>
          </p:nvPr>
        </p:nvSpPr>
        <p:spPr>
          <a:xfrm>
            <a:off x="3429000" y="18360"/>
            <a:ext cx="411444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33"/>
          </p:nvPr>
        </p:nvSpPr>
        <p:spPr>
          <a:xfrm>
            <a:off x="7620120" y="18360"/>
            <a:ext cx="1066320" cy="32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ES" sz="1400" b="1" strike="noStrike" spc="-1">
                <a:solidFill>
                  <a:srgbClr val="FFFFFF"/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D5AB40-B7FD-449E-BE58-127C61079E3F}" type="slidenum">
              <a:rPr lang="es-ES" sz="1400" b="1" strike="noStrike" spc="-1">
                <a:solidFill>
                  <a:srgbClr val="FFFFFF"/>
                </a:solidFill>
                <a:latin typeface="Arial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adroTexto 4"/>
          <p:cNvSpPr/>
          <p:nvPr/>
        </p:nvSpPr>
        <p:spPr>
          <a:xfrm>
            <a:off x="2444760" y="1478880"/>
            <a:ext cx="6712560" cy="13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4000" b="0" strike="noStrike" spc="-1">
                <a:solidFill>
                  <a:schemeClr val="dk1"/>
                </a:solidFill>
                <a:latin typeface="Arial Narrow"/>
              </a:rPr>
              <a:t>Taller de supercomputación: Uso del Software Científico en DRAGO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CuadroTexto 5"/>
          <p:cNvSpPr/>
          <p:nvPr/>
        </p:nvSpPr>
        <p:spPr>
          <a:xfrm>
            <a:off x="3370320" y="3195000"/>
            <a:ext cx="555228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2800" b="1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 Narrow"/>
              </a:rPr>
              <a:t>Creación de claves y transferencia de ficheros 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0" name="Imagen 11"/>
          <p:cNvPicPr/>
          <p:nvPr/>
        </p:nvPicPr>
        <p:blipFill>
          <a:blip r:embed="rId2"/>
          <a:stretch/>
        </p:blipFill>
        <p:spPr>
          <a:xfrm>
            <a:off x="75240" y="3397320"/>
            <a:ext cx="3202920" cy="35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n 13"/>
          <p:cNvPicPr/>
          <p:nvPr/>
        </p:nvPicPr>
        <p:blipFill>
          <a:blip r:embed="rId3"/>
          <a:stretch/>
        </p:blipFill>
        <p:spPr>
          <a:xfrm>
            <a:off x="622080" y="1677960"/>
            <a:ext cx="1592640" cy="1514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Imagen 2"/>
          <p:cNvPicPr/>
          <p:nvPr/>
        </p:nvPicPr>
        <p:blipFill>
          <a:blip r:embed="rId4"/>
          <a:srcRect r="40602"/>
          <a:stretch/>
        </p:blipFill>
        <p:spPr>
          <a:xfrm>
            <a:off x="75240" y="597240"/>
            <a:ext cx="3965760" cy="69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n 12"/>
          <p:cNvPicPr/>
          <p:nvPr/>
        </p:nvPicPr>
        <p:blipFill>
          <a:blip r:embed="rId5"/>
          <a:srcRect l="60700"/>
          <a:stretch/>
        </p:blipFill>
        <p:spPr>
          <a:xfrm>
            <a:off x="75240" y="4829040"/>
            <a:ext cx="3682080" cy="96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Rectángulo 16"/>
          <p:cNvSpPr/>
          <p:nvPr/>
        </p:nvSpPr>
        <p:spPr>
          <a:xfrm>
            <a:off x="3664080" y="5235120"/>
            <a:ext cx="4571640" cy="127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lang="es-ES" sz="1200" b="1" strike="noStrike" spc="-1">
                <a:solidFill>
                  <a:srgbClr val="AC0000"/>
                </a:solidFill>
                <a:latin typeface="Century Schoolbook"/>
              </a:rPr>
              <a:t>1. Biophysics of Macromolecular Systems group 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lang="es-ES" sz="1200" b="1" strike="noStrike" spc="-1">
                <a:solidFill>
                  <a:srgbClr val="AC0000"/>
                </a:solidFill>
                <a:latin typeface="Century Schoolbook"/>
              </a:rPr>
              <a:t>(BIOPHYM)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lang="es-ES" sz="1200" b="1" strike="noStrike" spc="-1">
                <a:solidFill>
                  <a:srgbClr val="AC0000"/>
                </a:solidFill>
                <a:latin typeface="Century Schoolbook"/>
              </a:rPr>
              <a:t>Departamento de Física Macromolecular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lang="es-ES" sz="1200" b="1" strike="noStrike" spc="-1">
                <a:solidFill>
                  <a:srgbClr val="AC0000"/>
                </a:solidFill>
                <a:latin typeface="Century Schoolbook"/>
              </a:rPr>
              <a:t>Instituto de Estructura de la Materia – CSIC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  <a:p>
            <a:pPr algn="ctr" defTabSz="914400">
              <a:lnSpc>
                <a:spcPct val="80000"/>
              </a:lnSpc>
              <a:spcBef>
                <a:spcPts val="601"/>
              </a:spcBef>
            </a:pPr>
            <a:r>
              <a:rPr lang="es-ES" sz="1200" b="1" strike="noStrike" spc="-1">
                <a:solidFill>
                  <a:srgbClr val="AC0000"/>
                </a:solidFill>
                <a:latin typeface="Century Schoolbook"/>
              </a:rPr>
              <a:t>2. Área de Informática Científica (AIC) Secretaria General Adjunta de Informática (SGAI)  CSIC</a:t>
            </a:r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CuadroTexto 17"/>
          <p:cNvSpPr/>
          <p:nvPr/>
        </p:nvSpPr>
        <p:spPr>
          <a:xfrm>
            <a:off x="2215440" y="4222080"/>
            <a:ext cx="6298560" cy="39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s-ES" sz="2000" b="1" strike="noStrike" spc="-1">
                <a:solidFill>
                  <a:schemeClr val="dk1"/>
                </a:solidFill>
                <a:latin typeface="Arial Narrow"/>
              </a:rPr>
              <a:t> Javier Ramos</a:t>
            </a:r>
            <a:r>
              <a:rPr lang="es-ES" sz="2000" b="1" strike="noStrike" spc="-1" baseline="30000">
                <a:solidFill>
                  <a:schemeClr val="dk1"/>
                </a:solidFill>
                <a:latin typeface="Arial Narrow"/>
              </a:rPr>
              <a:t>1</a:t>
            </a:r>
            <a:r>
              <a:rPr lang="es-ES" sz="2000" b="1" strike="noStrike" spc="-1">
                <a:solidFill>
                  <a:schemeClr val="dk1"/>
                </a:solidFill>
                <a:latin typeface="Arial Narrow"/>
              </a:rPr>
              <a:t>, Ali Adib</a:t>
            </a:r>
            <a:r>
              <a:rPr lang="es-ES" sz="2000" b="1" strike="noStrike" spc="-1" baseline="30000">
                <a:solidFill>
                  <a:schemeClr val="dk1"/>
                </a:solidFill>
                <a:latin typeface="Arial Narrow"/>
              </a:rPr>
              <a:t>2</a:t>
            </a:r>
            <a:r>
              <a:rPr lang="es-ES" sz="2000" b="1" strike="noStrike" spc="-1">
                <a:solidFill>
                  <a:schemeClr val="dk1"/>
                </a:solidFill>
                <a:latin typeface="Arial Narrow"/>
              </a:rPr>
              <a:t> and Ester Manjavacas</a:t>
            </a:r>
            <a:r>
              <a:rPr lang="es-ES" sz="2000" b="1" strike="noStrike" spc="-1" baseline="30000">
                <a:solidFill>
                  <a:schemeClr val="dk1"/>
                </a:solidFill>
                <a:latin typeface="Arial Narrow"/>
              </a:rPr>
              <a:t>2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CuadroTexto 18"/>
          <p:cNvSpPr/>
          <p:nvPr/>
        </p:nvSpPr>
        <p:spPr>
          <a:xfrm>
            <a:off x="0" y="6521760"/>
            <a:ext cx="260748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400" b="1" strike="noStrike" spc="-1">
                <a:solidFill>
                  <a:schemeClr val="dk1">
                    <a:lumMod val="50000"/>
                    <a:lumOff val="50000"/>
                  </a:schemeClr>
                </a:solidFill>
                <a:latin typeface="Arial Narrow"/>
              </a:rPr>
              <a:t>Madrid, 3 de Noviembre de 2025</a:t>
            </a:r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adroTexto 1"/>
          <p:cNvSpPr/>
          <p:nvPr/>
        </p:nvSpPr>
        <p:spPr>
          <a:xfrm>
            <a:off x="132480" y="0"/>
            <a:ext cx="80643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trike="noStrike" spc="-1">
                <a:solidFill>
                  <a:schemeClr val="dk1"/>
                </a:solidFill>
                <a:latin typeface="Arial"/>
              </a:rPr>
              <a:t>¿QUE SON LAS CLAVES PRIVADAS Y PUBLICAS?</a:t>
            </a:r>
            <a:endParaRPr lang="en-US" sz="1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233C96-9CE1-999E-A0D5-1BAD6891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078" y="840352"/>
            <a:ext cx="845003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claves SSH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son un par de archivos usados para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autenticarse sin contraseña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un servidor de forma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segura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D1CED74A-F0EA-C5D2-E822-ADAFD120C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738181"/>
              </p:ext>
            </p:extLst>
          </p:nvPr>
        </p:nvGraphicFramePr>
        <p:xfrm>
          <a:off x="391886" y="1763682"/>
          <a:ext cx="7886700" cy="14020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280387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908321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99728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ES" dirty="0"/>
                        <a:t>Tipo de clave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Dónde se guarda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Función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268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dirty="0"/>
                        <a:t>🔑 </a:t>
                      </a:r>
                      <a:r>
                        <a:rPr lang="es-ES" b="1" dirty="0"/>
                        <a:t>Clave privada</a:t>
                      </a:r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En tu ordenador personal (¡nunca se comparte!)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Te identifica como usuario autorizado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13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 dirty="0"/>
                        <a:t>      </a:t>
                      </a:r>
                      <a:r>
                        <a:rPr lang="es-ES" b="1" dirty="0"/>
                        <a:t>Clave pública</a:t>
                      </a:r>
                      <a:endParaRPr lang="es-E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En el servidor (en ~/.</a:t>
                      </a:r>
                      <a:r>
                        <a:rPr lang="es-ES" sz="1400" dirty="0" err="1"/>
                        <a:t>ssh</a:t>
                      </a:r>
                      <a:r>
                        <a:rPr lang="es-ES" sz="1400" dirty="0"/>
                        <a:t>/</a:t>
                      </a:r>
                      <a:r>
                        <a:rPr lang="es-ES" sz="1400" dirty="0" err="1"/>
                        <a:t>authorized_keys</a:t>
                      </a:r>
                      <a:r>
                        <a:rPr lang="es-ES" sz="14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Permite verificar que la clave privada es válida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0225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76FA3335-1546-5C77-50D2-1AAE626741D4}"/>
              </a:ext>
            </a:extLst>
          </p:cNvPr>
          <p:cNvSpPr txBox="1"/>
          <p:nvPr/>
        </p:nvSpPr>
        <p:spPr>
          <a:xfrm>
            <a:off x="1404256" y="3540596"/>
            <a:ext cx="67925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dirty="0"/>
              <a:t>Tú intentas conectarte al servidor con SSH.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El servidor tiene tu </a:t>
            </a:r>
            <a:r>
              <a:rPr lang="es-ES" b="1" dirty="0"/>
              <a:t>clave pública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Usa esa clave para enviar un reto (mensaje cifrado).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Tu equipo lo resuelve con tu </a:t>
            </a:r>
            <a:r>
              <a:rPr lang="es-ES" b="1" dirty="0"/>
              <a:t>clave privada</a:t>
            </a:r>
            <a:r>
              <a:rPr lang="es-ES" dirty="0"/>
              <a:t>.</a:t>
            </a:r>
          </a:p>
          <a:p>
            <a:pPr>
              <a:buFont typeface="+mj-lt"/>
              <a:buAutoNum type="arabicPeriod"/>
            </a:pPr>
            <a:endParaRPr lang="es-ES" dirty="0"/>
          </a:p>
          <a:p>
            <a:pPr>
              <a:buFont typeface="+mj-lt"/>
              <a:buAutoNum type="arabicPeriod"/>
            </a:pPr>
            <a:r>
              <a:rPr lang="es-ES" dirty="0"/>
              <a:t>Si coincide → ✅ acceso concedido, sin necesidad de contraseña.</a:t>
            </a:r>
          </a:p>
        </p:txBody>
      </p:sp>
      <p:pic>
        <p:nvPicPr>
          <p:cNvPr id="12" name="Imagen 11" descr="Bloquear con relleno sólido">
            <a:extLst>
              <a:ext uri="{FF2B5EF4-FFF2-40B4-BE49-F238E27FC236}">
                <a16:creationId xmlns:a16="http://schemas.microsoft.com/office/drawing/2014/main" id="{7B0E4B66-5805-56F1-BF22-0DED4A6D9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5813" y="2680621"/>
            <a:ext cx="445673" cy="445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adroTexto 6"/>
          <p:cNvSpPr/>
          <p:nvPr/>
        </p:nvSpPr>
        <p:spPr>
          <a:xfrm>
            <a:off x="132480" y="0"/>
            <a:ext cx="80643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trike="noStrike" spc="-1" dirty="0">
                <a:solidFill>
                  <a:schemeClr val="dk1"/>
                </a:solidFill>
                <a:latin typeface="Arial"/>
              </a:rPr>
              <a:t>CREACIÓN DE CLAVES EN WINDOWS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CuadroTexto 8"/>
          <p:cNvSpPr/>
          <p:nvPr/>
        </p:nvSpPr>
        <p:spPr>
          <a:xfrm>
            <a:off x="425160" y="489240"/>
            <a:ext cx="707040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00000"/>
              </a:lnSpc>
              <a:buClr>
                <a:srgbClr val="292934"/>
              </a:buClr>
              <a:buFont typeface="Arial"/>
              <a:buChar char="•"/>
            </a:pPr>
            <a:r>
              <a:rPr lang="en-US" sz="1800" b="0" strike="noStrike" spc="-1" dirty="0" err="1">
                <a:solidFill>
                  <a:schemeClr val="dk1"/>
                </a:solidFill>
                <a:latin typeface="Arial"/>
              </a:rPr>
              <a:t>Generar</a:t>
            </a:r>
            <a:r>
              <a:rPr lang="en-US" sz="1800" b="0" strike="noStrike" spc="-1" dirty="0">
                <a:solidFill>
                  <a:schemeClr val="dk1"/>
                </a:solidFill>
                <a:latin typeface="Arial"/>
              </a:rPr>
              <a:t> clave RSA </a:t>
            </a:r>
            <a:r>
              <a:rPr lang="en-US" sz="1800" b="0" strike="noStrike" spc="-1" dirty="0" err="1">
                <a:solidFill>
                  <a:schemeClr val="dk1"/>
                </a:solidFill>
                <a:latin typeface="Arial"/>
              </a:rPr>
              <a:t>usando</a:t>
            </a:r>
            <a:r>
              <a:rPr lang="en-US" sz="18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r>
              <a:rPr lang="en-US" sz="1800" b="0" strike="noStrike" spc="-1" dirty="0" err="1">
                <a:solidFill>
                  <a:schemeClr val="dk1"/>
                </a:solidFill>
                <a:latin typeface="Arial"/>
              </a:rPr>
              <a:t>PuTTYGen</a:t>
            </a: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DFB65DB1-BAB2-C5A0-6BFD-394557E33394}"/>
              </a:ext>
            </a:extLst>
          </p:cNvPr>
          <p:cNvSpPr/>
          <p:nvPr/>
        </p:nvSpPr>
        <p:spPr>
          <a:xfrm>
            <a:off x="7663544" y="3820886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F2F4244-CE66-D1EC-A7A9-1DED4790E1A2}"/>
              </a:ext>
            </a:extLst>
          </p:cNvPr>
          <p:cNvSpPr>
            <a:spLocks/>
          </p:cNvSpPr>
          <p:nvPr/>
        </p:nvSpPr>
        <p:spPr>
          <a:xfrm>
            <a:off x="6607630" y="3483249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6DA28EA-5883-F533-C580-F5BA942B0F35}"/>
              </a:ext>
            </a:extLst>
          </p:cNvPr>
          <p:cNvSpPr>
            <a:spLocks/>
          </p:cNvSpPr>
          <p:nvPr/>
        </p:nvSpPr>
        <p:spPr>
          <a:xfrm>
            <a:off x="6760030" y="3635649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1</a:t>
            </a:r>
          </a:p>
        </p:txBody>
      </p:sp>
      <p:pic>
        <p:nvPicPr>
          <p:cNvPr id="5" name="Imagen 6">
            <a:extLst>
              <a:ext uri="{FF2B5EF4-FFF2-40B4-BE49-F238E27FC236}">
                <a16:creationId xmlns:a16="http://schemas.microsoft.com/office/drawing/2014/main" id="{32927BAB-D38F-F6F2-12FB-C1DD9C21BA76}"/>
              </a:ext>
            </a:extLst>
          </p:cNvPr>
          <p:cNvPicPr/>
          <p:nvPr/>
        </p:nvPicPr>
        <p:blipFill>
          <a:blip r:embed="rId2"/>
          <a:srcRect l="2540" t="3428" r="1548"/>
          <a:stretch/>
        </p:blipFill>
        <p:spPr>
          <a:xfrm>
            <a:off x="425160" y="4343400"/>
            <a:ext cx="2657520" cy="207935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n 3"/>
          <p:cNvPicPr/>
          <p:nvPr/>
        </p:nvPicPr>
        <p:blipFill>
          <a:blip r:embed="rId3"/>
          <a:stretch/>
        </p:blipFill>
        <p:spPr>
          <a:xfrm>
            <a:off x="2330074" y="998194"/>
            <a:ext cx="6238476" cy="475811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AB52660A-D322-FC18-7BE3-476CFD8046FB}"/>
              </a:ext>
            </a:extLst>
          </p:cNvPr>
          <p:cNvSpPr/>
          <p:nvPr/>
        </p:nvSpPr>
        <p:spPr>
          <a:xfrm>
            <a:off x="7789692" y="3657241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427D728-9785-0B81-FD39-0BC2BDD5279E}"/>
              </a:ext>
            </a:extLst>
          </p:cNvPr>
          <p:cNvSpPr/>
          <p:nvPr/>
        </p:nvSpPr>
        <p:spPr>
          <a:xfrm>
            <a:off x="575450" y="4953000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850D093-DB32-C177-A175-DCBC4DE77DED}"/>
              </a:ext>
            </a:extLst>
          </p:cNvPr>
          <p:cNvSpPr/>
          <p:nvPr/>
        </p:nvSpPr>
        <p:spPr>
          <a:xfrm>
            <a:off x="8078693" y="4363694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66A9B55-D721-12F4-FF08-B64056F1BDB4}"/>
              </a:ext>
            </a:extLst>
          </p:cNvPr>
          <p:cNvSpPr/>
          <p:nvPr/>
        </p:nvSpPr>
        <p:spPr>
          <a:xfrm>
            <a:off x="6512645" y="4343400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n 4"/>
          <p:cNvPicPr/>
          <p:nvPr/>
        </p:nvPicPr>
        <p:blipFill>
          <a:blip r:embed="rId2"/>
          <a:stretch/>
        </p:blipFill>
        <p:spPr>
          <a:xfrm>
            <a:off x="4791240" y="646920"/>
            <a:ext cx="4352400" cy="424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Imagen 6"/>
          <p:cNvPicPr/>
          <p:nvPr/>
        </p:nvPicPr>
        <p:blipFill>
          <a:blip r:embed="rId3"/>
          <a:stretch/>
        </p:blipFill>
        <p:spPr>
          <a:xfrm>
            <a:off x="253020" y="646920"/>
            <a:ext cx="4352400" cy="42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CuadroTexto 6">
            <a:extLst>
              <a:ext uri="{FF2B5EF4-FFF2-40B4-BE49-F238E27FC236}">
                <a16:creationId xmlns:a16="http://schemas.microsoft.com/office/drawing/2014/main" id="{E6C9F548-B25A-9A65-EDB9-7D15F6B2BE41}"/>
              </a:ext>
            </a:extLst>
          </p:cNvPr>
          <p:cNvSpPr/>
          <p:nvPr/>
        </p:nvSpPr>
        <p:spPr>
          <a:xfrm>
            <a:off x="132480" y="0"/>
            <a:ext cx="80643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trike="noStrike" spc="-1" dirty="0">
                <a:solidFill>
                  <a:schemeClr val="dk1"/>
                </a:solidFill>
                <a:latin typeface="Arial"/>
              </a:rPr>
              <a:t>CREACIÓN DE CLAVES EN WINDOWS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6335E1F-9387-64ED-36EB-985994ADC3F8}"/>
              </a:ext>
            </a:extLst>
          </p:cNvPr>
          <p:cNvSpPr/>
          <p:nvPr/>
        </p:nvSpPr>
        <p:spPr>
          <a:xfrm>
            <a:off x="1785257" y="1665514"/>
            <a:ext cx="2634343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8E4A6DC-18C8-CDCF-4EC8-24F4C5EB1598}"/>
              </a:ext>
            </a:extLst>
          </p:cNvPr>
          <p:cNvSpPr/>
          <p:nvPr/>
        </p:nvSpPr>
        <p:spPr>
          <a:xfrm>
            <a:off x="419143" y="3461657"/>
            <a:ext cx="810944" cy="185057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F1232CF-D6F0-4CEA-3DF7-BF68314A56D5}"/>
              </a:ext>
            </a:extLst>
          </p:cNvPr>
          <p:cNvSpPr/>
          <p:nvPr/>
        </p:nvSpPr>
        <p:spPr>
          <a:xfrm>
            <a:off x="5388429" y="3777343"/>
            <a:ext cx="816428" cy="16328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0C448EEE-482A-1A18-BC86-B7A90E454F66}"/>
              </a:ext>
            </a:extLst>
          </p:cNvPr>
          <p:cNvSpPr/>
          <p:nvPr/>
        </p:nvSpPr>
        <p:spPr>
          <a:xfrm>
            <a:off x="6346367" y="1687282"/>
            <a:ext cx="2634343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959C0CB-7C38-63CB-954B-9A0804BEF349}"/>
              </a:ext>
            </a:extLst>
          </p:cNvPr>
          <p:cNvSpPr/>
          <p:nvPr/>
        </p:nvSpPr>
        <p:spPr>
          <a:xfrm>
            <a:off x="6433457" y="1766882"/>
            <a:ext cx="1763383" cy="1054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1CC58D3C-F5C2-24E0-7BA5-D96A0C48C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29" y="5191036"/>
            <a:ext cx="51732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🖥️ </a:t>
            </a:r>
            <a:r>
              <a:rPr kumimoji="0" lang="es-ES" altLang="es-E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Hostname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IP del servidor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drago.csic.es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👤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Usuario de Drago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🚪 </a:t>
            </a:r>
            <a:r>
              <a:rPr kumimoji="0" lang="es-ES" altLang="es-E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Puerto SSH</a:t>
            </a:r>
            <a:r>
              <a:rPr kumimoji="0" lang="es-ES" altLang="es-E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22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51BEE82-9B44-CC5F-4629-5594DA8D378A}"/>
              </a:ext>
            </a:extLst>
          </p:cNvPr>
          <p:cNvSpPr/>
          <p:nvPr/>
        </p:nvSpPr>
        <p:spPr>
          <a:xfrm>
            <a:off x="3736298" y="3298371"/>
            <a:ext cx="816428" cy="16328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6B95078-D502-9D41-9DA3-71E60C5C2089}"/>
              </a:ext>
            </a:extLst>
          </p:cNvPr>
          <p:cNvSpPr/>
          <p:nvPr/>
        </p:nvSpPr>
        <p:spPr>
          <a:xfrm>
            <a:off x="1295400" y="1426025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D9DE47D-A71B-EA47-5C2A-7186D0919E21}"/>
              </a:ext>
            </a:extLst>
          </p:cNvPr>
          <p:cNvSpPr/>
          <p:nvPr/>
        </p:nvSpPr>
        <p:spPr>
          <a:xfrm>
            <a:off x="21772" y="3118757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25C6C7B-2233-DCA2-5237-12859AC63C77}"/>
              </a:ext>
            </a:extLst>
          </p:cNvPr>
          <p:cNvSpPr/>
          <p:nvPr/>
        </p:nvSpPr>
        <p:spPr>
          <a:xfrm>
            <a:off x="4898572" y="3597729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28FC189-25B5-6627-F1F7-7E33711826E8}"/>
              </a:ext>
            </a:extLst>
          </p:cNvPr>
          <p:cNvSpPr/>
          <p:nvPr/>
        </p:nvSpPr>
        <p:spPr>
          <a:xfrm>
            <a:off x="6025598" y="1464801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58CCC60-F018-07F7-14CB-2E13F7D20080}"/>
              </a:ext>
            </a:extLst>
          </p:cNvPr>
          <p:cNvSpPr/>
          <p:nvPr/>
        </p:nvSpPr>
        <p:spPr>
          <a:xfrm>
            <a:off x="3305549" y="3118757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4B13-B62F-B225-8F44-08A2E1B98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n 2">
            <a:extLst>
              <a:ext uri="{FF2B5EF4-FFF2-40B4-BE49-F238E27FC236}">
                <a16:creationId xmlns:a16="http://schemas.microsoft.com/office/drawing/2014/main" id="{F4A9F4F6-FE89-01A6-92B3-8FA0F8A1AA1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205040" y="4189626"/>
            <a:ext cx="612432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CuadroTexto 7">
            <a:extLst>
              <a:ext uri="{FF2B5EF4-FFF2-40B4-BE49-F238E27FC236}">
                <a16:creationId xmlns:a16="http://schemas.microsoft.com/office/drawing/2014/main" id="{01D64E63-C800-6557-FCA4-0025E2A74F73}"/>
              </a:ext>
            </a:extLst>
          </p:cNvPr>
          <p:cNvSpPr/>
          <p:nvPr/>
        </p:nvSpPr>
        <p:spPr>
          <a:xfrm>
            <a:off x="783771" y="4808346"/>
            <a:ext cx="6272589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CuadroTexto 6">
            <a:extLst>
              <a:ext uri="{FF2B5EF4-FFF2-40B4-BE49-F238E27FC236}">
                <a16:creationId xmlns:a16="http://schemas.microsoft.com/office/drawing/2014/main" id="{A867FCCE-645A-A66E-CA91-A896DB41C28F}"/>
              </a:ext>
            </a:extLst>
          </p:cNvPr>
          <p:cNvSpPr/>
          <p:nvPr/>
        </p:nvSpPr>
        <p:spPr>
          <a:xfrm>
            <a:off x="132480" y="0"/>
            <a:ext cx="80643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trike="noStrike" spc="-1" dirty="0">
                <a:solidFill>
                  <a:schemeClr val="dk1"/>
                </a:solidFill>
                <a:latin typeface="Arial"/>
              </a:rPr>
              <a:t>CREACIÓN DE CLAVES EN WINDOWS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CB60EC2-6740-6699-0D18-DB9168683C24}"/>
              </a:ext>
            </a:extLst>
          </p:cNvPr>
          <p:cNvSpPr/>
          <p:nvPr/>
        </p:nvSpPr>
        <p:spPr>
          <a:xfrm>
            <a:off x="2764973" y="4294266"/>
            <a:ext cx="2634343" cy="30480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5080CFA-BF9A-581A-EE95-156F270B7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49" y="1079728"/>
            <a:ext cx="5506218" cy="1152686"/>
          </a:xfrm>
          <a:prstGeom prst="rect">
            <a:avLst/>
          </a:prstGeom>
        </p:spPr>
      </p:pic>
      <p:pic>
        <p:nvPicPr>
          <p:cNvPr id="5" name="Imagen 4" descr="Texto, Icono&#10;&#10;El contenido generado por IA puede ser incorrecto.">
            <a:extLst>
              <a:ext uri="{FF2B5EF4-FFF2-40B4-BE49-F238E27FC236}">
                <a16:creationId xmlns:a16="http://schemas.microsoft.com/office/drawing/2014/main" id="{173861C7-DAA4-2FFE-AC38-0BE05A149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408" y="2506170"/>
            <a:ext cx="1409700" cy="14097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8280393-9622-49EA-0AB6-5002E8A87564}"/>
              </a:ext>
            </a:extLst>
          </p:cNvPr>
          <p:cNvSpPr txBox="1"/>
          <p:nvPr/>
        </p:nvSpPr>
        <p:spPr>
          <a:xfrm>
            <a:off x="648574" y="4719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dirty="0">
                <a:latin typeface="Arial" panose="020B0604020202020204" pitchFamily="34" charset="0"/>
              </a:rPr>
              <a:t> </a:t>
            </a:r>
            <a:r>
              <a:rPr lang="es-ES" altLang="es-ES" sz="1600" dirty="0">
                <a:latin typeface="Arial" panose="020B0604020202020204" pitchFamily="34" charset="0"/>
              </a:rPr>
              <a:t>Copiamos </a:t>
            </a:r>
            <a:r>
              <a:rPr lang="es-ES" altLang="es-ES" sz="1600" dirty="0" err="1">
                <a:latin typeface="Arial" panose="020B0604020202020204" pitchFamily="34" charset="0"/>
              </a:rPr>
              <a:t>public</a:t>
            </a:r>
            <a:r>
              <a:rPr lang="es-ES" altLang="es-ES" sz="1600" dirty="0">
                <a:latin typeface="Arial" panose="020B0604020202020204" pitchFamily="34" charset="0"/>
              </a:rPr>
              <a:t> </a:t>
            </a:r>
            <a:r>
              <a:rPr lang="es-ES" altLang="es-ES" sz="1600" dirty="0" err="1">
                <a:latin typeface="Arial" panose="020B0604020202020204" pitchFamily="34" charset="0"/>
              </a:rPr>
              <a:t>key</a:t>
            </a:r>
            <a:r>
              <a:rPr lang="es-ES" altLang="es-ES" sz="1600" dirty="0">
                <a:latin typeface="Arial" panose="020B0604020202020204" pitchFamily="34" charset="0"/>
              </a:rPr>
              <a:t> en .</a:t>
            </a:r>
            <a:r>
              <a:rPr lang="es-ES" altLang="es-ES" sz="1600" dirty="0" err="1">
                <a:latin typeface="Arial" panose="020B0604020202020204" pitchFamily="34" charset="0"/>
              </a:rPr>
              <a:t>ssh</a:t>
            </a:r>
            <a:r>
              <a:rPr lang="es-ES" altLang="es-ES" sz="1600" dirty="0">
                <a:latin typeface="Arial" panose="020B0604020202020204" pitchFamily="34" charset="0"/>
              </a:rPr>
              <a:t>/</a:t>
            </a:r>
            <a:r>
              <a:rPr lang="es-ES" altLang="es-ES" sz="1600" dirty="0" err="1">
                <a:latin typeface="Arial" panose="020B0604020202020204" pitchFamily="34" charset="0"/>
              </a:rPr>
              <a:t>autherized_keys</a:t>
            </a:r>
            <a:endParaRPr kumimoji="0" lang="es-ES" altLang="es-E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984E6E3-2CF5-222A-D2F7-FB3694323222}"/>
              </a:ext>
            </a:extLst>
          </p:cNvPr>
          <p:cNvSpPr txBox="1"/>
          <p:nvPr/>
        </p:nvSpPr>
        <p:spPr>
          <a:xfrm>
            <a:off x="3015343" y="528086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🎉 ¡Ya estás conectado!</a:t>
            </a:r>
          </a:p>
        </p:txBody>
      </p:sp>
    </p:spTree>
    <p:extLst>
      <p:ext uri="{BB962C8B-B14F-4D97-AF65-F5344CB8AC3E}">
        <p14:creationId xmlns:p14="http://schemas.microsoft.com/office/powerpoint/2010/main" val="324970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CC869-1085-D8F2-3A77-25BA5C517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adroTexto 2">
            <a:extLst>
              <a:ext uri="{FF2B5EF4-FFF2-40B4-BE49-F238E27FC236}">
                <a16:creationId xmlns:a16="http://schemas.microsoft.com/office/drawing/2014/main" id="{0C330BE2-DC6E-FB3F-BFC2-562F7FA2204B}"/>
              </a:ext>
            </a:extLst>
          </p:cNvPr>
          <p:cNvSpPr/>
          <p:nvPr/>
        </p:nvSpPr>
        <p:spPr>
          <a:xfrm>
            <a:off x="397903" y="547474"/>
            <a:ext cx="217944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 dirty="0" err="1">
                <a:solidFill>
                  <a:schemeClr val="dk1"/>
                </a:solidFill>
                <a:latin typeface="Arial"/>
              </a:rPr>
              <a:t>MOBAXterm</a:t>
            </a: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 defTabSz="914400"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CuadroTexto 6">
            <a:extLst>
              <a:ext uri="{FF2B5EF4-FFF2-40B4-BE49-F238E27FC236}">
                <a16:creationId xmlns:a16="http://schemas.microsoft.com/office/drawing/2014/main" id="{0C073E23-28E4-3D55-87C9-C9D2CF0F6B76}"/>
              </a:ext>
            </a:extLst>
          </p:cNvPr>
          <p:cNvSpPr/>
          <p:nvPr/>
        </p:nvSpPr>
        <p:spPr>
          <a:xfrm>
            <a:off x="132480" y="0"/>
            <a:ext cx="80643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trike="noStrike" spc="-1" dirty="0">
                <a:solidFill>
                  <a:schemeClr val="dk1"/>
                </a:solidFill>
                <a:latin typeface="Arial"/>
              </a:rPr>
              <a:t>CREACIÓN DE CLAVES EN WINDOWS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Imagen 3" descr="Interfaz de usuario gráfica">
            <a:extLst>
              <a:ext uri="{FF2B5EF4-FFF2-40B4-BE49-F238E27FC236}">
                <a16:creationId xmlns:a16="http://schemas.microsoft.com/office/drawing/2014/main" id="{D03671C4-BBE0-1951-E374-36D3634FD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4" y="939342"/>
            <a:ext cx="8451419" cy="5684473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A07C0DB3-B77E-F253-8BBE-75190FE45880}"/>
              </a:ext>
            </a:extLst>
          </p:cNvPr>
          <p:cNvSpPr/>
          <p:nvPr/>
        </p:nvSpPr>
        <p:spPr>
          <a:xfrm>
            <a:off x="1273629" y="2275114"/>
            <a:ext cx="6226628" cy="89262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10B3546-861A-6703-7572-904E15DE0EC0}"/>
              </a:ext>
            </a:extLst>
          </p:cNvPr>
          <p:cNvSpPr/>
          <p:nvPr/>
        </p:nvSpPr>
        <p:spPr>
          <a:xfrm>
            <a:off x="1578429" y="4855029"/>
            <a:ext cx="3396342" cy="45403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4646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n 2"/>
          <p:cNvPicPr/>
          <p:nvPr/>
        </p:nvPicPr>
        <p:blipFill>
          <a:blip r:embed="rId2"/>
          <a:stretch/>
        </p:blipFill>
        <p:spPr>
          <a:xfrm>
            <a:off x="957942" y="3907973"/>
            <a:ext cx="7709417" cy="305852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Imagen 4"/>
          <p:cNvPicPr/>
          <p:nvPr/>
        </p:nvPicPr>
        <p:blipFill>
          <a:blip r:embed="rId3"/>
          <a:stretch/>
        </p:blipFill>
        <p:spPr>
          <a:xfrm>
            <a:off x="936172" y="538844"/>
            <a:ext cx="7151914" cy="32602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CuadroTexto 6">
            <a:extLst>
              <a:ext uri="{FF2B5EF4-FFF2-40B4-BE49-F238E27FC236}">
                <a16:creationId xmlns:a16="http://schemas.microsoft.com/office/drawing/2014/main" id="{E15BDD84-A606-932F-2764-D48E1B1E727D}"/>
              </a:ext>
            </a:extLst>
          </p:cNvPr>
          <p:cNvSpPr/>
          <p:nvPr/>
        </p:nvSpPr>
        <p:spPr>
          <a:xfrm>
            <a:off x="132480" y="0"/>
            <a:ext cx="806436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trike="noStrike" spc="-1" dirty="0">
                <a:solidFill>
                  <a:schemeClr val="dk1"/>
                </a:solidFill>
                <a:latin typeface="Arial"/>
              </a:rPr>
              <a:t>CREACIÓN DE CLAVES EN </a:t>
            </a:r>
            <a:r>
              <a:rPr lang="es-ES" sz="1600" b="1" spc="-1" dirty="0">
                <a:solidFill>
                  <a:schemeClr val="dk1"/>
                </a:solidFill>
                <a:latin typeface="Arial"/>
              </a:rPr>
              <a:t>LINUX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0468F29-0A23-05E2-33A3-7E2E884A69E4}"/>
              </a:ext>
            </a:extLst>
          </p:cNvPr>
          <p:cNvSpPr/>
          <p:nvPr/>
        </p:nvSpPr>
        <p:spPr>
          <a:xfrm>
            <a:off x="2579914" y="446314"/>
            <a:ext cx="2090057" cy="24493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C8B2060-BEB8-467B-A5C6-7E5FFCABD100}"/>
              </a:ext>
            </a:extLst>
          </p:cNvPr>
          <p:cNvSpPr/>
          <p:nvPr/>
        </p:nvSpPr>
        <p:spPr>
          <a:xfrm>
            <a:off x="2144486" y="304795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E93DD28-F621-2AE7-1F43-DEA4FCE7D2E8}"/>
              </a:ext>
            </a:extLst>
          </p:cNvPr>
          <p:cNvSpPr/>
          <p:nvPr/>
        </p:nvSpPr>
        <p:spPr>
          <a:xfrm>
            <a:off x="3581400" y="664030"/>
            <a:ext cx="2090057" cy="24493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07D0C69-6AAF-9F45-42A4-A539BB7AE411}"/>
              </a:ext>
            </a:extLst>
          </p:cNvPr>
          <p:cNvSpPr/>
          <p:nvPr/>
        </p:nvSpPr>
        <p:spPr>
          <a:xfrm>
            <a:off x="5617027" y="457195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1C8A716-EE41-C805-16E6-1920868A8A5F}"/>
              </a:ext>
            </a:extLst>
          </p:cNvPr>
          <p:cNvSpPr/>
          <p:nvPr/>
        </p:nvSpPr>
        <p:spPr>
          <a:xfrm>
            <a:off x="6106884" y="3478344"/>
            <a:ext cx="489857" cy="522514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099D3BF-214D-31B3-D33F-6FB327108388}"/>
              </a:ext>
            </a:extLst>
          </p:cNvPr>
          <p:cNvSpPr/>
          <p:nvPr/>
        </p:nvSpPr>
        <p:spPr>
          <a:xfrm>
            <a:off x="3080657" y="3804557"/>
            <a:ext cx="3026227" cy="28847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C756FE-EF97-247A-E27F-B67D1E11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" y="946477"/>
            <a:ext cx="8806543" cy="5410780"/>
          </a:xfrm>
          <a:prstGeom prst="rect">
            <a:avLst/>
          </a:prstGeom>
        </p:spPr>
      </p:pic>
      <p:sp>
        <p:nvSpPr>
          <p:cNvPr id="6" name="CuadroTexto 6">
            <a:extLst>
              <a:ext uri="{FF2B5EF4-FFF2-40B4-BE49-F238E27FC236}">
                <a16:creationId xmlns:a16="http://schemas.microsoft.com/office/drawing/2014/main" id="{AF421838-F950-1472-10CD-91A5FE05FD1D}"/>
              </a:ext>
            </a:extLst>
          </p:cNvPr>
          <p:cNvSpPr/>
          <p:nvPr/>
        </p:nvSpPr>
        <p:spPr>
          <a:xfrm>
            <a:off x="132480" y="0"/>
            <a:ext cx="806436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pc="-1" dirty="0">
                <a:solidFill>
                  <a:schemeClr val="dk1"/>
                </a:solidFill>
                <a:latin typeface="Arial"/>
              </a:rPr>
              <a:t>Transferencia de ficheros. </a:t>
            </a:r>
            <a:r>
              <a:rPr lang="es-ES" sz="1600" b="1" spc="-1" dirty="0" err="1">
                <a:solidFill>
                  <a:schemeClr val="dk1"/>
                </a:solidFill>
                <a:latin typeface="Arial"/>
              </a:rPr>
              <a:t>MobaXterm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n 2"/>
          <p:cNvPicPr/>
          <p:nvPr/>
        </p:nvPicPr>
        <p:blipFill>
          <a:blip r:embed="rId2"/>
          <a:stretch/>
        </p:blipFill>
        <p:spPr>
          <a:xfrm>
            <a:off x="0" y="1328040"/>
            <a:ext cx="9143640" cy="420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CuadroTexto 3"/>
          <p:cNvSpPr/>
          <p:nvPr/>
        </p:nvSpPr>
        <p:spPr>
          <a:xfrm>
            <a:off x="132480" y="0"/>
            <a:ext cx="8064360" cy="337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600" b="1" strike="noStrike" spc="-1" dirty="0">
                <a:solidFill>
                  <a:schemeClr val="dk1"/>
                </a:solidFill>
                <a:latin typeface="Arial"/>
              </a:rPr>
              <a:t>Transferencia de ficheros. FILEZILLA</a:t>
            </a:r>
            <a:endParaRPr lang="en-US" sz="16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848360" cy="192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5400" b="0" strike="noStrike" cap="all" spc="-100">
                <a:solidFill>
                  <a:schemeClr val="dk2"/>
                </a:solidFill>
                <a:latin typeface="Arial"/>
              </a:rPr>
              <a:t>SCP (Secure Copy Protocol)</a:t>
            </a:r>
            <a:endParaRPr lang="es-ES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685800" y="350532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Protocolo seguro para la transferencia de archivos a través de SSH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4000" b="0" strike="noStrike" spc="-100">
                <a:solidFill>
                  <a:schemeClr val="dk2"/>
                </a:solidFill>
                <a:latin typeface="Arial"/>
              </a:rPr>
              <a:t>Cómo funciona SCP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143130000" cy="4580483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Utiliza el protocolo SSH para establecer una conexión segura.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Los datos y credenciales se cifran durante la transferencia.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Permite copiar archivos y directorios completos.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Ejemplo de uso: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                  </a:t>
            </a:r>
            <a:r>
              <a:rPr lang="es-ES" sz="1800" b="0" strike="noStrike" spc="-1" dirty="0" err="1">
                <a:solidFill>
                  <a:schemeClr val="dk1"/>
                </a:solidFill>
                <a:latin typeface="Arial"/>
              </a:rPr>
              <a:t>scp</a:t>
            </a: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 archivo.txt usuario@</a:t>
            </a:r>
            <a:r>
              <a:rPr lang="es-ES" sz="1800" spc="-1" dirty="0">
                <a:solidFill>
                  <a:schemeClr val="dk1"/>
                </a:solidFill>
                <a:latin typeface="Arial"/>
              </a:rPr>
              <a:t>drago.csic.es</a:t>
            </a: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:/ruta/destino</a:t>
            </a:r>
          </a:p>
        </p:txBody>
      </p:sp>
      <p:sp>
        <p:nvSpPr>
          <p:cNvPr id="2" name="AutoShape 2" descr="Imagen de ">
            <a:extLst>
              <a:ext uri="{FF2B5EF4-FFF2-40B4-BE49-F238E27FC236}">
                <a16:creationId xmlns:a16="http://schemas.microsoft.com/office/drawing/2014/main" id="{8865DBA8-585F-0833-8E68-3A1D442979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5301343" cy="530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327C84-5893-FC26-2B5A-8E4ABD3B2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07" y="3674594"/>
            <a:ext cx="6423103" cy="2874024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29F8249-247A-13D9-8CD2-F49353B8CC8E}"/>
              </a:ext>
            </a:extLst>
          </p:cNvPr>
          <p:cNvSpPr/>
          <p:nvPr/>
        </p:nvSpPr>
        <p:spPr>
          <a:xfrm>
            <a:off x="1483113" y="2928258"/>
            <a:ext cx="5575610" cy="533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4000" b="0" strike="noStrike" spc="-100">
                <a:solidFill>
                  <a:schemeClr val="dk2"/>
                </a:solidFill>
                <a:latin typeface="Arial"/>
              </a:rPr>
              <a:t>Ventajas y limitaciones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✅ Ventajas: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Transferencia segura mediante cifrado SSH.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Fácil de usar desde la línea de comandos.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Compatible con la mayoría de sistemas operativos.</a:t>
            </a: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s-ES" sz="2000" b="0" strike="noStrike" spc="-1" dirty="0">
              <a:solidFill>
                <a:schemeClr val="dk1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⚠️ Limitaciones: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No permite reanudar transferencias interrumpidas.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No tiene sincronización automática (a diferencia de </a:t>
            </a:r>
            <a:r>
              <a:rPr lang="es-ES" sz="2000" b="0" strike="noStrike" spc="-1" dirty="0" err="1">
                <a:solidFill>
                  <a:schemeClr val="dk1"/>
                </a:solidFill>
                <a:latin typeface="Arial"/>
              </a:rPr>
              <a:t>rsync</a:t>
            </a: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).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No comprime los datos durante la transferencia.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848360" cy="192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5400" b="0" strike="noStrike" cap="all" spc="-100">
                <a:solidFill>
                  <a:schemeClr val="dk2"/>
                </a:solidFill>
                <a:latin typeface="Arial"/>
              </a:rPr>
              <a:t>rsync (Remote Synchronization)</a:t>
            </a:r>
            <a:endParaRPr lang="es-ES" sz="5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ubTitle"/>
          </p:nvPr>
        </p:nvSpPr>
        <p:spPr>
          <a:xfrm>
            <a:off x="685800" y="350532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Herramienta eficiente para sincronizar y transferir archivos entre sistemas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4000" b="0" strike="noStrike" spc="-100">
                <a:solidFill>
                  <a:schemeClr val="dk2"/>
                </a:solidFill>
                <a:latin typeface="Arial"/>
              </a:rPr>
              <a:t>Cómo funciona rsync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Utiliza un algoritmo de delta que transfiere solo las diferencias entre archivos.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Puede trabajar de forma local o a través de SSH.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Mantiene permisos, fechas y enlaces simbólicos.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• Ejemplo de uso: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            </a:t>
            </a:r>
            <a:r>
              <a:rPr lang="es-ES" sz="1800" b="0" strike="noStrike" spc="-1" dirty="0" err="1">
                <a:solidFill>
                  <a:schemeClr val="dk1"/>
                </a:solidFill>
                <a:latin typeface="Arial"/>
              </a:rPr>
              <a:t>rsync</a:t>
            </a: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 -</a:t>
            </a:r>
            <a:r>
              <a:rPr lang="es-ES" sz="1800" b="0" strike="noStrike" spc="-1" dirty="0" err="1">
                <a:solidFill>
                  <a:schemeClr val="dk1"/>
                </a:solidFill>
                <a:latin typeface="Arial"/>
              </a:rPr>
              <a:t>avz</a:t>
            </a:r>
            <a:r>
              <a:rPr lang="es-ES" sz="1800" b="0" strike="noStrike" spc="-1" dirty="0">
                <a:solidFill>
                  <a:schemeClr val="dk1"/>
                </a:solidFill>
                <a:latin typeface="Arial"/>
              </a:rPr>
              <a:t> archivo.txt usuario@drago.csic.es:/ruta/destino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976A26-2055-456A-5618-889FD3EDC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57" y="3775137"/>
            <a:ext cx="5464305" cy="2777943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557C95B-2786-C331-F2D7-5218B7E63D95}"/>
              </a:ext>
            </a:extLst>
          </p:cNvPr>
          <p:cNvSpPr/>
          <p:nvPr/>
        </p:nvSpPr>
        <p:spPr>
          <a:xfrm>
            <a:off x="1077686" y="2928258"/>
            <a:ext cx="6291943" cy="53340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4000" b="0" strike="noStrike" spc="-100">
                <a:solidFill>
                  <a:schemeClr val="dk2"/>
                </a:solidFill>
                <a:latin typeface="Arial"/>
              </a:rPr>
              <a:t>Ventajas y limitaciones</a:t>
            </a:r>
            <a:endParaRPr lang="es-ES" sz="4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✅ Ventajas: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Transferencia eficiente: solo copia cambios.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Permite reanudar transferencias interrumpidas.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Soporta compresión y sincronización incremental.</a:t>
            </a: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s-ES" sz="2000" b="0" strike="noStrike" spc="-1" dirty="0">
              <a:solidFill>
                <a:schemeClr val="dk1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⚠️ Limitaciones: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Requiere configuración adicional en algunos entornos.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Puede consumir más CPU al calcular diferencias.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No cifra datos por sí solo (usa SSH para seguridad).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750629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5400" b="0" strike="noStrike" cap="all" spc="-100" dirty="0">
                <a:solidFill>
                  <a:schemeClr val="dk2"/>
                </a:solidFill>
                <a:latin typeface="Arial"/>
              </a:rPr>
              <a:t>SSHFS (SSH File </a:t>
            </a:r>
            <a:r>
              <a:rPr lang="es-ES" sz="5400" b="0" strike="noStrike" cap="all" spc="-100" dirty="0" err="1">
                <a:solidFill>
                  <a:schemeClr val="dk2"/>
                </a:solidFill>
                <a:latin typeface="Arial"/>
              </a:rPr>
              <a:t>System</a:t>
            </a:r>
            <a:r>
              <a:rPr lang="es-ES" sz="5400" b="0" strike="noStrike" cap="all" spc="-100" dirty="0">
                <a:solidFill>
                  <a:schemeClr val="dk2"/>
                </a:solidFill>
                <a:latin typeface="Arial"/>
              </a:rPr>
              <a:t>)</a:t>
            </a:r>
            <a:endParaRPr lang="es-ES" sz="54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685800" y="350532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Montaje de sistemas de archivos remotos a través de SSH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038055-6870-FF4A-E1D0-85530ADCF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854" y="4122594"/>
            <a:ext cx="5096586" cy="2648320"/>
          </a:xfrm>
          <a:prstGeom prst="rect">
            <a:avLst/>
          </a:prstGeom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326688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4000" b="0" strike="noStrike" spc="-100" dirty="0">
                <a:solidFill>
                  <a:schemeClr val="dk2"/>
                </a:solidFill>
                <a:latin typeface="Arial"/>
              </a:rPr>
              <a:t>Qué es y cómo funciona SSHFS</a:t>
            </a:r>
            <a:endParaRPr lang="es-ES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393368"/>
            <a:ext cx="8229240" cy="383177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SSHFS permite montar un directorio remoto en el sistema local mediante SSH.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Utiliza el protocolo SFTP (parte de SSH) para la comunicación.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Los archivos remotos se manejan como si estuvieran en el sistema local.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Ejemplo de uso: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                 </a:t>
            </a:r>
            <a:r>
              <a:rPr lang="es-ES" sz="2000" b="0" strike="noStrike" spc="-1" dirty="0" err="1">
                <a:solidFill>
                  <a:schemeClr val="dk1"/>
                </a:solidFill>
                <a:latin typeface="Arial"/>
              </a:rPr>
              <a:t>sshfs</a:t>
            </a: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 usuario@</a:t>
            </a:r>
            <a:r>
              <a:rPr lang="es-ES" sz="2000" spc="-1" dirty="0">
                <a:solidFill>
                  <a:schemeClr val="dk1"/>
                </a:solidFill>
                <a:latin typeface="Arial"/>
              </a:rPr>
              <a:t>drago.csic.es</a:t>
            </a: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:/ruta/remota /ruta/local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Para desmontar: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                 </a:t>
            </a:r>
            <a:r>
              <a:rPr lang="es-ES" sz="2000" b="0" strike="noStrike" spc="-1" dirty="0" err="1">
                <a:solidFill>
                  <a:schemeClr val="dk1"/>
                </a:solidFill>
                <a:latin typeface="Arial"/>
              </a:rPr>
              <a:t>fusermount</a:t>
            </a: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 -u /ruta/local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57200" y="533520"/>
            <a:ext cx="8229240" cy="99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s-ES" sz="4000" b="0" strike="noStrike" spc="-100" dirty="0">
                <a:solidFill>
                  <a:schemeClr val="dk2"/>
                </a:solidFill>
                <a:latin typeface="Arial"/>
              </a:rPr>
              <a:t>Ventajas y limitaciones</a:t>
            </a:r>
            <a:endParaRPr lang="es-ES" sz="4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87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✅ Ventajas: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Montaje de archivos remotos de forma transparente.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Seguridad gracias al cifrado SSH.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No requiere configuración adicional del servidor (solo acceso SSH).</a:t>
            </a:r>
          </a:p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</a:pPr>
            <a:endParaRPr lang="es-ES" sz="2000" b="0" strike="noStrike" spc="-1" dirty="0">
              <a:solidFill>
                <a:schemeClr val="dk1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⚠️ Limitaciones: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Menor rendimiento que sistemas de archivos locales.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Latencia depende de la conexión de red.</a:t>
            </a:r>
          </a:p>
          <a:p>
            <a:pPr defTabSz="914400">
              <a:lnSpc>
                <a:spcPct val="100000"/>
              </a:lnSpc>
              <a:spcBef>
                <a:spcPts val="479"/>
              </a:spcBef>
              <a:buClr>
                <a:srgbClr val="93A299"/>
              </a:buClr>
              <a:buSzPct val="85000"/>
            </a:pPr>
            <a:r>
              <a:rPr lang="es-ES" sz="2000" b="0" strike="noStrike" spc="-1" dirty="0">
                <a:solidFill>
                  <a:schemeClr val="dk1"/>
                </a:solidFill>
                <a:latin typeface="Arial"/>
              </a:rPr>
              <a:t>• No está diseñado para acceso concurrente de múltiples usuarios.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3 CuadroTexto"/>
          <p:cNvSpPr/>
          <p:nvPr/>
        </p:nvSpPr>
        <p:spPr>
          <a:xfrm>
            <a:off x="457200" y="1508400"/>
            <a:ext cx="8229240" cy="100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55680" indent="-355680"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4000" b="0" strike="noStrike" spc="-1">
                <a:solidFill>
                  <a:srgbClr val="FF0000"/>
                </a:solidFill>
                <a:latin typeface="Lucida Calligraphy"/>
              </a:rPr>
              <a:t>Preguntas???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" name="Imagen 2"/>
          <p:cNvPicPr/>
          <p:nvPr/>
        </p:nvPicPr>
        <p:blipFill>
          <a:blip r:embed="rId2"/>
          <a:stretch/>
        </p:blipFill>
        <p:spPr>
          <a:xfrm>
            <a:off x="2309760" y="2853000"/>
            <a:ext cx="4524120" cy="2685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dad">
  <a:themeElements>
    <a:clrScheme name="Claridad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Clásico de Office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  <a:shade val="86000"/>
              </a:schemeClr>
            </a:gs>
            <a:gs pos="45000">
              <a:schemeClr val="phClr">
                <a:tint val="48000"/>
              </a:schemeClr>
            </a:gs>
            <a:gs pos="100000">
              <a:schemeClr val="phClr">
                <a:tint val="28000"/>
              </a:schemeClr>
            </a:gs>
          </a:gsLst>
          <a:path path="circle">
            <a:fillToRect l="100000" t="100000" r="100000" b="100000"/>
          </a:path>
          <a:tileRect/>
        </a:gradFill>
        <a:gradFill>
          <a:gsLst>
            <a:gs pos="0">
              <a:schemeClr val="phClr">
                <a:shade val="70000"/>
              </a:schemeClr>
            </a:gs>
            <a:gs pos="34000">
              <a:schemeClr val="phClr">
                <a:shade val="70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/>
        </a:gradFill>
      </a:fillStyleLst>
      <a:lnStyleLst>
        <a:ln w="9525" cap="flat" cmpd="sng" algn="ctr">
          <a:prstDash val="solid"/>
        </a:ln>
        <a:ln w="26425" cap="flat" cmpd="sng" algn="ctr">
          <a:prstDash val="solid"/>
        </a:ln>
        <a:ln w="444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5000"/>
              </a:schemeClr>
            </a:gs>
            <a:gs pos="40000">
              <a:schemeClr val="phClr">
                <a:tint val="95000"/>
                <a:shade val="85000"/>
              </a:schemeClr>
            </a:gs>
            <a:gs pos="100000">
              <a:schemeClr val="phClr">
                <a:shade val="45000"/>
              </a:schemeClr>
            </a:gs>
          </a:gsLst>
          <a:lin ang="5400000" scaled="0"/>
          <a:tileRect/>
        </a:gradFill>
        <a:blipFill rotWithShape="1">
          <a:blip xmlns:r="http://schemas.openxmlformats.org/officeDocument/2006/relationships" r:embed="rId1"/>
          <a:srcRect/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Claridad.thmx</Template>
  <TotalTime>12066</TotalTime>
  <Words>726</Words>
  <Application>Microsoft Office PowerPoint</Application>
  <PresentationFormat>Presentación en pantalla (4:3)</PresentationFormat>
  <Paragraphs>115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Arial Narrow</vt:lpstr>
      <vt:lpstr>Calibri</vt:lpstr>
      <vt:lpstr>Century Schoolbook</vt:lpstr>
      <vt:lpstr>Lucida Calligraphy</vt:lpstr>
      <vt:lpstr>Symbol</vt:lpstr>
      <vt:lpstr>Wingdings</vt:lpstr>
      <vt:lpstr>Claridad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SCP (Secure Copy Protocol)</vt:lpstr>
      <vt:lpstr>Cómo funciona SCP</vt:lpstr>
      <vt:lpstr>Ventajas y limitaciones</vt:lpstr>
      <vt:lpstr>rsync (Remote Synchronization)</vt:lpstr>
      <vt:lpstr>Cómo funciona rsync</vt:lpstr>
      <vt:lpstr>Ventajas y limitaciones</vt:lpstr>
      <vt:lpstr>SSHFS (SSH File System)</vt:lpstr>
      <vt:lpstr>Qué es y cómo funciona SSHFS</vt:lpstr>
      <vt:lpstr>Ventajas y limitaciones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Alberto Gallardo</dc:creator>
  <dc:description/>
  <cp:lastModifiedBy>Ester Manjavacas Cid</cp:lastModifiedBy>
  <cp:revision>278</cp:revision>
  <dcterms:created xsi:type="dcterms:W3CDTF">2023-09-21T12:30:28Z</dcterms:created>
  <dcterms:modified xsi:type="dcterms:W3CDTF">2025-11-02T11:03:16Z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i4>19</vt:i4>
  </property>
  <property fmtid="{D5CDD505-2E9C-101B-9397-08002B2CF9AE}" pid="4" name="MSIP_Label_ecb69475-382c-4c7a-b21d-8ca64eeef1bd_Enabled">
    <vt:lpwstr>true</vt:lpwstr>
  </property>
  <property fmtid="{D5CDD505-2E9C-101B-9397-08002B2CF9AE}" pid="5" name="MSIP_Label_ecb69475-382c-4c7a-b21d-8ca64eeef1bd_SetDate">
    <vt:lpwstr>2025-10-30T22:51:30Z</vt:lpwstr>
  </property>
  <property fmtid="{D5CDD505-2E9C-101B-9397-08002B2CF9AE}" pid="6" name="MSIP_Label_ecb69475-382c-4c7a-b21d-8ca64eeef1bd_Method">
    <vt:lpwstr>Standard</vt:lpwstr>
  </property>
  <property fmtid="{D5CDD505-2E9C-101B-9397-08002B2CF9AE}" pid="7" name="MSIP_Label_ecb69475-382c-4c7a-b21d-8ca64eeef1bd_Name">
    <vt:lpwstr>Eviden For Internal Use - All Employees</vt:lpwstr>
  </property>
  <property fmtid="{D5CDD505-2E9C-101B-9397-08002B2CF9AE}" pid="8" name="MSIP_Label_ecb69475-382c-4c7a-b21d-8ca64eeef1bd_SiteId">
    <vt:lpwstr>7d1c7785-2d8a-437d-b842-1ed5d8fbe00a</vt:lpwstr>
  </property>
  <property fmtid="{D5CDD505-2E9C-101B-9397-08002B2CF9AE}" pid="9" name="MSIP_Label_ecb69475-382c-4c7a-b21d-8ca64eeef1bd_ActionId">
    <vt:lpwstr>32696a6f-d784-4323-8b75-576b07b61bf1</vt:lpwstr>
  </property>
  <property fmtid="{D5CDD505-2E9C-101B-9397-08002B2CF9AE}" pid="10" name="MSIP_Label_ecb69475-382c-4c7a-b21d-8ca64eeef1bd_ContentBits">
    <vt:lpwstr>0</vt:lpwstr>
  </property>
  <property fmtid="{D5CDD505-2E9C-101B-9397-08002B2CF9AE}" pid="11" name="MSIP_Label_ecb69475-382c-4c7a-b21d-8ca64eeef1bd_Tag">
    <vt:lpwstr>10, 3, 0, 1</vt:lpwstr>
  </property>
</Properties>
</file>